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A3A33"/>
          </a:solidFill>
          <a:ln/>
        </p:spPr>
      </p:sp>
      <p:sp>
        <p:nvSpPr>
          <p:cNvPr id="3" name="Shape 1"/>
          <p:cNvSpPr/>
          <p:nvPr/>
        </p:nvSpPr>
        <p:spPr>
          <a:xfrm>
            <a:off x="0" y="0"/>
            <a:ext cx="164592" cy="6858000"/>
          </a:xfrm>
          <a:prstGeom prst="rect">
            <a:avLst/>
          </a:prstGeom>
          <a:solidFill>
            <a:srgbClr val="C9A24B"/>
          </a:solidFill>
          <a:ln/>
        </p:spPr>
      </p:sp>
      <p:sp>
        <p:nvSpPr>
          <p:cNvPr id="4" name="Shape 2"/>
          <p:cNvSpPr/>
          <p:nvPr/>
        </p:nvSpPr>
        <p:spPr>
          <a:xfrm>
            <a:off x="0" y="0"/>
            <a:ext cx="12192000" cy="109728"/>
          </a:xfrm>
          <a:prstGeom prst="rect">
            <a:avLst/>
          </a:prstGeom>
          <a:solidFill>
            <a:srgbClr val="C9A24B"/>
          </a:solidFill>
          <a:ln/>
        </p:spPr>
      </p:sp>
      <p:sp>
        <p:nvSpPr>
          <p:cNvPr id="5" name="Text 3"/>
          <p:cNvSpPr/>
          <p:nvPr/>
        </p:nvSpPr>
        <p:spPr>
          <a:xfrm>
            <a:off x="548640" y="1463040"/>
            <a:ext cx="10972800" cy="914400"/>
          </a:xfrm>
          <a:prstGeom prst="rect">
            <a:avLst/>
          </a:prstGeom>
          <a:noFill/>
          <a:ln/>
        </p:spPr>
        <p:txBody>
          <a:bodyPr wrap="square"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JSC NC KazMunayGas</a:t>
            </a:r>
            <a:endParaRPr lang="en-US" sz="4200" dirty="0"/>
          </a:p>
        </p:txBody>
      </p:sp>
      <p:sp>
        <p:nvSpPr>
          <p:cNvPr id="6" name="Text 4"/>
          <p:cNvSpPr/>
          <p:nvPr/>
        </p:nvSpPr>
        <p:spPr>
          <a:xfrm>
            <a:off x="548640" y="2423160"/>
            <a:ext cx="10972800" cy="640080"/>
          </a:xfrm>
          <a:prstGeom prst="rect">
            <a:avLst/>
          </a:prstGeom>
          <a:noFill/>
          <a:ln/>
        </p:spPr>
        <p:txBody>
          <a:bodyPr wrap="square" rtlCol="0" anchor="ctr"/>
          <a:lstStyle/>
          <a:p>
            <a:pPr indent="0" marL="0">
              <a:buNone/>
            </a:pPr>
            <a:r>
              <a:rPr lang="en-US" sz="2600" i="1" dirty="0">
                <a:solidFill>
                  <a:srgbClr val="E4CD8B"/>
                </a:solidFill>
                <a:latin typeface="Cambria" pitchFamily="34" charset="0"/>
                <a:ea typeface="Cambria" pitchFamily="34" charset="-122"/>
                <a:cs typeface="Cambria" pitchFamily="34" charset="-120"/>
              </a:rPr>
              <a:t>Eurobond Investor Presentation</a:t>
            </a:r>
            <a:endParaRPr lang="en-US" sz="2600" dirty="0"/>
          </a:p>
        </p:txBody>
      </p:sp>
      <p:sp>
        <p:nvSpPr>
          <p:cNvPr id="7" name="Shape 5"/>
          <p:cNvSpPr/>
          <p:nvPr/>
        </p:nvSpPr>
        <p:spPr>
          <a:xfrm>
            <a:off x="548640" y="3154680"/>
            <a:ext cx="4572000" cy="45720"/>
          </a:xfrm>
          <a:prstGeom prst="rect">
            <a:avLst/>
          </a:prstGeom>
          <a:solidFill>
            <a:srgbClr val="C9A24B"/>
          </a:solidFill>
          <a:ln/>
        </p:spPr>
      </p:sp>
      <p:sp>
        <p:nvSpPr>
          <p:cNvPr id="8" name="Text 6"/>
          <p:cNvSpPr/>
          <p:nvPr/>
        </p:nvSpPr>
        <p:spPr>
          <a:xfrm>
            <a:off x="548640" y="3291840"/>
            <a:ext cx="10972800" cy="365760"/>
          </a:xfrm>
          <a:prstGeom prst="rect">
            <a:avLst/>
          </a:prstGeom>
          <a:noFill/>
          <a:ln/>
        </p:spPr>
        <p:txBody>
          <a:bodyPr wrap="square" rtlCol="0" anchor="ctr"/>
          <a:lstStyle/>
          <a:p>
            <a:pPr indent="0" marL="0">
              <a:buNone/>
            </a:pPr>
            <a:r>
              <a:rPr lang="en-US" sz="1400" dirty="0">
                <a:solidFill>
                  <a:srgbClr val="AACCC5"/>
                </a:solidFill>
                <a:latin typeface="Calibri" pitchFamily="34" charset="0"/>
                <a:ea typeface="Calibri" pitchFamily="34" charset="-122"/>
                <a:cs typeface="Calibri" pitchFamily="34" charset="-120"/>
              </a:rPr>
              <a:t>FY2025 Financial Results  |  Credit Ratings  |  Transaction Overview</a:t>
            </a:r>
            <a:endParaRPr lang="en-US" sz="1400" dirty="0"/>
          </a:p>
        </p:txBody>
      </p:sp>
      <p:sp>
        <p:nvSpPr>
          <p:cNvPr id="9" name="Text 7"/>
          <p:cNvSpPr/>
          <p:nvPr/>
        </p:nvSpPr>
        <p:spPr>
          <a:xfrm>
            <a:off x="548640" y="5943600"/>
            <a:ext cx="4572000" cy="365760"/>
          </a:xfrm>
          <a:prstGeom prst="rect">
            <a:avLst/>
          </a:prstGeom>
          <a:noFill/>
          <a:ln/>
        </p:spPr>
        <p:txBody>
          <a:bodyPr wrap="square" rtlCol="0" anchor="ctr"/>
          <a:lstStyle/>
          <a:p>
            <a:pPr indent="0" marL="0">
              <a:buNone/>
            </a:pPr>
            <a:r>
              <a:rPr lang="en-US" sz="1300" b="1" dirty="0">
                <a:solidFill>
                  <a:srgbClr val="C9A24B"/>
                </a:solidFill>
                <a:latin typeface="Calibri" pitchFamily="34" charset="0"/>
                <a:ea typeface="Calibri" pitchFamily="34" charset="-122"/>
                <a:cs typeface="Calibri" pitchFamily="34" charset="-120"/>
              </a:rPr>
              <a:t>March 2026</a:t>
            </a:r>
            <a:endParaRPr lang="en-US" sz="1300" dirty="0"/>
          </a:p>
        </p:txBody>
      </p:sp>
      <p:sp>
        <p:nvSpPr>
          <p:cNvPr id="10" name="Text 8"/>
          <p:cNvSpPr/>
          <p:nvPr/>
        </p:nvSpPr>
        <p:spPr>
          <a:xfrm>
            <a:off x="548640" y="6309360"/>
            <a:ext cx="10972800" cy="274320"/>
          </a:xfrm>
          <a:prstGeom prst="rect">
            <a:avLst/>
          </a:prstGeom>
          <a:noFill/>
          <a:ln/>
        </p:spPr>
        <p:txBody>
          <a:bodyPr wrap="square" rtlCol="0" anchor="ctr"/>
          <a:lstStyle/>
          <a:p>
            <a:pPr indent="0" marL="0">
              <a:buNone/>
            </a:pPr>
            <a:r>
              <a:rPr lang="en-US" sz="1000" i="1" dirty="0">
                <a:solidFill>
                  <a:srgbClr val="667D79"/>
                </a:solidFill>
                <a:latin typeface="Calibri" pitchFamily="34" charset="0"/>
                <a:ea typeface="Calibri" pitchFamily="34" charset="-122"/>
                <a:cs typeface="Calibri" pitchFamily="34" charset="-120"/>
              </a:rPr>
              <a:t>Strictly Private &amp; Confidential — Template for Discussion Purposes Only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A3A33"/>
          </a:solidFill>
          <a:ln/>
        </p:spPr>
      </p:sp>
      <p:sp>
        <p:nvSpPr>
          <p:cNvPr id="3" name="Text 1"/>
          <p:cNvSpPr/>
          <p:nvPr/>
        </p:nvSpPr>
        <p:spPr>
          <a:xfrm>
            <a:off x="457200" y="320040"/>
            <a:ext cx="11274552" cy="548640"/>
          </a:xfrm>
          <a:prstGeom prst="rect">
            <a:avLst/>
          </a:prstGeom>
          <a:noFill/>
          <a:ln/>
        </p:spPr>
        <p:txBody>
          <a:bodyPr wrap="square" rtlCol="0" anchor="ctr"/>
          <a:lstStyle/>
          <a:p>
            <a:pPr indent="0" marL="0">
              <a:buNone/>
            </a:pPr>
            <a:r>
              <a:rPr lang="en-US" sz="2800" b="1" dirty="0">
                <a:solidFill>
                  <a:srgbClr val="E4CD8B"/>
                </a:solidFill>
                <a:latin typeface="Cambria" pitchFamily="34" charset="0"/>
                <a:ea typeface="Cambria" pitchFamily="34" charset="-122"/>
                <a:cs typeface="Cambria" pitchFamily="34" charset="-120"/>
              </a:rPr>
              <a:t>Disclaimer &amp; Forward-Looking Statements</a:t>
            </a:r>
            <a:endParaRPr lang="en-US" sz="2800" dirty="0"/>
          </a:p>
        </p:txBody>
      </p:sp>
      <p:sp>
        <p:nvSpPr>
          <p:cNvPr id="4" name="Shape 2"/>
          <p:cNvSpPr/>
          <p:nvPr/>
        </p:nvSpPr>
        <p:spPr>
          <a:xfrm>
            <a:off x="457200" y="960120"/>
            <a:ext cx="11274552" cy="36576"/>
          </a:xfrm>
          <a:prstGeom prst="rect">
            <a:avLst/>
          </a:prstGeom>
          <a:solidFill>
            <a:srgbClr val="C9A24B"/>
          </a:solidFill>
          <a:ln/>
        </p:spPr>
      </p:sp>
      <p:sp>
        <p:nvSpPr>
          <p:cNvPr id="5" name="Text 3"/>
          <p:cNvSpPr/>
          <p:nvPr/>
        </p:nvSpPr>
        <p:spPr>
          <a:xfrm>
            <a:off x="457200" y="1097280"/>
            <a:ext cx="11274552" cy="5394960"/>
          </a:xfrm>
          <a:prstGeom prst="rect">
            <a:avLst/>
          </a:prstGeom>
          <a:noFill/>
          <a:ln/>
        </p:spPr>
        <p:txBody>
          <a:bodyPr wrap="square" rtlCol="0" anchor="t"/>
          <a:lstStyle/>
          <a:p>
            <a:pPr indent="0" marL="0">
              <a:spcAft>
                <a:spcPts val="600"/>
              </a:spcAft>
              <a:buNone/>
            </a:pPr>
            <a:r>
              <a:rPr lang="en-US" sz="1200" dirty="0">
                <a:solidFill>
                  <a:srgbClr val="AACCC5"/>
                </a:solidFill>
                <a:latin typeface="Calibri" pitchFamily="34" charset="0"/>
                <a:ea typeface="Calibri" pitchFamily="34" charset="-122"/>
                <a:cs typeface="Calibri" pitchFamily="34" charset="-120"/>
              </a:rPr>
              <a:t>This presentation is strictly private and confidential and is intended solely for the use of the recipient. It may not be reproduced, distributed or published, in whole or in part, without the prior written consent of JSC NC KazMunayGas ("KMG").</a:t>
            </a:r>
            <a:endParaRPr lang="en-US" sz="1200" dirty="0"/>
          </a:p>
          <a:p>
            <a:pPr indent="0" marL="0">
              <a:spcAft>
                <a:spcPts val="600"/>
              </a:spcAft>
              <a:buNone/>
            </a:pPr>
            <a:endParaRPr lang="en-US" sz="1200" dirty="0"/>
          </a:p>
          <a:p>
            <a:pPr indent="0" marL="0">
              <a:spcAft>
                <a:spcPts val="600"/>
              </a:spcAft>
              <a:buNone/>
            </a:pPr>
            <a:r>
              <a:rPr lang="en-US" sz="1200" dirty="0">
                <a:solidFill>
                  <a:srgbClr val="AACCC5"/>
                </a:solidFill>
                <a:latin typeface="Calibri" pitchFamily="34" charset="0"/>
                <a:ea typeface="Calibri" pitchFamily="34" charset="-122"/>
                <a:cs typeface="Calibri" pitchFamily="34" charset="-120"/>
              </a:rPr>
              <a:t>This presentation is a template for discussion purposes only and does not constitute or form part of, and should not be construed as, an offer to sell or a solicitation of an offer to subscribe for or purchase any securities, nor shall it or any part of it form the basis of, or be relied on in connection with, any contract or commitment to purchase or subscribe for any securities.</a:t>
            </a:r>
            <a:endParaRPr lang="en-US" sz="1200" dirty="0"/>
          </a:p>
          <a:p>
            <a:pPr indent="0" marL="0">
              <a:spcAft>
                <a:spcPts val="600"/>
              </a:spcAft>
              <a:buNone/>
            </a:pPr>
            <a:endParaRPr lang="en-US" sz="1200" dirty="0"/>
          </a:p>
          <a:p>
            <a:pPr indent="0" marL="0">
              <a:spcAft>
                <a:spcPts val="600"/>
              </a:spcAft>
              <a:buNone/>
            </a:pPr>
            <a:r>
              <a:rPr lang="en-US" sz="1200" dirty="0">
                <a:solidFill>
                  <a:srgbClr val="AACCC5"/>
                </a:solidFill>
                <a:latin typeface="Calibri" pitchFamily="34" charset="0"/>
                <a:ea typeface="Calibri" pitchFamily="34" charset="-122"/>
                <a:cs typeface="Calibri" pitchFamily="34" charset="-120"/>
              </a:rPr>
              <a:t>This presentation contains forward-looking statements, which are subject to risks and uncertainties that could cause actual results to differ materially. These statements reflect KMG's current expectations and assumptions as of the date of this presentation.</a:t>
            </a:r>
            <a:endParaRPr lang="en-US" sz="1200" dirty="0"/>
          </a:p>
          <a:p>
            <a:pPr indent="0" marL="0">
              <a:spcAft>
                <a:spcPts val="600"/>
              </a:spcAft>
              <a:buNone/>
            </a:pPr>
            <a:endParaRPr lang="en-US" sz="1200" dirty="0"/>
          </a:p>
          <a:p>
            <a:pPr indent="0" marL="0">
              <a:spcAft>
                <a:spcPts val="600"/>
              </a:spcAft>
              <a:buNone/>
            </a:pPr>
            <a:r>
              <a:rPr lang="en-US" sz="1200" dirty="0">
                <a:solidFill>
                  <a:srgbClr val="AACCC5"/>
                </a:solidFill>
                <a:latin typeface="Calibri" pitchFamily="34" charset="0"/>
                <a:ea typeface="Calibri" pitchFamily="34" charset="-122"/>
                <a:cs typeface="Calibri" pitchFamily="34" charset="-120"/>
              </a:rPr>
              <a:t>All financial data is based on KMG's published FY2025 annual results (press release dated 26 March 2026) and publicly available information from www.kmg.kz/en/investors.</a:t>
            </a:r>
            <a:endParaRPr lang="en-US" sz="1200" dirty="0"/>
          </a:p>
          <a:p>
            <a:pPr indent="0" marL="0">
              <a:spcAft>
                <a:spcPts val="600"/>
              </a:spcAft>
              <a:buNone/>
            </a:pPr>
            <a:endParaRPr lang="en-US" sz="1200" dirty="0"/>
          </a:p>
          <a:p>
            <a:pPr indent="0" marL="0">
              <a:spcAft>
                <a:spcPts val="600"/>
              </a:spcAft>
              <a:buNone/>
            </a:pPr>
            <a:r>
              <a:rPr lang="en-US" sz="1200" dirty="0">
                <a:solidFill>
                  <a:srgbClr val="AACCC5"/>
                </a:solidFill>
                <a:latin typeface="Calibri" pitchFamily="34" charset="0"/>
                <a:ea typeface="Calibri" pitchFamily="34" charset="-122"/>
                <a:cs typeface="Calibri" pitchFamily="34" charset="-120"/>
              </a:rPr>
              <a:t>The final terms of any proposed bond offering, if and when made, will be set out in the relevant offering circular and related documents, which should be read in their entirety.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E4D44"/>
          </a:solidFill>
          <a:ln/>
        </p:spPr>
      </p:sp>
      <p:sp>
        <p:nvSpPr>
          <p:cNvPr id="3" name="Text 1"/>
          <p:cNvSpPr/>
          <p:nvPr/>
        </p:nvSpPr>
        <p:spPr>
          <a:xfrm>
            <a:off x="457200" y="320040"/>
            <a:ext cx="11274552" cy="548640"/>
          </a:xfrm>
          <a:prstGeom prst="rect">
            <a:avLst/>
          </a:prstGeom>
          <a:noFill/>
          <a:ln/>
        </p:spPr>
        <p:txBody>
          <a:bodyPr wrap="square" rtlCol="0" anchor="ctr"/>
          <a:lstStyle/>
          <a:p>
            <a:pPr indent="0" marL="0">
              <a:buNone/>
            </a:pPr>
            <a:r>
              <a:rPr lang="en-US" sz="2800" b="1" dirty="0">
                <a:solidFill>
                  <a:srgbClr val="E4CD8B"/>
                </a:solidFill>
                <a:latin typeface="Cambria" pitchFamily="34" charset="0"/>
                <a:ea typeface="Cambria" pitchFamily="34" charset="-122"/>
                <a:cs typeface="Cambria" pitchFamily="34" charset="-120"/>
              </a:rPr>
              <a:t>Agenda</a:t>
            </a:r>
            <a:endParaRPr lang="en-US" sz="2800" dirty="0"/>
          </a:p>
        </p:txBody>
      </p:sp>
      <p:sp>
        <p:nvSpPr>
          <p:cNvPr id="4" name="Shape 2"/>
          <p:cNvSpPr/>
          <p:nvPr/>
        </p:nvSpPr>
        <p:spPr>
          <a:xfrm>
            <a:off x="457200" y="960120"/>
            <a:ext cx="11274552" cy="36576"/>
          </a:xfrm>
          <a:prstGeom prst="rect">
            <a:avLst/>
          </a:prstGeom>
          <a:solidFill>
            <a:srgbClr val="C9A24B"/>
          </a:solidFill>
          <a:ln/>
        </p:spPr>
      </p:sp>
      <p:sp>
        <p:nvSpPr>
          <p:cNvPr id="5" name="Shape 3"/>
          <p:cNvSpPr/>
          <p:nvPr/>
        </p:nvSpPr>
        <p:spPr>
          <a:xfrm>
            <a:off x="457200" y="1188720"/>
            <a:ext cx="384048" cy="384048"/>
          </a:xfrm>
          <a:prstGeom prst="rect">
            <a:avLst>
              <a:gd name="adj" fmla="val 11905"/>
            </a:avLst>
          </a:prstGeom>
          <a:solidFill>
            <a:srgbClr val="C9A24B"/>
          </a:solidFill>
          <a:ln/>
        </p:spPr>
      </p:sp>
      <p:sp>
        <p:nvSpPr>
          <p:cNvPr id="6" name="Text 4"/>
          <p:cNvSpPr/>
          <p:nvPr/>
        </p:nvSpPr>
        <p:spPr>
          <a:xfrm>
            <a:off x="457200" y="1207008"/>
            <a:ext cx="384048" cy="347472"/>
          </a:xfrm>
          <a:prstGeom prst="rect">
            <a:avLst/>
          </a:prstGeom>
          <a:noFill/>
          <a:ln/>
        </p:spPr>
        <p:txBody>
          <a:bodyPr wrap="square" rtlCol="0" anchor="ctr"/>
          <a:lstStyle/>
          <a:p>
            <a:pPr algn="ctr" indent="0" marL="0">
              <a:buNone/>
            </a:pPr>
            <a:r>
              <a:rPr lang="en-US" sz="1200" b="1" dirty="0">
                <a:solidFill>
                  <a:srgbClr val="0A3A33"/>
                </a:solidFill>
                <a:latin typeface="Cambria" pitchFamily="34" charset="0"/>
                <a:ea typeface="Cambria" pitchFamily="34" charset="-122"/>
                <a:cs typeface="Cambria" pitchFamily="34" charset="-120"/>
              </a:rPr>
              <a:t>01</a:t>
            </a:r>
            <a:endParaRPr lang="en-US" sz="1200" dirty="0"/>
          </a:p>
        </p:txBody>
      </p:sp>
      <p:sp>
        <p:nvSpPr>
          <p:cNvPr id="7" name="Text 5"/>
          <p:cNvSpPr/>
          <p:nvPr/>
        </p:nvSpPr>
        <p:spPr>
          <a:xfrm>
            <a:off x="960120" y="1234440"/>
            <a:ext cx="5120640" cy="34747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Transaction Overview &amp; Offering Rationale</a:t>
            </a:r>
            <a:endParaRPr lang="en-US" sz="1400" dirty="0"/>
          </a:p>
        </p:txBody>
      </p:sp>
      <p:sp>
        <p:nvSpPr>
          <p:cNvPr id="8" name="Shape 6"/>
          <p:cNvSpPr/>
          <p:nvPr/>
        </p:nvSpPr>
        <p:spPr>
          <a:xfrm>
            <a:off x="457200" y="2057400"/>
            <a:ext cx="384048" cy="384048"/>
          </a:xfrm>
          <a:prstGeom prst="rect">
            <a:avLst>
              <a:gd name="adj" fmla="val 11905"/>
            </a:avLst>
          </a:prstGeom>
          <a:solidFill>
            <a:srgbClr val="C9A24B"/>
          </a:solidFill>
          <a:ln/>
        </p:spPr>
      </p:sp>
      <p:sp>
        <p:nvSpPr>
          <p:cNvPr id="9" name="Text 7"/>
          <p:cNvSpPr/>
          <p:nvPr/>
        </p:nvSpPr>
        <p:spPr>
          <a:xfrm>
            <a:off x="457200" y="2075688"/>
            <a:ext cx="384048" cy="347472"/>
          </a:xfrm>
          <a:prstGeom prst="rect">
            <a:avLst/>
          </a:prstGeom>
          <a:noFill/>
          <a:ln/>
        </p:spPr>
        <p:txBody>
          <a:bodyPr wrap="square" rtlCol="0" anchor="ctr"/>
          <a:lstStyle/>
          <a:p>
            <a:pPr algn="ctr" indent="0" marL="0">
              <a:buNone/>
            </a:pPr>
            <a:r>
              <a:rPr lang="en-US" sz="1200" b="1" dirty="0">
                <a:solidFill>
                  <a:srgbClr val="0A3A33"/>
                </a:solidFill>
                <a:latin typeface="Cambria" pitchFamily="34" charset="0"/>
                <a:ea typeface="Cambria" pitchFamily="34" charset="-122"/>
                <a:cs typeface="Cambria" pitchFamily="34" charset="-120"/>
              </a:rPr>
              <a:t>02</a:t>
            </a:r>
            <a:endParaRPr lang="en-US" sz="1200" dirty="0"/>
          </a:p>
        </p:txBody>
      </p:sp>
      <p:sp>
        <p:nvSpPr>
          <p:cNvPr id="10" name="Text 8"/>
          <p:cNvSpPr/>
          <p:nvPr/>
        </p:nvSpPr>
        <p:spPr>
          <a:xfrm>
            <a:off x="960120" y="2103120"/>
            <a:ext cx="5120640" cy="34747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KMG at a Glance</a:t>
            </a:r>
            <a:endParaRPr lang="en-US" sz="1400" dirty="0"/>
          </a:p>
        </p:txBody>
      </p:sp>
      <p:sp>
        <p:nvSpPr>
          <p:cNvPr id="11" name="Shape 9"/>
          <p:cNvSpPr/>
          <p:nvPr/>
        </p:nvSpPr>
        <p:spPr>
          <a:xfrm>
            <a:off x="457200" y="2926080"/>
            <a:ext cx="384048" cy="384048"/>
          </a:xfrm>
          <a:prstGeom prst="rect">
            <a:avLst>
              <a:gd name="adj" fmla="val 11905"/>
            </a:avLst>
          </a:prstGeom>
          <a:solidFill>
            <a:srgbClr val="C9A24B"/>
          </a:solidFill>
          <a:ln/>
        </p:spPr>
      </p:sp>
      <p:sp>
        <p:nvSpPr>
          <p:cNvPr id="12" name="Text 10"/>
          <p:cNvSpPr/>
          <p:nvPr/>
        </p:nvSpPr>
        <p:spPr>
          <a:xfrm>
            <a:off x="457200" y="2944368"/>
            <a:ext cx="384048" cy="347472"/>
          </a:xfrm>
          <a:prstGeom prst="rect">
            <a:avLst/>
          </a:prstGeom>
          <a:noFill/>
          <a:ln/>
        </p:spPr>
        <p:txBody>
          <a:bodyPr wrap="square" rtlCol="0" anchor="ctr"/>
          <a:lstStyle/>
          <a:p>
            <a:pPr algn="ctr" indent="0" marL="0">
              <a:buNone/>
            </a:pPr>
            <a:r>
              <a:rPr lang="en-US" sz="1200" b="1" dirty="0">
                <a:solidFill>
                  <a:srgbClr val="0A3A33"/>
                </a:solidFill>
                <a:latin typeface="Cambria" pitchFamily="34" charset="0"/>
                <a:ea typeface="Cambria" pitchFamily="34" charset="-122"/>
                <a:cs typeface="Cambria" pitchFamily="34" charset="-120"/>
              </a:rPr>
              <a:t>03</a:t>
            </a:r>
            <a:endParaRPr lang="en-US" sz="1200" dirty="0"/>
          </a:p>
        </p:txBody>
      </p:sp>
      <p:sp>
        <p:nvSpPr>
          <p:cNvPr id="13" name="Text 11"/>
          <p:cNvSpPr/>
          <p:nvPr/>
        </p:nvSpPr>
        <p:spPr>
          <a:xfrm>
            <a:off x="960120" y="2971800"/>
            <a:ext cx="5120640" cy="34747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Investment Highlights</a:t>
            </a:r>
            <a:endParaRPr lang="en-US" sz="1400" dirty="0"/>
          </a:p>
        </p:txBody>
      </p:sp>
      <p:sp>
        <p:nvSpPr>
          <p:cNvPr id="14" name="Shape 12"/>
          <p:cNvSpPr/>
          <p:nvPr/>
        </p:nvSpPr>
        <p:spPr>
          <a:xfrm>
            <a:off x="457200" y="3794760"/>
            <a:ext cx="384048" cy="384048"/>
          </a:xfrm>
          <a:prstGeom prst="rect">
            <a:avLst>
              <a:gd name="adj" fmla="val 11905"/>
            </a:avLst>
          </a:prstGeom>
          <a:solidFill>
            <a:srgbClr val="C9A24B"/>
          </a:solidFill>
          <a:ln/>
        </p:spPr>
      </p:sp>
      <p:sp>
        <p:nvSpPr>
          <p:cNvPr id="15" name="Text 13"/>
          <p:cNvSpPr/>
          <p:nvPr/>
        </p:nvSpPr>
        <p:spPr>
          <a:xfrm>
            <a:off x="457200" y="3813048"/>
            <a:ext cx="384048" cy="347472"/>
          </a:xfrm>
          <a:prstGeom prst="rect">
            <a:avLst/>
          </a:prstGeom>
          <a:noFill/>
          <a:ln/>
        </p:spPr>
        <p:txBody>
          <a:bodyPr wrap="square" rtlCol="0" anchor="ctr"/>
          <a:lstStyle/>
          <a:p>
            <a:pPr algn="ctr" indent="0" marL="0">
              <a:buNone/>
            </a:pPr>
            <a:r>
              <a:rPr lang="en-US" sz="1200" b="1" dirty="0">
                <a:solidFill>
                  <a:srgbClr val="0A3A33"/>
                </a:solidFill>
                <a:latin typeface="Cambria" pitchFamily="34" charset="0"/>
                <a:ea typeface="Cambria" pitchFamily="34" charset="-122"/>
                <a:cs typeface="Cambria" pitchFamily="34" charset="-120"/>
              </a:rPr>
              <a:t>04</a:t>
            </a:r>
            <a:endParaRPr lang="en-US" sz="1200" dirty="0"/>
          </a:p>
        </p:txBody>
      </p:sp>
      <p:sp>
        <p:nvSpPr>
          <p:cNvPr id="16" name="Text 14"/>
          <p:cNvSpPr/>
          <p:nvPr/>
        </p:nvSpPr>
        <p:spPr>
          <a:xfrm>
            <a:off x="960120" y="3840480"/>
            <a:ext cx="5120640" cy="34747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Macro &amp; Industry Context</a:t>
            </a:r>
            <a:endParaRPr lang="en-US" sz="1400" dirty="0"/>
          </a:p>
        </p:txBody>
      </p:sp>
      <p:sp>
        <p:nvSpPr>
          <p:cNvPr id="17" name="Shape 15"/>
          <p:cNvSpPr/>
          <p:nvPr/>
        </p:nvSpPr>
        <p:spPr>
          <a:xfrm>
            <a:off x="457200" y="4663440"/>
            <a:ext cx="384048" cy="384048"/>
          </a:xfrm>
          <a:prstGeom prst="rect">
            <a:avLst>
              <a:gd name="adj" fmla="val 11905"/>
            </a:avLst>
          </a:prstGeom>
          <a:solidFill>
            <a:srgbClr val="C9A24B"/>
          </a:solidFill>
          <a:ln/>
        </p:spPr>
      </p:sp>
      <p:sp>
        <p:nvSpPr>
          <p:cNvPr id="18" name="Text 16"/>
          <p:cNvSpPr/>
          <p:nvPr/>
        </p:nvSpPr>
        <p:spPr>
          <a:xfrm>
            <a:off x="457200" y="4681728"/>
            <a:ext cx="384048" cy="347472"/>
          </a:xfrm>
          <a:prstGeom prst="rect">
            <a:avLst/>
          </a:prstGeom>
          <a:noFill/>
          <a:ln/>
        </p:spPr>
        <p:txBody>
          <a:bodyPr wrap="square" rtlCol="0" anchor="ctr"/>
          <a:lstStyle/>
          <a:p>
            <a:pPr algn="ctr" indent="0" marL="0">
              <a:buNone/>
            </a:pPr>
            <a:r>
              <a:rPr lang="en-US" sz="1200" b="1" dirty="0">
                <a:solidFill>
                  <a:srgbClr val="0A3A33"/>
                </a:solidFill>
                <a:latin typeface="Cambria" pitchFamily="34" charset="0"/>
                <a:ea typeface="Cambria" pitchFamily="34" charset="-122"/>
                <a:cs typeface="Cambria" pitchFamily="34" charset="-120"/>
              </a:rPr>
              <a:t>05</a:t>
            </a:r>
            <a:endParaRPr lang="en-US" sz="1200" dirty="0"/>
          </a:p>
        </p:txBody>
      </p:sp>
      <p:sp>
        <p:nvSpPr>
          <p:cNvPr id="19" name="Text 17"/>
          <p:cNvSpPr/>
          <p:nvPr/>
        </p:nvSpPr>
        <p:spPr>
          <a:xfrm>
            <a:off x="960120" y="4709160"/>
            <a:ext cx="5120640" cy="34747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Financial Performance — FY2025</a:t>
            </a:r>
            <a:endParaRPr lang="en-US" sz="1400" dirty="0"/>
          </a:p>
        </p:txBody>
      </p:sp>
      <p:sp>
        <p:nvSpPr>
          <p:cNvPr id="20" name="Shape 18"/>
          <p:cNvSpPr/>
          <p:nvPr/>
        </p:nvSpPr>
        <p:spPr>
          <a:xfrm>
            <a:off x="6217920" y="1188720"/>
            <a:ext cx="384048" cy="384048"/>
          </a:xfrm>
          <a:prstGeom prst="rect">
            <a:avLst>
              <a:gd name="adj" fmla="val 11905"/>
            </a:avLst>
          </a:prstGeom>
          <a:solidFill>
            <a:srgbClr val="C9A24B"/>
          </a:solidFill>
          <a:ln/>
        </p:spPr>
      </p:sp>
      <p:sp>
        <p:nvSpPr>
          <p:cNvPr id="21" name="Text 19"/>
          <p:cNvSpPr/>
          <p:nvPr/>
        </p:nvSpPr>
        <p:spPr>
          <a:xfrm>
            <a:off x="6217920" y="1207008"/>
            <a:ext cx="384048" cy="347472"/>
          </a:xfrm>
          <a:prstGeom prst="rect">
            <a:avLst/>
          </a:prstGeom>
          <a:noFill/>
          <a:ln/>
        </p:spPr>
        <p:txBody>
          <a:bodyPr wrap="square" rtlCol="0" anchor="ctr"/>
          <a:lstStyle/>
          <a:p>
            <a:pPr algn="ctr" indent="0" marL="0">
              <a:buNone/>
            </a:pPr>
            <a:r>
              <a:rPr lang="en-US" sz="1200" b="1" dirty="0">
                <a:solidFill>
                  <a:srgbClr val="0A3A33"/>
                </a:solidFill>
                <a:latin typeface="Cambria" pitchFamily="34" charset="0"/>
                <a:ea typeface="Cambria" pitchFamily="34" charset="-122"/>
                <a:cs typeface="Cambria" pitchFamily="34" charset="-120"/>
              </a:rPr>
              <a:t>06</a:t>
            </a:r>
            <a:endParaRPr lang="en-US" sz="1200" dirty="0"/>
          </a:p>
        </p:txBody>
      </p:sp>
      <p:sp>
        <p:nvSpPr>
          <p:cNvPr id="22" name="Text 20"/>
          <p:cNvSpPr/>
          <p:nvPr/>
        </p:nvSpPr>
        <p:spPr>
          <a:xfrm>
            <a:off x="6720840" y="1234440"/>
            <a:ext cx="5120640" cy="34747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Financial Strength &amp; Credit Metrics</a:t>
            </a:r>
            <a:endParaRPr lang="en-US" sz="1400" dirty="0"/>
          </a:p>
        </p:txBody>
      </p:sp>
      <p:sp>
        <p:nvSpPr>
          <p:cNvPr id="23" name="Shape 21"/>
          <p:cNvSpPr/>
          <p:nvPr/>
        </p:nvSpPr>
        <p:spPr>
          <a:xfrm>
            <a:off x="6217920" y="2057400"/>
            <a:ext cx="384048" cy="384048"/>
          </a:xfrm>
          <a:prstGeom prst="rect">
            <a:avLst>
              <a:gd name="adj" fmla="val 11905"/>
            </a:avLst>
          </a:prstGeom>
          <a:solidFill>
            <a:srgbClr val="C9A24B"/>
          </a:solidFill>
          <a:ln/>
        </p:spPr>
      </p:sp>
      <p:sp>
        <p:nvSpPr>
          <p:cNvPr id="24" name="Text 22"/>
          <p:cNvSpPr/>
          <p:nvPr/>
        </p:nvSpPr>
        <p:spPr>
          <a:xfrm>
            <a:off x="6217920" y="2075688"/>
            <a:ext cx="384048" cy="347472"/>
          </a:xfrm>
          <a:prstGeom prst="rect">
            <a:avLst/>
          </a:prstGeom>
          <a:noFill/>
          <a:ln/>
        </p:spPr>
        <p:txBody>
          <a:bodyPr wrap="square" rtlCol="0" anchor="ctr"/>
          <a:lstStyle/>
          <a:p>
            <a:pPr algn="ctr" indent="0" marL="0">
              <a:buNone/>
            </a:pPr>
            <a:r>
              <a:rPr lang="en-US" sz="1200" b="1" dirty="0">
                <a:solidFill>
                  <a:srgbClr val="0A3A33"/>
                </a:solidFill>
                <a:latin typeface="Cambria" pitchFamily="34" charset="0"/>
                <a:ea typeface="Cambria" pitchFamily="34" charset="-122"/>
                <a:cs typeface="Cambria" pitchFamily="34" charset="-120"/>
              </a:rPr>
              <a:t>07</a:t>
            </a:r>
            <a:endParaRPr lang="en-US" sz="1200" dirty="0"/>
          </a:p>
        </p:txBody>
      </p:sp>
      <p:sp>
        <p:nvSpPr>
          <p:cNvPr id="25" name="Text 23"/>
          <p:cNvSpPr/>
          <p:nvPr/>
        </p:nvSpPr>
        <p:spPr>
          <a:xfrm>
            <a:off x="6720840" y="2103120"/>
            <a:ext cx="5120640" cy="34747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Debt Profile &amp; Eurobond Maturity Profile</a:t>
            </a:r>
            <a:endParaRPr lang="en-US" sz="1400" dirty="0"/>
          </a:p>
        </p:txBody>
      </p:sp>
      <p:sp>
        <p:nvSpPr>
          <p:cNvPr id="26" name="Shape 24"/>
          <p:cNvSpPr/>
          <p:nvPr/>
        </p:nvSpPr>
        <p:spPr>
          <a:xfrm>
            <a:off x="6217920" y="2926080"/>
            <a:ext cx="384048" cy="384048"/>
          </a:xfrm>
          <a:prstGeom prst="rect">
            <a:avLst>
              <a:gd name="adj" fmla="val 11905"/>
            </a:avLst>
          </a:prstGeom>
          <a:solidFill>
            <a:srgbClr val="C9A24B"/>
          </a:solidFill>
          <a:ln/>
        </p:spPr>
      </p:sp>
      <p:sp>
        <p:nvSpPr>
          <p:cNvPr id="27" name="Text 25"/>
          <p:cNvSpPr/>
          <p:nvPr/>
        </p:nvSpPr>
        <p:spPr>
          <a:xfrm>
            <a:off x="6217920" y="2944368"/>
            <a:ext cx="384048" cy="347472"/>
          </a:xfrm>
          <a:prstGeom prst="rect">
            <a:avLst/>
          </a:prstGeom>
          <a:noFill/>
          <a:ln/>
        </p:spPr>
        <p:txBody>
          <a:bodyPr wrap="square" rtlCol="0" anchor="ctr"/>
          <a:lstStyle/>
          <a:p>
            <a:pPr algn="ctr" indent="0" marL="0">
              <a:buNone/>
            </a:pPr>
            <a:r>
              <a:rPr lang="en-US" sz="1200" b="1" dirty="0">
                <a:solidFill>
                  <a:srgbClr val="0A3A33"/>
                </a:solidFill>
                <a:latin typeface="Cambria" pitchFamily="34" charset="0"/>
                <a:ea typeface="Cambria" pitchFamily="34" charset="-122"/>
                <a:cs typeface="Cambria" pitchFamily="34" charset="-120"/>
              </a:rPr>
              <a:t>08</a:t>
            </a:r>
            <a:endParaRPr lang="en-US" sz="1200" dirty="0"/>
          </a:p>
        </p:txBody>
      </p:sp>
      <p:sp>
        <p:nvSpPr>
          <p:cNvPr id="28" name="Text 26"/>
          <p:cNvSpPr/>
          <p:nvPr/>
        </p:nvSpPr>
        <p:spPr>
          <a:xfrm>
            <a:off x="6720840" y="2971800"/>
            <a:ext cx="5120640" cy="34747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Credit Ratings &amp; Capital Returns</a:t>
            </a:r>
            <a:endParaRPr lang="en-US" sz="1400" dirty="0"/>
          </a:p>
        </p:txBody>
      </p:sp>
      <p:sp>
        <p:nvSpPr>
          <p:cNvPr id="29" name="Shape 27"/>
          <p:cNvSpPr/>
          <p:nvPr/>
        </p:nvSpPr>
        <p:spPr>
          <a:xfrm>
            <a:off x="6217920" y="3794760"/>
            <a:ext cx="384048" cy="384048"/>
          </a:xfrm>
          <a:prstGeom prst="rect">
            <a:avLst>
              <a:gd name="adj" fmla="val 11905"/>
            </a:avLst>
          </a:prstGeom>
          <a:solidFill>
            <a:srgbClr val="C9A24B"/>
          </a:solidFill>
          <a:ln/>
        </p:spPr>
      </p:sp>
      <p:sp>
        <p:nvSpPr>
          <p:cNvPr id="30" name="Text 28"/>
          <p:cNvSpPr/>
          <p:nvPr/>
        </p:nvSpPr>
        <p:spPr>
          <a:xfrm>
            <a:off x="6217920" y="3813048"/>
            <a:ext cx="384048" cy="347472"/>
          </a:xfrm>
          <a:prstGeom prst="rect">
            <a:avLst/>
          </a:prstGeom>
          <a:noFill/>
          <a:ln/>
        </p:spPr>
        <p:txBody>
          <a:bodyPr wrap="square" rtlCol="0" anchor="ctr"/>
          <a:lstStyle/>
          <a:p>
            <a:pPr algn="ctr" indent="0" marL="0">
              <a:buNone/>
            </a:pPr>
            <a:r>
              <a:rPr lang="en-US" sz="1200" b="1" dirty="0">
                <a:solidFill>
                  <a:srgbClr val="0A3A33"/>
                </a:solidFill>
                <a:latin typeface="Cambria" pitchFamily="34" charset="0"/>
                <a:ea typeface="Cambria" pitchFamily="34" charset="-122"/>
                <a:cs typeface="Cambria" pitchFamily="34" charset="-120"/>
              </a:rPr>
              <a:t>09</a:t>
            </a:r>
            <a:endParaRPr lang="en-US" sz="1200" dirty="0"/>
          </a:p>
        </p:txBody>
      </p:sp>
      <p:sp>
        <p:nvSpPr>
          <p:cNvPr id="31" name="Text 29"/>
          <p:cNvSpPr/>
          <p:nvPr/>
        </p:nvSpPr>
        <p:spPr>
          <a:xfrm>
            <a:off x="6720840" y="3840480"/>
            <a:ext cx="5120640" cy="34747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ESG, Risk Factors &amp; Summary Investment Case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A3A33"/>
          </a:solidFill>
          <a:ln/>
        </p:spPr>
      </p:sp>
      <p:sp>
        <p:nvSpPr>
          <p:cNvPr id="3" name="Text 1"/>
          <p:cNvSpPr/>
          <p:nvPr/>
        </p:nvSpPr>
        <p:spPr>
          <a:xfrm>
            <a:off x="457200" y="320040"/>
            <a:ext cx="11274552" cy="548640"/>
          </a:xfrm>
          <a:prstGeom prst="rect">
            <a:avLst/>
          </a:prstGeom>
          <a:noFill/>
          <a:ln/>
        </p:spPr>
        <p:txBody>
          <a:bodyPr wrap="square" rtlCol="0" anchor="ctr"/>
          <a:lstStyle/>
          <a:p>
            <a:pPr indent="0" marL="0">
              <a:buNone/>
            </a:pPr>
            <a:r>
              <a:rPr lang="en-US" sz="2800" b="1" dirty="0">
                <a:solidFill>
                  <a:srgbClr val="E4CD8B"/>
                </a:solidFill>
                <a:latin typeface="Cambria" pitchFamily="34" charset="0"/>
                <a:ea typeface="Cambria" pitchFamily="34" charset="-122"/>
                <a:cs typeface="Cambria" pitchFamily="34" charset="-120"/>
              </a:rPr>
              <a:t>Transaction Overview &amp; Offering Rationale</a:t>
            </a:r>
            <a:endParaRPr lang="en-US" sz="2800" dirty="0"/>
          </a:p>
        </p:txBody>
      </p:sp>
      <p:sp>
        <p:nvSpPr>
          <p:cNvPr id="4" name="Shape 2"/>
          <p:cNvSpPr/>
          <p:nvPr/>
        </p:nvSpPr>
        <p:spPr>
          <a:xfrm>
            <a:off x="457200" y="960120"/>
            <a:ext cx="11274552" cy="36576"/>
          </a:xfrm>
          <a:prstGeom prst="rect">
            <a:avLst/>
          </a:prstGeom>
          <a:solidFill>
            <a:srgbClr val="C9A24B"/>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4552" cy="914400"/>
        </p:xfrm>
        <a:graphic>
          <a:graphicData uri="http://schemas.openxmlformats.org/drawingml/2006/table">
            <a:tbl>
              <a:tblPr/>
              <a:tblGrid>
                <a:gridCol w="3200400"/>
                <a:gridCol w="8074152"/>
              </a:tblGrid>
              <a:tr h="0">
                <a:tc>
                  <a:txBody>
                    <a:bodyPr/>
                    <a:lstStyle/>
                    <a:p>
                      <a:pPr indent="0" marL="0">
                        <a:buNone/>
                      </a:pPr>
                      <a:r>
                        <a:rPr lang="en-US" sz="1300" b="1" dirty="0">
                          <a:solidFill>
                            <a:srgbClr val="E4CD8B"/>
                          </a:solidFill>
                          <a:latin typeface="Calibri" pitchFamily="34" charset="0"/>
                          <a:ea typeface="Calibri" pitchFamily="34" charset="-122"/>
                          <a:cs typeface="Calibri" pitchFamily="34" charset="-120"/>
                        </a:rPr>
                        <a:t>Issuer</a:t>
                      </a:r>
                      <a:endParaRPr lang="en-US" sz="1300" dirty="0">
                        <a:latin typeface="Calibri" charset="0"/>
                        <a:ea typeface="Calibri" charset="0"/>
                        <a:cs typeface="Calibri" charset="0"/>
                      </a:endParaRPr>
                    </a:p>
                  </a:txBody>
                  <a:tcPr marL="91440" marR="91440" marT="45720" marB="45720">
                    <a:lnL w="12700" cap="flat" cmpd="sng" algn="ctr">
                      <a:solidFill>
                        <a:srgbClr val="2A8070"/>
                      </a:solidFill>
                      <a:prstDash val="solid"/>
                      <a:round/>
                      <a:headEnd type="none" w="med" len="med"/>
                      <a:tailEnd type="none" w="med" len="med"/>
                    </a:lnL>
                    <a:lnR w="12700" cap="flat" cmpd="sng" algn="ctr">
                      <a:solidFill>
                        <a:srgbClr val="2A8070"/>
                      </a:solidFill>
                      <a:prstDash val="solid"/>
                      <a:round/>
                      <a:headEnd type="none" w="med" len="med"/>
                      <a:tailEnd type="none" w="med" len="med"/>
                    </a:lnR>
                    <a:lnT w="12700" cap="flat" cmpd="sng" algn="ctr">
                      <a:solidFill>
                        <a:srgbClr val="2A8070"/>
                      </a:solidFill>
                      <a:prstDash val="solid"/>
                      <a:round/>
                      <a:headEnd type="none" w="med" len="med"/>
                      <a:tailEnd type="none" w="med" len="med"/>
                    </a:lnT>
                    <a:lnB w="12700" cap="flat" cmpd="sng" algn="ctr">
                      <a:solidFill>
                        <a:srgbClr val="2A8070"/>
                      </a:solidFill>
                      <a:prstDash val="solid"/>
                      <a:round/>
                      <a:headEnd type="none" w="med" len="med"/>
                      <a:tailEnd type="none" w="med" len="med"/>
                    </a:lnB>
                    <a:solidFill>
                      <a:srgbClr val="0E4D44"/>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JSC NC KazMunayGas</a:t>
                      </a:r>
                      <a:endParaRPr lang="en-US" sz="1300" dirty="0">
                        <a:latin typeface="Calibri" charset="0"/>
                        <a:ea typeface="Calibri" charset="0"/>
                        <a:cs typeface="Calibri" charset="0"/>
                      </a:endParaRPr>
                    </a:p>
                  </a:txBody>
                  <a:tcPr marL="91440" marR="91440" marT="45720" marB="45720">
                    <a:lnL w="12700" cap="flat" cmpd="sng" algn="ctr">
                      <a:solidFill>
                        <a:srgbClr val="2A8070"/>
                      </a:solidFill>
                      <a:prstDash val="solid"/>
                      <a:round/>
                      <a:headEnd type="none" w="med" len="med"/>
                      <a:tailEnd type="none" w="med" len="med"/>
                    </a:lnL>
                    <a:lnR w="12700" cap="flat" cmpd="sng" algn="ctr">
                      <a:solidFill>
                        <a:srgbClr val="2A8070"/>
                      </a:solidFill>
                      <a:prstDash val="solid"/>
                      <a:round/>
                      <a:headEnd type="none" w="med" len="med"/>
                      <a:tailEnd type="none" w="med" len="med"/>
                    </a:lnR>
                    <a:lnT w="12700" cap="flat" cmpd="sng" algn="ctr">
                      <a:solidFill>
                        <a:srgbClr val="2A8070"/>
                      </a:solidFill>
                      <a:prstDash val="solid"/>
                      <a:round/>
                      <a:headEnd type="none" w="med" len="med"/>
                      <a:tailEnd type="none" w="med" len="med"/>
                    </a:lnT>
                    <a:lnB w="12700" cap="flat" cmpd="sng" algn="ctr">
                      <a:solidFill>
                        <a:srgbClr val="2A8070"/>
                      </a:solidFill>
                      <a:prstDash val="solid"/>
                      <a:round/>
                      <a:headEnd type="none" w="med" len="med"/>
                      <a:tailEnd type="none" w="med" len="med"/>
                    </a:lnB>
                    <a:solidFill>
                      <a:srgbClr val="1A6558"/>
                    </a:solidFill>
                  </a:tcPr>
                </a:tc>
              </a:tr>
              <a:tr h="0">
                <a:tc>
                  <a:txBody>
                    <a:bodyPr/>
                    <a:lstStyle/>
                    <a:p>
                      <a:pPr indent="0" marL="0">
                        <a:buNone/>
                      </a:pPr>
                      <a:r>
                        <a:rPr lang="en-US" sz="1300" b="1" dirty="0">
                          <a:solidFill>
                            <a:srgbClr val="E4CD8B"/>
                          </a:solidFill>
                          <a:latin typeface="Calibri" pitchFamily="34" charset="0"/>
                          <a:ea typeface="Calibri" pitchFamily="34" charset="-122"/>
                          <a:cs typeface="Calibri" pitchFamily="34" charset="-120"/>
                        </a:rPr>
                        <a:t>Expected Rating</a:t>
                      </a:r>
                      <a:endParaRPr lang="en-US" sz="1300" dirty="0">
                        <a:latin typeface="Calibri" charset="0"/>
                        <a:ea typeface="Calibri" charset="0"/>
                        <a:cs typeface="Calibri" charset="0"/>
                      </a:endParaRPr>
                    </a:p>
                  </a:txBody>
                  <a:tcPr marL="91440" marR="91440" marT="45720" marB="45720">
                    <a:lnL w="12700" cap="flat" cmpd="sng" algn="ctr">
                      <a:solidFill>
                        <a:srgbClr val="2A8070"/>
                      </a:solidFill>
                      <a:prstDash val="solid"/>
                      <a:round/>
                      <a:headEnd type="none" w="med" len="med"/>
                      <a:tailEnd type="none" w="med" len="med"/>
                    </a:lnL>
                    <a:lnR w="12700" cap="flat" cmpd="sng" algn="ctr">
                      <a:solidFill>
                        <a:srgbClr val="2A8070"/>
                      </a:solidFill>
                      <a:prstDash val="solid"/>
                      <a:round/>
                      <a:headEnd type="none" w="med" len="med"/>
                      <a:tailEnd type="none" w="med" len="med"/>
                    </a:lnR>
                    <a:lnT w="12700" cap="flat" cmpd="sng" algn="ctr">
                      <a:solidFill>
                        <a:srgbClr val="2A8070"/>
                      </a:solidFill>
                      <a:prstDash val="solid"/>
                      <a:round/>
                      <a:headEnd type="none" w="med" len="med"/>
                      <a:tailEnd type="none" w="med" len="med"/>
                    </a:lnT>
                    <a:lnB w="12700" cap="flat" cmpd="sng" algn="ctr">
                      <a:solidFill>
                        <a:srgbClr val="2A8070"/>
                      </a:solidFill>
                      <a:prstDash val="solid"/>
                      <a:round/>
                      <a:headEnd type="none" w="med" len="med"/>
                      <a:tailEnd type="none" w="med" len="med"/>
                    </a:lnB>
                    <a:solidFill>
                      <a:srgbClr val="0E4D44"/>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Baa1 (Moody's) / BBB− (S&amp;P) / BBB (Fitch) — Investment Grade</a:t>
                      </a:r>
                      <a:endParaRPr lang="en-US" sz="1300" dirty="0">
                        <a:latin typeface="Calibri" charset="0"/>
                        <a:ea typeface="Calibri" charset="0"/>
                        <a:cs typeface="Calibri" charset="0"/>
                      </a:endParaRPr>
                    </a:p>
                  </a:txBody>
                  <a:tcPr marL="91440" marR="91440" marT="45720" marB="45720">
                    <a:lnL w="12700" cap="flat" cmpd="sng" algn="ctr">
                      <a:solidFill>
                        <a:srgbClr val="2A8070"/>
                      </a:solidFill>
                      <a:prstDash val="solid"/>
                      <a:round/>
                      <a:headEnd type="none" w="med" len="med"/>
                      <a:tailEnd type="none" w="med" len="med"/>
                    </a:lnL>
                    <a:lnR w="12700" cap="flat" cmpd="sng" algn="ctr">
                      <a:solidFill>
                        <a:srgbClr val="2A8070"/>
                      </a:solidFill>
                      <a:prstDash val="solid"/>
                      <a:round/>
                      <a:headEnd type="none" w="med" len="med"/>
                      <a:tailEnd type="none" w="med" len="med"/>
                    </a:lnR>
                    <a:lnT w="12700" cap="flat" cmpd="sng" algn="ctr">
                      <a:solidFill>
                        <a:srgbClr val="2A8070"/>
                      </a:solidFill>
                      <a:prstDash val="solid"/>
                      <a:round/>
                      <a:headEnd type="none" w="med" len="med"/>
                      <a:tailEnd type="none" w="med" len="med"/>
                    </a:lnT>
                    <a:lnB w="12700" cap="flat" cmpd="sng" algn="ctr">
                      <a:solidFill>
                        <a:srgbClr val="2A8070"/>
                      </a:solidFill>
                      <a:prstDash val="solid"/>
                      <a:round/>
                      <a:headEnd type="none" w="med" len="med"/>
                      <a:tailEnd type="none" w="med" len="med"/>
                    </a:lnB>
                    <a:solidFill>
                      <a:srgbClr val="1A6558"/>
                    </a:solidFill>
                  </a:tcPr>
                </a:tc>
              </a:tr>
              <a:tr h="0">
                <a:tc>
                  <a:txBody>
                    <a:bodyPr/>
                    <a:lstStyle/>
                    <a:p>
                      <a:pPr indent="0" marL="0">
                        <a:buNone/>
                      </a:pPr>
                      <a:r>
                        <a:rPr lang="en-US" sz="1300" b="1" dirty="0">
                          <a:solidFill>
                            <a:srgbClr val="E4CD8B"/>
                          </a:solidFill>
                          <a:latin typeface="Calibri" pitchFamily="34" charset="0"/>
                          <a:ea typeface="Calibri" pitchFamily="34" charset="-122"/>
                          <a:cs typeface="Calibri" pitchFamily="34" charset="-120"/>
                        </a:rPr>
                        <a:t>Format</a:t>
                      </a:r>
                      <a:endParaRPr lang="en-US" sz="1300" dirty="0">
                        <a:latin typeface="Calibri" charset="0"/>
                        <a:ea typeface="Calibri" charset="0"/>
                        <a:cs typeface="Calibri" charset="0"/>
                      </a:endParaRPr>
                    </a:p>
                  </a:txBody>
                  <a:tcPr marL="91440" marR="91440" marT="45720" marB="45720">
                    <a:lnL w="12700" cap="flat" cmpd="sng" algn="ctr">
                      <a:solidFill>
                        <a:srgbClr val="2A8070"/>
                      </a:solidFill>
                      <a:prstDash val="solid"/>
                      <a:round/>
                      <a:headEnd type="none" w="med" len="med"/>
                      <a:tailEnd type="none" w="med" len="med"/>
                    </a:lnL>
                    <a:lnR w="12700" cap="flat" cmpd="sng" algn="ctr">
                      <a:solidFill>
                        <a:srgbClr val="2A8070"/>
                      </a:solidFill>
                      <a:prstDash val="solid"/>
                      <a:round/>
                      <a:headEnd type="none" w="med" len="med"/>
                      <a:tailEnd type="none" w="med" len="med"/>
                    </a:lnR>
                    <a:lnT w="12700" cap="flat" cmpd="sng" algn="ctr">
                      <a:solidFill>
                        <a:srgbClr val="2A8070"/>
                      </a:solidFill>
                      <a:prstDash val="solid"/>
                      <a:round/>
                      <a:headEnd type="none" w="med" len="med"/>
                      <a:tailEnd type="none" w="med" len="med"/>
                    </a:lnT>
                    <a:lnB w="12700" cap="flat" cmpd="sng" algn="ctr">
                      <a:solidFill>
                        <a:srgbClr val="2A8070"/>
                      </a:solidFill>
                      <a:prstDash val="solid"/>
                      <a:round/>
                      <a:headEnd type="none" w="med" len="med"/>
                      <a:tailEnd type="none" w="med" len="med"/>
                    </a:lnB>
                    <a:solidFill>
                      <a:srgbClr val="0E4D44"/>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Reg S / Rule 144A — Senior Unsecured Notes</a:t>
                      </a:r>
                      <a:endParaRPr lang="en-US" sz="1300" dirty="0">
                        <a:latin typeface="Calibri" charset="0"/>
                        <a:ea typeface="Calibri" charset="0"/>
                        <a:cs typeface="Calibri" charset="0"/>
                      </a:endParaRPr>
                    </a:p>
                  </a:txBody>
                  <a:tcPr marL="91440" marR="91440" marT="45720" marB="45720">
                    <a:lnL w="12700" cap="flat" cmpd="sng" algn="ctr">
                      <a:solidFill>
                        <a:srgbClr val="2A8070"/>
                      </a:solidFill>
                      <a:prstDash val="solid"/>
                      <a:round/>
                      <a:headEnd type="none" w="med" len="med"/>
                      <a:tailEnd type="none" w="med" len="med"/>
                    </a:lnL>
                    <a:lnR w="12700" cap="flat" cmpd="sng" algn="ctr">
                      <a:solidFill>
                        <a:srgbClr val="2A8070"/>
                      </a:solidFill>
                      <a:prstDash val="solid"/>
                      <a:round/>
                      <a:headEnd type="none" w="med" len="med"/>
                      <a:tailEnd type="none" w="med" len="med"/>
                    </a:lnR>
                    <a:lnT w="12700" cap="flat" cmpd="sng" algn="ctr">
                      <a:solidFill>
                        <a:srgbClr val="2A8070"/>
                      </a:solidFill>
                      <a:prstDash val="solid"/>
                      <a:round/>
                      <a:headEnd type="none" w="med" len="med"/>
                      <a:tailEnd type="none" w="med" len="med"/>
                    </a:lnT>
                    <a:lnB w="12700" cap="flat" cmpd="sng" algn="ctr">
                      <a:solidFill>
                        <a:srgbClr val="2A8070"/>
                      </a:solidFill>
                      <a:prstDash val="solid"/>
                      <a:round/>
                      <a:headEnd type="none" w="med" len="med"/>
                      <a:tailEnd type="none" w="med" len="med"/>
                    </a:lnB>
                    <a:solidFill>
                      <a:srgbClr val="1A6558"/>
                    </a:solidFill>
                  </a:tcPr>
                </a:tc>
              </a:tr>
              <a:tr h="0">
                <a:tc>
                  <a:txBody>
                    <a:bodyPr/>
                    <a:lstStyle/>
                    <a:p>
                      <a:pPr indent="0" marL="0">
                        <a:buNone/>
                      </a:pPr>
                      <a:r>
                        <a:rPr lang="en-US" sz="1300" b="1" dirty="0">
                          <a:solidFill>
                            <a:srgbClr val="E4CD8B"/>
                          </a:solidFill>
                          <a:latin typeface="Calibri" pitchFamily="34" charset="0"/>
                          <a:ea typeface="Calibri" pitchFamily="34" charset="-122"/>
                          <a:cs typeface="Calibri" pitchFamily="34" charset="-120"/>
                        </a:rPr>
                        <a:t>Use of Proceeds</a:t>
                      </a:r>
                      <a:endParaRPr lang="en-US" sz="1300" dirty="0">
                        <a:latin typeface="Calibri" charset="0"/>
                        <a:ea typeface="Calibri" charset="0"/>
                        <a:cs typeface="Calibri" charset="0"/>
                      </a:endParaRPr>
                    </a:p>
                  </a:txBody>
                  <a:tcPr marL="91440" marR="91440" marT="45720" marB="45720">
                    <a:lnL w="12700" cap="flat" cmpd="sng" algn="ctr">
                      <a:solidFill>
                        <a:srgbClr val="2A8070"/>
                      </a:solidFill>
                      <a:prstDash val="solid"/>
                      <a:round/>
                      <a:headEnd type="none" w="med" len="med"/>
                      <a:tailEnd type="none" w="med" len="med"/>
                    </a:lnL>
                    <a:lnR w="12700" cap="flat" cmpd="sng" algn="ctr">
                      <a:solidFill>
                        <a:srgbClr val="2A8070"/>
                      </a:solidFill>
                      <a:prstDash val="solid"/>
                      <a:round/>
                      <a:headEnd type="none" w="med" len="med"/>
                      <a:tailEnd type="none" w="med" len="med"/>
                    </a:lnR>
                    <a:lnT w="12700" cap="flat" cmpd="sng" algn="ctr">
                      <a:solidFill>
                        <a:srgbClr val="2A8070"/>
                      </a:solidFill>
                      <a:prstDash val="solid"/>
                      <a:round/>
                      <a:headEnd type="none" w="med" len="med"/>
                      <a:tailEnd type="none" w="med" len="med"/>
                    </a:lnT>
                    <a:lnB w="12700" cap="flat" cmpd="sng" algn="ctr">
                      <a:solidFill>
                        <a:srgbClr val="2A8070"/>
                      </a:solidFill>
                      <a:prstDash val="solid"/>
                      <a:round/>
                      <a:headEnd type="none" w="med" len="med"/>
                      <a:tailEnd type="none" w="med" len="med"/>
                    </a:lnB>
                    <a:solidFill>
                      <a:srgbClr val="0E4D44"/>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General corporate purposes, refinancing of existing indebtedness</a:t>
                      </a:r>
                      <a:endParaRPr lang="en-US" sz="1300" dirty="0">
                        <a:latin typeface="Calibri" charset="0"/>
                        <a:ea typeface="Calibri" charset="0"/>
                        <a:cs typeface="Calibri" charset="0"/>
                      </a:endParaRPr>
                    </a:p>
                  </a:txBody>
                  <a:tcPr marL="91440" marR="91440" marT="45720" marB="45720">
                    <a:lnL w="12700" cap="flat" cmpd="sng" algn="ctr">
                      <a:solidFill>
                        <a:srgbClr val="2A8070"/>
                      </a:solidFill>
                      <a:prstDash val="solid"/>
                      <a:round/>
                      <a:headEnd type="none" w="med" len="med"/>
                      <a:tailEnd type="none" w="med" len="med"/>
                    </a:lnL>
                    <a:lnR w="12700" cap="flat" cmpd="sng" algn="ctr">
                      <a:solidFill>
                        <a:srgbClr val="2A8070"/>
                      </a:solidFill>
                      <a:prstDash val="solid"/>
                      <a:round/>
                      <a:headEnd type="none" w="med" len="med"/>
                      <a:tailEnd type="none" w="med" len="med"/>
                    </a:lnR>
                    <a:lnT w="12700" cap="flat" cmpd="sng" algn="ctr">
                      <a:solidFill>
                        <a:srgbClr val="2A8070"/>
                      </a:solidFill>
                      <a:prstDash val="solid"/>
                      <a:round/>
                      <a:headEnd type="none" w="med" len="med"/>
                      <a:tailEnd type="none" w="med" len="med"/>
                    </a:lnT>
                    <a:lnB w="12700" cap="flat" cmpd="sng" algn="ctr">
                      <a:solidFill>
                        <a:srgbClr val="2A8070"/>
                      </a:solidFill>
                      <a:prstDash val="solid"/>
                      <a:round/>
                      <a:headEnd type="none" w="med" len="med"/>
                      <a:tailEnd type="none" w="med" len="med"/>
                    </a:lnB>
                    <a:solidFill>
                      <a:srgbClr val="1A6558"/>
                    </a:solidFill>
                  </a:tcPr>
                </a:tc>
              </a:tr>
              <a:tr h="0">
                <a:tc>
                  <a:txBody>
                    <a:bodyPr/>
                    <a:lstStyle/>
                    <a:p>
                      <a:pPr indent="0" marL="0">
                        <a:buNone/>
                      </a:pPr>
                      <a:r>
                        <a:rPr lang="en-US" sz="1300" b="1" dirty="0">
                          <a:solidFill>
                            <a:srgbClr val="E4CD8B"/>
                          </a:solidFill>
                          <a:latin typeface="Calibri" pitchFamily="34" charset="0"/>
                          <a:ea typeface="Calibri" pitchFamily="34" charset="-122"/>
                          <a:cs typeface="Calibri" pitchFamily="34" charset="-120"/>
                        </a:rPr>
                        <a:t>Listing</a:t>
                      </a:r>
                      <a:endParaRPr lang="en-US" sz="1300" dirty="0">
                        <a:latin typeface="Calibri" charset="0"/>
                        <a:ea typeface="Calibri" charset="0"/>
                        <a:cs typeface="Calibri" charset="0"/>
                      </a:endParaRPr>
                    </a:p>
                  </a:txBody>
                  <a:tcPr marL="91440" marR="91440" marT="45720" marB="45720">
                    <a:lnL w="12700" cap="flat" cmpd="sng" algn="ctr">
                      <a:solidFill>
                        <a:srgbClr val="2A8070"/>
                      </a:solidFill>
                      <a:prstDash val="solid"/>
                      <a:round/>
                      <a:headEnd type="none" w="med" len="med"/>
                      <a:tailEnd type="none" w="med" len="med"/>
                    </a:lnL>
                    <a:lnR w="12700" cap="flat" cmpd="sng" algn="ctr">
                      <a:solidFill>
                        <a:srgbClr val="2A8070"/>
                      </a:solidFill>
                      <a:prstDash val="solid"/>
                      <a:round/>
                      <a:headEnd type="none" w="med" len="med"/>
                      <a:tailEnd type="none" w="med" len="med"/>
                    </a:lnR>
                    <a:lnT w="12700" cap="flat" cmpd="sng" algn="ctr">
                      <a:solidFill>
                        <a:srgbClr val="2A8070"/>
                      </a:solidFill>
                      <a:prstDash val="solid"/>
                      <a:round/>
                      <a:headEnd type="none" w="med" len="med"/>
                      <a:tailEnd type="none" w="med" len="med"/>
                    </a:lnT>
                    <a:lnB w="12700" cap="flat" cmpd="sng" algn="ctr">
                      <a:solidFill>
                        <a:srgbClr val="2A8070"/>
                      </a:solidFill>
                      <a:prstDash val="solid"/>
                      <a:round/>
                      <a:headEnd type="none" w="med" len="med"/>
                      <a:tailEnd type="none" w="med" len="med"/>
                    </a:lnB>
                    <a:solidFill>
                      <a:srgbClr val="0E4D44"/>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Euronext Dublin (Irish Stock Exchange)</a:t>
                      </a:r>
                      <a:endParaRPr lang="en-US" sz="1300" dirty="0">
                        <a:latin typeface="Calibri" charset="0"/>
                        <a:ea typeface="Calibri" charset="0"/>
                        <a:cs typeface="Calibri" charset="0"/>
                      </a:endParaRPr>
                    </a:p>
                  </a:txBody>
                  <a:tcPr marL="91440" marR="91440" marT="45720" marB="45720">
                    <a:lnL w="12700" cap="flat" cmpd="sng" algn="ctr">
                      <a:solidFill>
                        <a:srgbClr val="2A8070"/>
                      </a:solidFill>
                      <a:prstDash val="solid"/>
                      <a:round/>
                      <a:headEnd type="none" w="med" len="med"/>
                      <a:tailEnd type="none" w="med" len="med"/>
                    </a:lnL>
                    <a:lnR w="12700" cap="flat" cmpd="sng" algn="ctr">
                      <a:solidFill>
                        <a:srgbClr val="2A8070"/>
                      </a:solidFill>
                      <a:prstDash val="solid"/>
                      <a:round/>
                      <a:headEnd type="none" w="med" len="med"/>
                      <a:tailEnd type="none" w="med" len="med"/>
                    </a:lnR>
                    <a:lnT w="12700" cap="flat" cmpd="sng" algn="ctr">
                      <a:solidFill>
                        <a:srgbClr val="2A8070"/>
                      </a:solidFill>
                      <a:prstDash val="solid"/>
                      <a:round/>
                      <a:headEnd type="none" w="med" len="med"/>
                      <a:tailEnd type="none" w="med" len="med"/>
                    </a:lnT>
                    <a:lnB w="12700" cap="flat" cmpd="sng" algn="ctr">
                      <a:solidFill>
                        <a:srgbClr val="2A8070"/>
                      </a:solidFill>
                      <a:prstDash val="solid"/>
                      <a:round/>
                      <a:headEnd type="none" w="med" len="med"/>
                      <a:tailEnd type="none" w="med" len="med"/>
                    </a:lnB>
                    <a:solidFill>
                      <a:srgbClr val="1A6558"/>
                    </a:solidFill>
                  </a:tcPr>
                </a:tc>
              </a:tr>
              <a:tr h="0">
                <a:tc>
                  <a:txBody>
                    <a:bodyPr/>
                    <a:lstStyle/>
                    <a:p>
                      <a:pPr indent="0" marL="0">
                        <a:buNone/>
                      </a:pPr>
                      <a:r>
                        <a:rPr lang="en-US" sz="1300" b="1" dirty="0">
                          <a:solidFill>
                            <a:srgbClr val="E4CD8B"/>
                          </a:solidFill>
                          <a:latin typeface="Calibri" pitchFamily="34" charset="0"/>
                          <a:ea typeface="Calibri" pitchFamily="34" charset="-122"/>
                          <a:cs typeface="Calibri" pitchFamily="34" charset="-120"/>
                        </a:rPr>
                        <a:t>Clearing</a:t>
                      </a:r>
                      <a:endParaRPr lang="en-US" sz="1300" dirty="0">
                        <a:latin typeface="Calibri" charset="0"/>
                        <a:ea typeface="Calibri" charset="0"/>
                        <a:cs typeface="Calibri" charset="0"/>
                      </a:endParaRPr>
                    </a:p>
                  </a:txBody>
                  <a:tcPr marL="91440" marR="91440" marT="45720" marB="45720">
                    <a:lnL w="12700" cap="flat" cmpd="sng" algn="ctr">
                      <a:solidFill>
                        <a:srgbClr val="2A8070"/>
                      </a:solidFill>
                      <a:prstDash val="solid"/>
                      <a:round/>
                      <a:headEnd type="none" w="med" len="med"/>
                      <a:tailEnd type="none" w="med" len="med"/>
                    </a:lnL>
                    <a:lnR w="12700" cap="flat" cmpd="sng" algn="ctr">
                      <a:solidFill>
                        <a:srgbClr val="2A8070"/>
                      </a:solidFill>
                      <a:prstDash val="solid"/>
                      <a:round/>
                      <a:headEnd type="none" w="med" len="med"/>
                      <a:tailEnd type="none" w="med" len="med"/>
                    </a:lnR>
                    <a:lnT w="12700" cap="flat" cmpd="sng" algn="ctr">
                      <a:solidFill>
                        <a:srgbClr val="2A8070"/>
                      </a:solidFill>
                      <a:prstDash val="solid"/>
                      <a:round/>
                      <a:headEnd type="none" w="med" len="med"/>
                      <a:tailEnd type="none" w="med" len="med"/>
                    </a:lnT>
                    <a:lnB w="12700" cap="flat" cmpd="sng" algn="ctr">
                      <a:solidFill>
                        <a:srgbClr val="2A8070"/>
                      </a:solidFill>
                      <a:prstDash val="solid"/>
                      <a:round/>
                      <a:headEnd type="none" w="med" len="med"/>
                      <a:tailEnd type="none" w="med" len="med"/>
                    </a:lnB>
                    <a:solidFill>
                      <a:srgbClr val="0E4D44"/>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Euroclear / Clearstream</a:t>
                      </a:r>
                      <a:endParaRPr lang="en-US" sz="1300" dirty="0">
                        <a:latin typeface="Calibri" charset="0"/>
                        <a:ea typeface="Calibri" charset="0"/>
                        <a:cs typeface="Calibri" charset="0"/>
                      </a:endParaRPr>
                    </a:p>
                  </a:txBody>
                  <a:tcPr marL="91440" marR="91440" marT="45720" marB="45720">
                    <a:lnL w="12700" cap="flat" cmpd="sng" algn="ctr">
                      <a:solidFill>
                        <a:srgbClr val="2A8070"/>
                      </a:solidFill>
                      <a:prstDash val="solid"/>
                      <a:round/>
                      <a:headEnd type="none" w="med" len="med"/>
                      <a:tailEnd type="none" w="med" len="med"/>
                    </a:lnL>
                    <a:lnR w="12700" cap="flat" cmpd="sng" algn="ctr">
                      <a:solidFill>
                        <a:srgbClr val="2A8070"/>
                      </a:solidFill>
                      <a:prstDash val="solid"/>
                      <a:round/>
                      <a:headEnd type="none" w="med" len="med"/>
                      <a:tailEnd type="none" w="med" len="med"/>
                    </a:lnR>
                    <a:lnT w="12700" cap="flat" cmpd="sng" algn="ctr">
                      <a:solidFill>
                        <a:srgbClr val="2A8070"/>
                      </a:solidFill>
                      <a:prstDash val="solid"/>
                      <a:round/>
                      <a:headEnd type="none" w="med" len="med"/>
                      <a:tailEnd type="none" w="med" len="med"/>
                    </a:lnT>
                    <a:lnB w="12700" cap="flat" cmpd="sng" algn="ctr">
                      <a:solidFill>
                        <a:srgbClr val="2A8070"/>
                      </a:solidFill>
                      <a:prstDash val="solid"/>
                      <a:round/>
                      <a:headEnd type="none" w="med" len="med"/>
                      <a:tailEnd type="none" w="med" len="med"/>
                    </a:lnB>
                    <a:solidFill>
                      <a:srgbClr val="1A6558"/>
                    </a:solidFill>
                  </a:tcPr>
                </a:tc>
              </a:tr>
              <a:tr h="0">
                <a:tc>
                  <a:txBody>
                    <a:bodyPr/>
                    <a:lstStyle/>
                    <a:p>
                      <a:pPr indent="0" marL="0">
                        <a:buNone/>
                      </a:pPr>
                      <a:r>
                        <a:rPr lang="en-US" sz="1300" b="1" dirty="0">
                          <a:solidFill>
                            <a:srgbClr val="E4CD8B"/>
                          </a:solidFill>
                          <a:latin typeface="Calibri" pitchFamily="34" charset="0"/>
                          <a:ea typeface="Calibri" pitchFamily="34" charset="-122"/>
                          <a:cs typeface="Calibri" pitchFamily="34" charset="-120"/>
                        </a:rPr>
                        <a:t>Governing Law</a:t>
                      </a:r>
                      <a:endParaRPr lang="en-US" sz="1300" dirty="0">
                        <a:latin typeface="Calibri" charset="0"/>
                        <a:ea typeface="Calibri" charset="0"/>
                        <a:cs typeface="Calibri" charset="0"/>
                      </a:endParaRPr>
                    </a:p>
                  </a:txBody>
                  <a:tcPr marL="91440" marR="91440" marT="45720" marB="45720">
                    <a:lnL w="12700" cap="flat" cmpd="sng" algn="ctr">
                      <a:solidFill>
                        <a:srgbClr val="2A8070"/>
                      </a:solidFill>
                      <a:prstDash val="solid"/>
                      <a:round/>
                      <a:headEnd type="none" w="med" len="med"/>
                      <a:tailEnd type="none" w="med" len="med"/>
                    </a:lnL>
                    <a:lnR w="12700" cap="flat" cmpd="sng" algn="ctr">
                      <a:solidFill>
                        <a:srgbClr val="2A8070"/>
                      </a:solidFill>
                      <a:prstDash val="solid"/>
                      <a:round/>
                      <a:headEnd type="none" w="med" len="med"/>
                      <a:tailEnd type="none" w="med" len="med"/>
                    </a:lnR>
                    <a:lnT w="12700" cap="flat" cmpd="sng" algn="ctr">
                      <a:solidFill>
                        <a:srgbClr val="2A8070"/>
                      </a:solidFill>
                      <a:prstDash val="solid"/>
                      <a:round/>
                      <a:headEnd type="none" w="med" len="med"/>
                      <a:tailEnd type="none" w="med" len="med"/>
                    </a:lnT>
                    <a:lnB w="12700" cap="flat" cmpd="sng" algn="ctr">
                      <a:solidFill>
                        <a:srgbClr val="2A8070"/>
                      </a:solidFill>
                      <a:prstDash val="solid"/>
                      <a:round/>
                      <a:headEnd type="none" w="med" len="med"/>
                      <a:tailEnd type="none" w="med" len="med"/>
                    </a:lnB>
                    <a:solidFill>
                      <a:srgbClr val="0E4D44"/>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English Law</a:t>
                      </a:r>
                      <a:endParaRPr lang="en-US" sz="1300" dirty="0">
                        <a:latin typeface="Calibri" charset="0"/>
                        <a:ea typeface="Calibri" charset="0"/>
                        <a:cs typeface="Calibri" charset="0"/>
                      </a:endParaRPr>
                    </a:p>
                  </a:txBody>
                  <a:tcPr marL="91440" marR="91440" marT="45720" marB="45720">
                    <a:lnL w="12700" cap="flat" cmpd="sng" algn="ctr">
                      <a:solidFill>
                        <a:srgbClr val="2A8070"/>
                      </a:solidFill>
                      <a:prstDash val="solid"/>
                      <a:round/>
                      <a:headEnd type="none" w="med" len="med"/>
                      <a:tailEnd type="none" w="med" len="med"/>
                    </a:lnL>
                    <a:lnR w="12700" cap="flat" cmpd="sng" algn="ctr">
                      <a:solidFill>
                        <a:srgbClr val="2A8070"/>
                      </a:solidFill>
                      <a:prstDash val="solid"/>
                      <a:round/>
                      <a:headEnd type="none" w="med" len="med"/>
                      <a:tailEnd type="none" w="med" len="med"/>
                    </a:lnR>
                    <a:lnT w="12700" cap="flat" cmpd="sng" algn="ctr">
                      <a:solidFill>
                        <a:srgbClr val="2A8070"/>
                      </a:solidFill>
                      <a:prstDash val="solid"/>
                      <a:round/>
                      <a:headEnd type="none" w="med" len="med"/>
                      <a:tailEnd type="none" w="med" len="med"/>
                    </a:lnT>
                    <a:lnB w="12700" cap="flat" cmpd="sng" algn="ctr">
                      <a:solidFill>
                        <a:srgbClr val="2A8070"/>
                      </a:solidFill>
                      <a:prstDash val="solid"/>
                      <a:round/>
                      <a:headEnd type="none" w="med" len="med"/>
                      <a:tailEnd type="none" w="med" len="med"/>
                    </a:lnB>
                    <a:solidFill>
                      <a:srgbClr val="1A6558"/>
                    </a:solidFill>
                  </a:tcPr>
                </a:tc>
              </a:tr>
              <a:tr h="0">
                <a:tc>
                  <a:txBody>
                    <a:bodyPr/>
                    <a:lstStyle/>
                    <a:p>
                      <a:pPr indent="0" marL="0">
                        <a:buNone/>
                      </a:pPr>
                      <a:r>
                        <a:rPr lang="en-US" sz="1300" b="1" dirty="0">
                          <a:solidFill>
                            <a:srgbClr val="E4CD8B"/>
                          </a:solidFill>
                          <a:latin typeface="Calibri" pitchFamily="34" charset="0"/>
                          <a:ea typeface="Calibri" pitchFamily="34" charset="-122"/>
                          <a:cs typeface="Calibri" pitchFamily="34" charset="-120"/>
                        </a:rPr>
                        <a:t>Joint Bookrunners</a:t>
                      </a:r>
                      <a:endParaRPr lang="en-US" sz="1300" dirty="0">
                        <a:latin typeface="Calibri" charset="0"/>
                        <a:ea typeface="Calibri" charset="0"/>
                        <a:cs typeface="Calibri" charset="0"/>
                      </a:endParaRPr>
                    </a:p>
                  </a:txBody>
                  <a:tcPr marL="91440" marR="91440" marT="45720" marB="45720">
                    <a:lnL w="12700" cap="flat" cmpd="sng" algn="ctr">
                      <a:solidFill>
                        <a:srgbClr val="2A8070"/>
                      </a:solidFill>
                      <a:prstDash val="solid"/>
                      <a:round/>
                      <a:headEnd type="none" w="med" len="med"/>
                      <a:tailEnd type="none" w="med" len="med"/>
                    </a:lnL>
                    <a:lnR w="12700" cap="flat" cmpd="sng" algn="ctr">
                      <a:solidFill>
                        <a:srgbClr val="2A8070"/>
                      </a:solidFill>
                      <a:prstDash val="solid"/>
                      <a:round/>
                      <a:headEnd type="none" w="med" len="med"/>
                      <a:tailEnd type="none" w="med" len="med"/>
                    </a:lnR>
                    <a:lnT w="12700" cap="flat" cmpd="sng" algn="ctr">
                      <a:solidFill>
                        <a:srgbClr val="2A8070"/>
                      </a:solidFill>
                      <a:prstDash val="solid"/>
                      <a:round/>
                      <a:headEnd type="none" w="med" len="med"/>
                      <a:tailEnd type="none" w="med" len="med"/>
                    </a:lnT>
                    <a:lnB w="12700" cap="flat" cmpd="sng" algn="ctr">
                      <a:solidFill>
                        <a:srgbClr val="2A8070"/>
                      </a:solidFill>
                      <a:prstDash val="solid"/>
                      <a:round/>
                      <a:headEnd type="none" w="med" len="med"/>
                      <a:tailEnd type="none" w="med" len="med"/>
                    </a:lnB>
                    <a:solidFill>
                      <a:srgbClr val="0E4D44"/>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To be determined</a:t>
                      </a:r>
                      <a:endParaRPr lang="en-US" sz="1300" dirty="0">
                        <a:latin typeface="Calibri" charset="0"/>
                        <a:ea typeface="Calibri" charset="0"/>
                        <a:cs typeface="Calibri" charset="0"/>
                      </a:endParaRPr>
                    </a:p>
                  </a:txBody>
                  <a:tcPr marL="91440" marR="91440" marT="45720" marB="45720">
                    <a:lnL w="12700" cap="flat" cmpd="sng" algn="ctr">
                      <a:solidFill>
                        <a:srgbClr val="2A8070"/>
                      </a:solidFill>
                      <a:prstDash val="solid"/>
                      <a:round/>
                      <a:headEnd type="none" w="med" len="med"/>
                      <a:tailEnd type="none" w="med" len="med"/>
                    </a:lnL>
                    <a:lnR w="12700" cap="flat" cmpd="sng" algn="ctr">
                      <a:solidFill>
                        <a:srgbClr val="2A8070"/>
                      </a:solidFill>
                      <a:prstDash val="solid"/>
                      <a:round/>
                      <a:headEnd type="none" w="med" len="med"/>
                      <a:tailEnd type="none" w="med" len="med"/>
                    </a:lnR>
                    <a:lnT w="12700" cap="flat" cmpd="sng" algn="ctr">
                      <a:solidFill>
                        <a:srgbClr val="2A8070"/>
                      </a:solidFill>
                      <a:prstDash val="solid"/>
                      <a:round/>
                      <a:headEnd type="none" w="med" len="med"/>
                      <a:tailEnd type="none" w="med" len="med"/>
                    </a:lnT>
                    <a:lnB w="12700" cap="flat" cmpd="sng" algn="ctr">
                      <a:solidFill>
                        <a:srgbClr val="2A8070"/>
                      </a:solidFill>
                      <a:prstDash val="solid"/>
                      <a:round/>
                      <a:headEnd type="none" w="med" len="med"/>
                      <a:tailEnd type="none" w="med" len="med"/>
                    </a:lnB>
                    <a:solidFill>
                      <a:srgbClr val="1A6558"/>
                    </a:solidFill>
                  </a:tcPr>
                </a:tc>
              </a:tr>
            </a:tbl>
          </a:graphicData>
        </a:graphic>
      </p:graphicFrame>
      <p:sp>
        <p:nvSpPr>
          <p:cNvPr id="6" name="Text 3"/>
          <p:cNvSpPr/>
          <p:nvPr/>
        </p:nvSpPr>
        <p:spPr>
          <a:xfrm>
            <a:off x="457200" y="6217920"/>
            <a:ext cx="11274552" cy="365760"/>
          </a:xfrm>
          <a:prstGeom prst="rect">
            <a:avLst/>
          </a:prstGeom>
          <a:noFill/>
          <a:ln/>
        </p:spPr>
        <p:txBody>
          <a:bodyPr wrap="square" rtlCol="0" anchor="ctr"/>
          <a:lstStyle/>
          <a:p>
            <a:pPr indent="0" marL="0">
              <a:buNone/>
            </a:pPr>
            <a:r>
              <a:rPr lang="en-US" sz="1000" i="1" dirty="0">
                <a:solidFill>
                  <a:srgbClr val="667D79"/>
                </a:solidFill>
                <a:latin typeface="Calibri" pitchFamily="34" charset="0"/>
                <a:ea typeface="Calibri" pitchFamily="34" charset="-122"/>
                <a:cs typeface="Calibri" pitchFamily="34" charset="-120"/>
              </a:rPr>
              <a:t>* Transaction details are indicative and subject to market conditions. Final terms will be determined at the time of pricing.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E4D44"/>
          </a:solidFill>
          <a:ln/>
        </p:spPr>
      </p:sp>
      <p:sp>
        <p:nvSpPr>
          <p:cNvPr id="3" name="Text 1"/>
          <p:cNvSpPr/>
          <p:nvPr/>
        </p:nvSpPr>
        <p:spPr>
          <a:xfrm>
            <a:off x="457200" y="320040"/>
            <a:ext cx="11274552" cy="548640"/>
          </a:xfrm>
          <a:prstGeom prst="rect">
            <a:avLst/>
          </a:prstGeom>
          <a:noFill/>
          <a:ln/>
        </p:spPr>
        <p:txBody>
          <a:bodyPr wrap="square" rtlCol="0" anchor="ctr"/>
          <a:lstStyle/>
          <a:p>
            <a:pPr indent="0" marL="0">
              <a:buNone/>
            </a:pPr>
            <a:r>
              <a:rPr lang="en-US" sz="2800" b="1" dirty="0">
                <a:solidFill>
                  <a:srgbClr val="E4CD8B"/>
                </a:solidFill>
                <a:latin typeface="Cambria" pitchFamily="34" charset="0"/>
                <a:ea typeface="Cambria" pitchFamily="34" charset="-122"/>
                <a:cs typeface="Cambria" pitchFamily="34" charset="-120"/>
              </a:rPr>
              <a:t>KMG at a Glance</a:t>
            </a:r>
            <a:endParaRPr lang="en-US" sz="2800" dirty="0"/>
          </a:p>
        </p:txBody>
      </p:sp>
      <p:sp>
        <p:nvSpPr>
          <p:cNvPr id="4" name="Shape 2"/>
          <p:cNvSpPr/>
          <p:nvPr/>
        </p:nvSpPr>
        <p:spPr>
          <a:xfrm>
            <a:off x="457200" y="960120"/>
            <a:ext cx="11274552" cy="36576"/>
          </a:xfrm>
          <a:prstGeom prst="rect">
            <a:avLst/>
          </a:prstGeom>
          <a:solidFill>
            <a:srgbClr val="C9A24B"/>
          </a:solidFill>
          <a:ln/>
        </p:spPr>
      </p:sp>
      <p:sp>
        <p:nvSpPr>
          <p:cNvPr id="5" name="Shape 3"/>
          <p:cNvSpPr/>
          <p:nvPr/>
        </p:nvSpPr>
        <p:spPr>
          <a:xfrm>
            <a:off x="457200" y="1188720"/>
            <a:ext cx="2286000" cy="1463040"/>
          </a:xfrm>
          <a:prstGeom prst="rect">
            <a:avLst>
              <a:gd name="adj" fmla="val 6250"/>
            </a:avLst>
          </a:prstGeom>
          <a:solidFill>
            <a:srgbClr val="1A6558"/>
          </a:solidFill>
          <a:ln w="12700">
            <a:solidFill>
              <a:srgbClr val="C9A24B"/>
            </a:solidFill>
            <a:prstDash val="solid"/>
          </a:ln>
        </p:spPr>
      </p:sp>
      <p:sp>
        <p:nvSpPr>
          <p:cNvPr id="6" name="Text 4"/>
          <p:cNvSpPr/>
          <p:nvPr/>
        </p:nvSpPr>
        <p:spPr>
          <a:xfrm>
            <a:off x="594360" y="1298448"/>
            <a:ext cx="2011680" cy="274320"/>
          </a:xfrm>
          <a:prstGeom prst="rect">
            <a:avLst/>
          </a:prstGeom>
          <a:noFill/>
          <a:ln/>
        </p:spPr>
        <p:txBody>
          <a:bodyPr wrap="square" rtlCol="0" anchor="ctr"/>
          <a:lstStyle/>
          <a:p>
            <a:pPr indent="0" marL="0">
              <a:buNone/>
            </a:pPr>
            <a:r>
              <a:rPr lang="en-US" sz="1000" b="1" dirty="0">
                <a:solidFill>
                  <a:srgbClr val="E4CD8B"/>
                </a:solidFill>
                <a:latin typeface="Calibri" pitchFamily="34" charset="0"/>
                <a:ea typeface="Calibri" pitchFamily="34" charset="-122"/>
                <a:cs typeface="Calibri" pitchFamily="34" charset="-120"/>
              </a:rPr>
              <a:t>Revenue FY2025</a:t>
            </a:r>
            <a:endParaRPr lang="en-US" sz="1000" dirty="0"/>
          </a:p>
        </p:txBody>
      </p:sp>
      <p:sp>
        <p:nvSpPr>
          <p:cNvPr id="7" name="Text 5"/>
          <p:cNvSpPr/>
          <p:nvPr/>
        </p:nvSpPr>
        <p:spPr>
          <a:xfrm>
            <a:off x="594360" y="1572768"/>
            <a:ext cx="201168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KZT 9,371 bln</a:t>
            </a:r>
            <a:endParaRPr lang="en-US" sz="2000" dirty="0"/>
          </a:p>
        </p:txBody>
      </p:sp>
      <p:sp>
        <p:nvSpPr>
          <p:cNvPr id="8" name="Text 6"/>
          <p:cNvSpPr/>
          <p:nvPr/>
        </p:nvSpPr>
        <p:spPr>
          <a:xfrm>
            <a:off x="594360" y="2057400"/>
            <a:ext cx="2011680" cy="457200"/>
          </a:xfrm>
          <a:prstGeom prst="rect">
            <a:avLst/>
          </a:prstGeom>
          <a:noFill/>
          <a:ln/>
        </p:spPr>
        <p:txBody>
          <a:bodyPr wrap="square" rtlCol="0" anchor="ctr"/>
          <a:lstStyle/>
          <a:p>
            <a:pPr indent="0" marL="0">
              <a:buNone/>
            </a:pPr>
            <a:r>
              <a:rPr lang="en-US" sz="1000" dirty="0">
                <a:solidFill>
                  <a:srgbClr val="AACCC5"/>
                </a:solidFill>
                <a:latin typeface="Calibri" pitchFamily="34" charset="0"/>
                <a:ea typeface="Calibri" pitchFamily="34" charset="-122"/>
                <a:cs typeface="Calibri" pitchFamily="34" charset="-120"/>
              </a:rPr>
              <a:t>USD 17,977 mln  |  +12.5% y/y</a:t>
            </a:r>
            <a:endParaRPr lang="en-US" sz="1000" dirty="0"/>
          </a:p>
        </p:txBody>
      </p:sp>
      <p:sp>
        <p:nvSpPr>
          <p:cNvPr id="9" name="Shape 7"/>
          <p:cNvSpPr/>
          <p:nvPr/>
        </p:nvSpPr>
        <p:spPr>
          <a:xfrm>
            <a:off x="2880360" y="1188720"/>
            <a:ext cx="2286000" cy="1463040"/>
          </a:xfrm>
          <a:prstGeom prst="rect">
            <a:avLst>
              <a:gd name="adj" fmla="val 6250"/>
            </a:avLst>
          </a:prstGeom>
          <a:solidFill>
            <a:srgbClr val="1A6558"/>
          </a:solidFill>
          <a:ln w="12700">
            <a:solidFill>
              <a:srgbClr val="C9A24B"/>
            </a:solidFill>
            <a:prstDash val="solid"/>
          </a:ln>
        </p:spPr>
      </p:sp>
      <p:sp>
        <p:nvSpPr>
          <p:cNvPr id="10" name="Text 8"/>
          <p:cNvSpPr/>
          <p:nvPr/>
        </p:nvSpPr>
        <p:spPr>
          <a:xfrm>
            <a:off x="3017520" y="1298448"/>
            <a:ext cx="2011680" cy="274320"/>
          </a:xfrm>
          <a:prstGeom prst="rect">
            <a:avLst/>
          </a:prstGeom>
          <a:noFill/>
          <a:ln/>
        </p:spPr>
        <p:txBody>
          <a:bodyPr wrap="square" rtlCol="0" anchor="ctr"/>
          <a:lstStyle/>
          <a:p>
            <a:pPr indent="0" marL="0">
              <a:buNone/>
            </a:pPr>
            <a:r>
              <a:rPr lang="en-US" sz="1000" b="1" dirty="0">
                <a:solidFill>
                  <a:srgbClr val="E4CD8B"/>
                </a:solidFill>
                <a:latin typeface="Calibri" pitchFamily="34" charset="0"/>
                <a:ea typeface="Calibri" pitchFamily="34" charset="-122"/>
                <a:cs typeface="Calibri" pitchFamily="34" charset="-120"/>
              </a:rPr>
              <a:t>EBITDA FY2025</a:t>
            </a:r>
            <a:endParaRPr lang="en-US" sz="1000" dirty="0"/>
          </a:p>
        </p:txBody>
      </p:sp>
      <p:sp>
        <p:nvSpPr>
          <p:cNvPr id="11" name="Text 9"/>
          <p:cNvSpPr/>
          <p:nvPr/>
        </p:nvSpPr>
        <p:spPr>
          <a:xfrm>
            <a:off x="3017520" y="1572768"/>
            <a:ext cx="201168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KZT 2,393 bln</a:t>
            </a:r>
            <a:endParaRPr lang="en-US" sz="2000" dirty="0"/>
          </a:p>
        </p:txBody>
      </p:sp>
      <p:sp>
        <p:nvSpPr>
          <p:cNvPr id="12" name="Text 10"/>
          <p:cNvSpPr/>
          <p:nvPr/>
        </p:nvSpPr>
        <p:spPr>
          <a:xfrm>
            <a:off x="3017520" y="2057400"/>
            <a:ext cx="2011680" cy="457200"/>
          </a:xfrm>
          <a:prstGeom prst="rect">
            <a:avLst/>
          </a:prstGeom>
          <a:noFill/>
          <a:ln/>
        </p:spPr>
        <p:txBody>
          <a:bodyPr wrap="square" rtlCol="0" anchor="ctr"/>
          <a:lstStyle/>
          <a:p>
            <a:pPr indent="0" marL="0">
              <a:buNone/>
            </a:pPr>
            <a:r>
              <a:rPr lang="en-US" sz="1000" dirty="0">
                <a:solidFill>
                  <a:srgbClr val="AACCC5"/>
                </a:solidFill>
                <a:latin typeface="Calibri" pitchFamily="34" charset="0"/>
                <a:ea typeface="Calibri" pitchFamily="34" charset="-122"/>
                <a:cs typeface="Calibri" pitchFamily="34" charset="-120"/>
              </a:rPr>
              <a:t>USD 4,591 mln  |  +19.6% y/y</a:t>
            </a:r>
            <a:endParaRPr lang="en-US" sz="1000" dirty="0"/>
          </a:p>
        </p:txBody>
      </p:sp>
      <p:sp>
        <p:nvSpPr>
          <p:cNvPr id="13" name="Shape 11"/>
          <p:cNvSpPr/>
          <p:nvPr/>
        </p:nvSpPr>
        <p:spPr>
          <a:xfrm>
            <a:off x="5303520" y="1188720"/>
            <a:ext cx="2286000" cy="1463040"/>
          </a:xfrm>
          <a:prstGeom prst="rect">
            <a:avLst>
              <a:gd name="adj" fmla="val 6250"/>
            </a:avLst>
          </a:prstGeom>
          <a:solidFill>
            <a:srgbClr val="1A6558"/>
          </a:solidFill>
          <a:ln w="12700">
            <a:solidFill>
              <a:srgbClr val="C9A24B"/>
            </a:solidFill>
            <a:prstDash val="solid"/>
          </a:ln>
        </p:spPr>
      </p:sp>
      <p:sp>
        <p:nvSpPr>
          <p:cNvPr id="14" name="Text 12"/>
          <p:cNvSpPr/>
          <p:nvPr/>
        </p:nvSpPr>
        <p:spPr>
          <a:xfrm>
            <a:off x="5440680" y="1298448"/>
            <a:ext cx="2011680" cy="274320"/>
          </a:xfrm>
          <a:prstGeom prst="rect">
            <a:avLst/>
          </a:prstGeom>
          <a:noFill/>
          <a:ln/>
        </p:spPr>
        <p:txBody>
          <a:bodyPr wrap="square" rtlCol="0" anchor="ctr"/>
          <a:lstStyle/>
          <a:p>
            <a:pPr indent="0" marL="0">
              <a:buNone/>
            </a:pPr>
            <a:r>
              <a:rPr lang="en-US" sz="1000" b="1" dirty="0">
                <a:solidFill>
                  <a:srgbClr val="E4CD8B"/>
                </a:solidFill>
                <a:latin typeface="Calibri" pitchFamily="34" charset="0"/>
                <a:ea typeface="Calibri" pitchFamily="34" charset="-122"/>
                <a:cs typeface="Calibri" pitchFamily="34" charset="-120"/>
              </a:rPr>
              <a:t>Net Debt</a:t>
            </a:r>
            <a:endParaRPr lang="en-US" sz="1000" dirty="0"/>
          </a:p>
        </p:txBody>
      </p:sp>
      <p:sp>
        <p:nvSpPr>
          <p:cNvPr id="15" name="Text 13"/>
          <p:cNvSpPr/>
          <p:nvPr/>
        </p:nvSpPr>
        <p:spPr>
          <a:xfrm>
            <a:off x="5440680" y="1572768"/>
            <a:ext cx="201168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KZT 375 bln</a:t>
            </a:r>
            <a:endParaRPr lang="en-US" sz="2000" dirty="0"/>
          </a:p>
        </p:txBody>
      </p:sp>
      <p:sp>
        <p:nvSpPr>
          <p:cNvPr id="16" name="Text 14"/>
          <p:cNvSpPr/>
          <p:nvPr/>
        </p:nvSpPr>
        <p:spPr>
          <a:xfrm>
            <a:off x="5440680" y="2057400"/>
            <a:ext cx="2011680" cy="457200"/>
          </a:xfrm>
          <a:prstGeom prst="rect">
            <a:avLst/>
          </a:prstGeom>
          <a:noFill/>
          <a:ln/>
        </p:spPr>
        <p:txBody>
          <a:bodyPr wrap="square" rtlCol="0" anchor="ctr"/>
          <a:lstStyle/>
          <a:p>
            <a:pPr indent="0" marL="0">
              <a:buNone/>
            </a:pPr>
            <a:r>
              <a:rPr lang="en-US" sz="1000" dirty="0">
                <a:solidFill>
                  <a:srgbClr val="AACCC5"/>
                </a:solidFill>
                <a:latin typeface="Calibri" pitchFamily="34" charset="0"/>
                <a:ea typeface="Calibri" pitchFamily="34" charset="-122"/>
                <a:cs typeface="Calibri" pitchFamily="34" charset="-120"/>
              </a:rPr>
              <a:t>USD 742 mln  |  −67.7% y/y</a:t>
            </a:r>
            <a:endParaRPr lang="en-US" sz="1000" dirty="0"/>
          </a:p>
        </p:txBody>
      </p:sp>
      <p:sp>
        <p:nvSpPr>
          <p:cNvPr id="17" name="Shape 15"/>
          <p:cNvSpPr/>
          <p:nvPr/>
        </p:nvSpPr>
        <p:spPr>
          <a:xfrm>
            <a:off x="7726680" y="1188720"/>
            <a:ext cx="2286000" cy="1463040"/>
          </a:xfrm>
          <a:prstGeom prst="rect">
            <a:avLst>
              <a:gd name="adj" fmla="val 6250"/>
            </a:avLst>
          </a:prstGeom>
          <a:solidFill>
            <a:srgbClr val="1A6558"/>
          </a:solidFill>
          <a:ln w="12700">
            <a:solidFill>
              <a:srgbClr val="C9A24B"/>
            </a:solidFill>
            <a:prstDash val="solid"/>
          </a:ln>
        </p:spPr>
      </p:sp>
      <p:sp>
        <p:nvSpPr>
          <p:cNvPr id="18" name="Text 16"/>
          <p:cNvSpPr/>
          <p:nvPr/>
        </p:nvSpPr>
        <p:spPr>
          <a:xfrm>
            <a:off x="7863840" y="1298448"/>
            <a:ext cx="2011680" cy="274320"/>
          </a:xfrm>
          <a:prstGeom prst="rect">
            <a:avLst/>
          </a:prstGeom>
          <a:noFill/>
          <a:ln/>
        </p:spPr>
        <p:txBody>
          <a:bodyPr wrap="square" rtlCol="0" anchor="ctr"/>
          <a:lstStyle/>
          <a:p>
            <a:pPr indent="0" marL="0">
              <a:buNone/>
            </a:pPr>
            <a:r>
              <a:rPr lang="en-US" sz="1000" b="1" dirty="0">
                <a:solidFill>
                  <a:srgbClr val="E4CD8B"/>
                </a:solidFill>
                <a:latin typeface="Calibri" pitchFamily="34" charset="0"/>
                <a:ea typeface="Calibri" pitchFamily="34" charset="-122"/>
                <a:cs typeface="Calibri" pitchFamily="34" charset="-120"/>
              </a:rPr>
              <a:t>Net Debt/EBITDA</a:t>
            </a:r>
            <a:endParaRPr lang="en-US" sz="1000" dirty="0"/>
          </a:p>
        </p:txBody>
      </p:sp>
      <p:sp>
        <p:nvSpPr>
          <p:cNvPr id="19" name="Text 17"/>
          <p:cNvSpPr/>
          <p:nvPr/>
        </p:nvSpPr>
        <p:spPr>
          <a:xfrm>
            <a:off x="7863840" y="1572768"/>
            <a:ext cx="201168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~0.16x</a:t>
            </a:r>
            <a:endParaRPr lang="en-US" sz="2000" dirty="0"/>
          </a:p>
        </p:txBody>
      </p:sp>
      <p:sp>
        <p:nvSpPr>
          <p:cNvPr id="20" name="Text 18"/>
          <p:cNvSpPr/>
          <p:nvPr/>
        </p:nvSpPr>
        <p:spPr>
          <a:xfrm>
            <a:off x="7863840" y="2057400"/>
            <a:ext cx="2011680" cy="457200"/>
          </a:xfrm>
          <a:prstGeom prst="rect">
            <a:avLst/>
          </a:prstGeom>
          <a:noFill/>
          <a:ln/>
        </p:spPr>
        <p:txBody>
          <a:bodyPr wrap="square" rtlCol="0" anchor="ctr"/>
          <a:lstStyle/>
          <a:p>
            <a:pPr indent="0" marL="0">
              <a:buNone/>
            </a:pPr>
            <a:r>
              <a:rPr lang="en-US" sz="1000" dirty="0">
                <a:solidFill>
                  <a:srgbClr val="AACCC5"/>
                </a:solidFill>
                <a:latin typeface="Calibri" pitchFamily="34" charset="0"/>
                <a:ea typeface="Calibri" pitchFamily="34" charset="-122"/>
                <a:cs typeface="Calibri" pitchFamily="34" charset="-120"/>
              </a:rPr>
              <a:t>One of lowest in EEMEA E&amp;P</a:t>
            </a:r>
            <a:endParaRPr lang="en-US" sz="1000" dirty="0"/>
          </a:p>
        </p:txBody>
      </p:sp>
      <p:sp>
        <p:nvSpPr>
          <p:cNvPr id="21" name="Shape 19"/>
          <p:cNvSpPr/>
          <p:nvPr/>
        </p:nvSpPr>
        <p:spPr>
          <a:xfrm>
            <a:off x="457200" y="2953512"/>
            <a:ext cx="201168" cy="201168"/>
          </a:xfrm>
          <a:prstGeom prst="rect">
            <a:avLst>
              <a:gd name="adj" fmla="val 13636"/>
            </a:avLst>
          </a:prstGeom>
          <a:solidFill>
            <a:srgbClr val="C9A24B"/>
          </a:solidFill>
          <a:ln/>
        </p:spPr>
      </p:sp>
      <p:sp>
        <p:nvSpPr>
          <p:cNvPr id="22" name="Text 20"/>
          <p:cNvSpPr/>
          <p:nvPr/>
        </p:nvSpPr>
        <p:spPr>
          <a:xfrm>
            <a:off x="777240" y="2880360"/>
            <a:ext cx="5394960" cy="56692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100% owned by Samruk-Kazyna (Republic of Kazakhstan)</a:t>
            </a:r>
            <a:endParaRPr lang="en-US" sz="1300" dirty="0"/>
          </a:p>
        </p:txBody>
      </p:sp>
      <p:sp>
        <p:nvSpPr>
          <p:cNvPr id="23" name="Shape 21"/>
          <p:cNvSpPr/>
          <p:nvPr/>
        </p:nvSpPr>
        <p:spPr>
          <a:xfrm>
            <a:off x="457200" y="3703320"/>
            <a:ext cx="201168" cy="201168"/>
          </a:xfrm>
          <a:prstGeom prst="rect">
            <a:avLst>
              <a:gd name="adj" fmla="val 13636"/>
            </a:avLst>
          </a:prstGeom>
          <a:solidFill>
            <a:srgbClr val="C9A24B"/>
          </a:solidFill>
          <a:ln/>
        </p:spPr>
      </p:sp>
      <p:sp>
        <p:nvSpPr>
          <p:cNvPr id="24" name="Text 22"/>
          <p:cNvSpPr/>
          <p:nvPr/>
        </p:nvSpPr>
        <p:spPr>
          <a:xfrm>
            <a:off x="777240" y="3630168"/>
            <a:ext cx="5394960" cy="56692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Largest oil &amp; gas company in Kazakhstan</a:t>
            </a:r>
            <a:endParaRPr lang="en-US" sz="1300" dirty="0"/>
          </a:p>
        </p:txBody>
      </p:sp>
      <p:sp>
        <p:nvSpPr>
          <p:cNvPr id="25" name="Shape 23"/>
          <p:cNvSpPr/>
          <p:nvPr/>
        </p:nvSpPr>
        <p:spPr>
          <a:xfrm>
            <a:off x="457200" y="4453128"/>
            <a:ext cx="201168" cy="201168"/>
          </a:xfrm>
          <a:prstGeom prst="rect">
            <a:avLst>
              <a:gd name="adj" fmla="val 13636"/>
            </a:avLst>
          </a:prstGeom>
          <a:solidFill>
            <a:srgbClr val="C9A24B"/>
          </a:solidFill>
          <a:ln/>
        </p:spPr>
      </p:sp>
      <p:sp>
        <p:nvSpPr>
          <p:cNvPr id="26" name="Text 24"/>
          <p:cNvSpPr/>
          <p:nvPr/>
        </p:nvSpPr>
        <p:spPr>
          <a:xfrm>
            <a:off x="777240" y="4379976"/>
            <a:ext cx="5394960" cy="56692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Vertically integrated: upstream, midstream, refining &amp; retail</a:t>
            </a:r>
            <a:endParaRPr lang="en-US" sz="1300" dirty="0"/>
          </a:p>
        </p:txBody>
      </p:sp>
      <p:sp>
        <p:nvSpPr>
          <p:cNvPr id="27" name="Shape 25"/>
          <p:cNvSpPr/>
          <p:nvPr/>
        </p:nvSpPr>
        <p:spPr>
          <a:xfrm>
            <a:off x="457200" y="5202936"/>
            <a:ext cx="201168" cy="201168"/>
          </a:xfrm>
          <a:prstGeom prst="rect">
            <a:avLst>
              <a:gd name="adj" fmla="val 13636"/>
            </a:avLst>
          </a:prstGeom>
          <a:solidFill>
            <a:srgbClr val="C9A24B"/>
          </a:solidFill>
          <a:ln/>
        </p:spPr>
      </p:sp>
      <p:sp>
        <p:nvSpPr>
          <p:cNvPr id="28" name="Text 26"/>
          <p:cNvSpPr/>
          <p:nvPr/>
        </p:nvSpPr>
        <p:spPr>
          <a:xfrm>
            <a:off x="777240" y="5129784"/>
            <a:ext cx="5394960" cy="56692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Listed on KASE and LSE (GDRs)</a:t>
            </a:r>
            <a:endParaRPr lang="en-US" sz="1300" dirty="0"/>
          </a:p>
        </p:txBody>
      </p:sp>
      <p:sp>
        <p:nvSpPr>
          <p:cNvPr id="29" name="Shape 27"/>
          <p:cNvSpPr/>
          <p:nvPr/>
        </p:nvSpPr>
        <p:spPr>
          <a:xfrm>
            <a:off x="6217920" y="2953512"/>
            <a:ext cx="201168" cy="201168"/>
          </a:xfrm>
          <a:prstGeom prst="rect">
            <a:avLst>
              <a:gd name="adj" fmla="val 13636"/>
            </a:avLst>
          </a:prstGeom>
          <a:solidFill>
            <a:srgbClr val="C9A24B"/>
          </a:solidFill>
          <a:ln/>
        </p:spPr>
      </p:sp>
      <p:sp>
        <p:nvSpPr>
          <p:cNvPr id="30" name="Text 28"/>
          <p:cNvSpPr/>
          <p:nvPr/>
        </p:nvSpPr>
        <p:spPr>
          <a:xfrm>
            <a:off x="6537960" y="2880360"/>
            <a:ext cx="5394960" cy="56692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Operations across Kazakhstan with international assets in Russia, Romania, Netherlands</a:t>
            </a:r>
            <a:endParaRPr lang="en-US" sz="1300" dirty="0"/>
          </a:p>
        </p:txBody>
      </p:sp>
      <p:sp>
        <p:nvSpPr>
          <p:cNvPr id="31" name="Shape 29"/>
          <p:cNvSpPr/>
          <p:nvPr/>
        </p:nvSpPr>
        <p:spPr>
          <a:xfrm>
            <a:off x="6217920" y="3703320"/>
            <a:ext cx="201168" cy="201168"/>
          </a:xfrm>
          <a:prstGeom prst="rect">
            <a:avLst>
              <a:gd name="adj" fmla="val 13636"/>
            </a:avLst>
          </a:prstGeom>
          <a:solidFill>
            <a:srgbClr val="C9A24B"/>
          </a:solidFill>
          <a:ln/>
        </p:spPr>
      </p:sp>
      <p:sp>
        <p:nvSpPr>
          <p:cNvPr id="32" name="Text 30"/>
          <p:cNvSpPr/>
          <p:nvPr/>
        </p:nvSpPr>
        <p:spPr>
          <a:xfrm>
            <a:off x="6537960" y="3630168"/>
            <a:ext cx="5394960" cy="56692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Key assets: Tengizchevroil (20%), Kashagan (8.44%), CNPC-AktobeMunaiGas (50%)</a:t>
            </a:r>
            <a:endParaRPr lang="en-US" sz="1300" dirty="0"/>
          </a:p>
        </p:txBody>
      </p:sp>
      <p:sp>
        <p:nvSpPr>
          <p:cNvPr id="33" name="Shape 31"/>
          <p:cNvSpPr/>
          <p:nvPr/>
        </p:nvSpPr>
        <p:spPr>
          <a:xfrm>
            <a:off x="6217920" y="4453128"/>
            <a:ext cx="201168" cy="201168"/>
          </a:xfrm>
          <a:prstGeom prst="rect">
            <a:avLst>
              <a:gd name="adj" fmla="val 13636"/>
            </a:avLst>
          </a:prstGeom>
          <a:solidFill>
            <a:srgbClr val="C9A24B"/>
          </a:solidFill>
          <a:ln/>
        </p:spPr>
      </p:sp>
      <p:sp>
        <p:nvSpPr>
          <p:cNvPr id="34" name="Text 32"/>
          <p:cNvSpPr/>
          <p:nvPr/>
        </p:nvSpPr>
        <p:spPr>
          <a:xfrm>
            <a:off x="6537960" y="4379976"/>
            <a:ext cx="5394960" cy="56692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Crude oil production: ~20 mmboe equity share (FY2025)</a:t>
            </a:r>
            <a:endParaRPr lang="en-US" sz="1300" dirty="0"/>
          </a:p>
        </p:txBody>
      </p:sp>
      <p:sp>
        <p:nvSpPr>
          <p:cNvPr id="35" name="Shape 33"/>
          <p:cNvSpPr/>
          <p:nvPr/>
        </p:nvSpPr>
        <p:spPr>
          <a:xfrm>
            <a:off x="6217920" y="5202936"/>
            <a:ext cx="201168" cy="201168"/>
          </a:xfrm>
          <a:prstGeom prst="rect">
            <a:avLst>
              <a:gd name="adj" fmla="val 13636"/>
            </a:avLst>
          </a:prstGeom>
          <a:solidFill>
            <a:srgbClr val="C9A24B"/>
          </a:solidFill>
          <a:ln/>
        </p:spPr>
      </p:sp>
      <p:sp>
        <p:nvSpPr>
          <p:cNvPr id="36" name="Text 34"/>
          <p:cNvSpPr/>
          <p:nvPr/>
        </p:nvSpPr>
        <p:spPr>
          <a:xfrm>
            <a:off x="6537960" y="5129784"/>
            <a:ext cx="5394960" cy="56692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Three domestic refineries: Atyrau, Shymkent (50%), Pavlodar (58%)</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A3A33"/>
          </a:solidFill>
          <a:ln/>
        </p:spPr>
      </p:sp>
      <p:sp>
        <p:nvSpPr>
          <p:cNvPr id="3" name="Text 1"/>
          <p:cNvSpPr/>
          <p:nvPr/>
        </p:nvSpPr>
        <p:spPr>
          <a:xfrm>
            <a:off x="457200" y="320040"/>
            <a:ext cx="11274552" cy="548640"/>
          </a:xfrm>
          <a:prstGeom prst="rect">
            <a:avLst/>
          </a:prstGeom>
          <a:noFill/>
          <a:ln/>
        </p:spPr>
        <p:txBody>
          <a:bodyPr wrap="square" rtlCol="0" anchor="ctr"/>
          <a:lstStyle/>
          <a:p>
            <a:pPr indent="0" marL="0">
              <a:buNone/>
            </a:pPr>
            <a:r>
              <a:rPr lang="en-US" sz="2800" b="1" dirty="0">
                <a:solidFill>
                  <a:srgbClr val="E4CD8B"/>
                </a:solidFill>
                <a:latin typeface="Cambria" pitchFamily="34" charset="0"/>
                <a:ea typeface="Cambria" pitchFamily="34" charset="-122"/>
                <a:cs typeface="Cambria" pitchFamily="34" charset="-120"/>
              </a:rPr>
              <a:t>Investment Highlights</a:t>
            </a:r>
            <a:endParaRPr lang="en-US" sz="2800" dirty="0"/>
          </a:p>
        </p:txBody>
      </p:sp>
      <p:sp>
        <p:nvSpPr>
          <p:cNvPr id="4" name="Shape 2"/>
          <p:cNvSpPr/>
          <p:nvPr/>
        </p:nvSpPr>
        <p:spPr>
          <a:xfrm>
            <a:off x="457200" y="960120"/>
            <a:ext cx="11274552" cy="36576"/>
          </a:xfrm>
          <a:prstGeom prst="rect">
            <a:avLst/>
          </a:prstGeom>
          <a:solidFill>
            <a:srgbClr val="C9A24B"/>
          </a:solidFill>
          <a:ln/>
        </p:spPr>
      </p:sp>
      <p:sp>
        <p:nvSpPr>
          <p:cNvPr id="5" name="Shape 3"/>
          <p:cNvSpPr/>
          <p:nvPr/>
        </p:nvSpPr>
        <p:spPr>
          <a:xfrm>
            <a:off x="457200" y="1188720"/>
            <a:ext cx="5394960" cy="1417320"/>
          </a:xfrm>
          <a:prstGeom prst="rect">
            <a:avLst>
              <a:gd name="adj" fmla="val 6452"/>
            </a:avLst>
          </a:prstGeom>
          <a:solidFill>
            <a:srgbClr val="0E4D44"/>
          </a:solidFill>
          <a:ln w="9525">
            <a:solidFill>
              <a:srgbClr val="C9A24B"/>
            </a:solidFill>
            <a:prstDash val="solid"/>
          </a:ln>
        </p:spPr>
      </p:sp>
      <p:sp>
        <p:nvSpPr>
          <p:cNvPr id="6" name="Shape 4"/>
          <p:cNvSpPr/>
          <p:nvPr/>
        </p:nvSpPr>
        <p:spPr>
          <a:xfrm>
            <a:off x="621792" y="1353312"/>
            <a:ext cx="347472" cy="347472"/>
          </a:xfrm>
          <a:prstGeom prst="rect">
            <a:avLst>
              <a:gd name="adj" fmla="val 13158"/>
            </a:avLst>
          </a:prstGeom>
          <a:solidFill>
            <a:srgbClr val="C9A24B"/>
          </a:solidFill>
          <a:ln/>
        </p:spPr>
      </p:sp>
      <p:sp>
        <p:nvSpPr>
          <p:cNvPr id="7" name="Text 5"/>
          <p:cNvSpPr/>
          <p:nvPr/>
        </p:nvSpPr>
        <p:spPr>
          <a:xfrm>
            <a:off x="621792" y="1353312"/>
            <a:ext cx="347472" cy="347472"/>
          </a:xfrm>
          <a:prstGeom prst="rect">
            <a:avLst/>
          </a:prstGeom>
          <a:noFill/>
          <a:ln/>
        </p:spPr>
        <p:txBody>
          <a:bodyPr wrap="square" rtlCol="0" anchor="ctr"/>
          <a:lstStyle/>
          <a:p>
            <a:pPr algn="ctr" indent="0" marL="0">
              <a:buNone/>
            </a:pPr>
            <a:r>
              <a:rPr lang="en-US" sz="1400" b="1" dirty="0">
                <a:solidFill>
                  <a:srgbClr val="0A3A33"/>
                </a:solidFill>
                <a:latin typeface="Cambria" pitchFamily="34" charset="0"/>
                <a:ea typeface="Cambria" pitchFamily="34" charset="-122"/>
                <a:cs typeface="Cambria" pitchFamily="34" charset="-120"/>
              </a:rPr>
              <a:t>1</a:t>
            </a:r>
            <a:endParaRPr lang="en-US" sz="1400" dirty="0"/>
          </a:p>
        </p:txBody>
      </p:sp>
      <p:sp>
        <p:nvSpPr>
          <p:cNvPr id="8" name="Text 6"/>
          <p:cNvSpPr/>
          <p:nvPr/>
        </p:nvSpPr>
        <p:spPr>
          <a:xfrm>
            <a:off x="1078992" y="1353312"/>
            <a:ext cx="4572000" cy="347472"/>
          </a:xfrm>
          <a:prstGeom prst="rect">
            <a:avLst/>
          </a:prstGeom>
          <a:noFill/>
          <a:ln/>
        </p:spPr>
        <p:txBody>
          <a:bodyPr wrap="square" rtlCol="0" anchor="ctr"/>
          <a:lstStyle/>
          <a:p>
            <a:pPr indent="0" marL="0">
              <a:buNone/>
            </a:pPr>
            <a:r>
              <a:rPr lang="en-US" sz="1400" b="1" dirty="0">
                <a:solidFill>
                  <a:srgbClr val="E4CD8B"/>
                </a:solidFill>
                <a:latin typeface="Cambria" pitchFamily="34" charset="0"/>
                <a:ea typeface="Cambria" pitchFamily="34" charset="-122"/>
                <a:cs typeface="Cambria" pitchFamily="34" charset="-120"/>
              </a:rPr>
              <a:t>National Champion</a:t>
            </a:r>
            <a:endParaRPr lang="en-US" sz="1400" dirty="0"/>
          </a:p>
        </p:txBody>
      </p:sp>
      <p:sp>
        <p:nvSpPr>
          <p:cNvPr id="9" name="Text 7"/>
          <p:cNvSpPr/>
          <p:nvPr/>
        </p:nvSpPr>
        <p:spPr>
          <a:xfrm>
            <a:off x="621792" y="1847088"/>
            <a:ext cx="5029200" cy="640080"/>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Sole national oil &amp; gas company of Kazakhstan, 100% owned by Samruk-Kazyna sovereign wealth fund. Implicit and explicit state support.</a:t>
            </a:r>
            <a:endParaRPr lang="en-US" sz="1150" dirty="0"/>
          </a:p>
        </p:txBody>
      </p:sp>
      <p:sp>
        <p:nvSpPr>
          <p:cNvPr id="10" name="Shape 8"/>
          <p:cNvSpPr/>
          <p:nvPr/>
        </p:nvSpPr>
        <p:spPr>
          <a:xfrm>
            <a:off x="6217920" y="1188720"/>
            <a:ext cx="5394960" cy="1417320"/>
          </a:xfrm>
          <a:prstGeom prst="rect">
            <a:avLst>
              <a:gd name="adj" fmla="val 6452"/>
            </a:avLst>
          </a:prstGeom>
          <a:solidFill>
            <a:srgbClr val="0E4D44"/>
          </a:solidFill>
          <a:ln w="9525">
            <a:solidFill>
              <a:srgbClr val="C9A24B"/>
            </a:solidFill>
            <a:prstDash val="solid"/>
          </a:ln>
        </p:spPr>
      </p:sp>
      <p:sp>
        <p:nvSpPr>
          <p:cNvPr id="11" name="Shape 9"/>
          <p:cNvSpPr/>
          <p:nvPr/>
        </p:nvSpPr>
        <p:spPr>
          <a:xfrm>
            <a:off x="6382512" y="1353312"/>
            <a:ext cx="347472" cy="347472"/>
          </a:xfrm>
          <a:prstGeom prst="rect">
            <a:avLst>
              <a:gd name="adj" fmla="val 13158"/>
            </a:avLst>
          </a:prstGeom>
          <a:solidFill>
            <a:srgbClr val="C9A24B"/>
          </a:solidFill>
          <a:ln/>
        </p:spPr>
      </p:sp>
      <p:sp>
        <p:nvSpPr>
          <p:cNvPr id="12" name="Text 10"/>
          <p:cNvSpPr/>
          <p:nvPr/>
        </p:nvSpPr>
        <p:spPr>
          <a:xfrm>
            <a:off x="6382512" y="1353312"/>
            <a:ext cx="347472" cy="347472"/>
          </a:xfrm>
          <a:prstGeom prst="rect">
            <a:avLst/>
          </a:prstGeom>
          <a:noFill/>
          <a:ln/>
        </p:spPr>
        <p:txBody>
          <a:bodyPr wrap="square" rtlCol="0" anchor="ctr"/>
          <a:lstStyle/>
          <a:p>
            <a:pPr algn="ctr" indent="0" marL="0">
              <a:buNone/>
            </a:pPr>
            <a:r>
              <a:rPr lang="en-US" sz="1400" b="1" dirty="0">
                <a:solidFill>
                  <a:srgbClr val="0A3A33"/>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6839712" y="1353312"/>
            <a:ext cx="4572000" cy="347472"/>
          </a:xfrm>
          <a:prstGeom prst="rect">
            <a:avLst/>
          </a:prstGeom>
          <a:noFill/>
          <a:ln/>
        </p:spPr>
        <p:txBody>
          <a:bodyPr wrap="square" rtlCol="0" anchor="ctr"/>
          <a:lstStyle/>
          <a:p>
            <a:pPr indent="0" marL="0">
              <a:buNone/>
            </a:pPr>
            <a:r>
              <a:rPr lang="en-US" sz="1400" b="1" dirty="0">
                <a:solidFill>
                  <a:srgbClr val="E4CD8B"/>
                </a:solidFill>
                <a:latin typeface="Cambria" pitchFamily="34" charset="0"/>
                <a:ea typeface="Cambria" pitchFamily="34" charset="-122"/>
                <a:cs typeface="Cambria" pitchFamily="34" charset="-120"/>
              </a:rPr>
              <a:t>Investment Grade</a:t>
            </a:r>
            <a:endParaRPr lang="en-US" sz="1400" dirty="0"/>
          </a:p>
        </p:txBody>
      </p:sp>
      <p:sp>
        <p:nvSpPr>
          <p:cNvPr id="14" name="Text 12"/>
          <p:cNvSpPr/>
          <p:nvPr/>
        </p:nvSpPr>
        <p:spPr>
          <a:xfrm>
            <a:off x="6382512" y="1847088"/>
            <a:ext cx="5029200" cy="640080"/>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Rated Baa1/BBB−/BBB (Stable) by Moody's, S&amp;P and Fitch — all three major agencies at investment grade.</a:t>
            </a:r>
            <a:endParaRPr lang="en-US" sz="1150" dirty="0"/>
          </a:p>
        </p:txBody>
      </p:sp>
      <p:sp>
        <p:nvSpPr>
          <p:cNvPr id="15" name="Shape 13"/>
          <p:cNvSpPr/>
          <p:nvPr/>
        </p:nvSpPr>
        <p:spPr>
          <a:xfrm>
            <a:off x="457200" y="2834640"/>
            <a:ext cx="5394960" cy="1417320"/>
          </a:xfrm>
          <a:prstGeom prst="rect">
            <a:avLst>
              <a:gd name="adj" fmla="val 6452"/>
            </a:avLst>
          </a:prstGeom>
          <a:solidFill>
            <a:srgbClr val="0E4D44"/>
          </a:solidFill>
          <a:ln w="9525">
            <a:solidFill>
              <a:srgbClr val="C9A24B"/>
            </a:solidFill>
            <a:prstDash val="solid"/>
          </a:ln>
        </p:spPr>
      </p:sp>
      <p:sp>
        <p:nvSpPr>
          <p:cNvPr id="16" name="Shape 14"/>
          <p:cNvSpPr/>
          <p:nvPr/>
        </p:nvSpPr>
        <p:spPr>
          <a:xfrm>
            <a:off x="621792" y="2999232"/>
            <a:ext cx="347472" cy="347472"/>
          </a:xfrm>
          <a:prstGeom prst="rect">
            <a:avLst>
              <a:gd name="adj" fmla="val 13158"/>
            </a:avLst>
          </a:prstGeom>
          <a:solidFill>
            <a:srgbClr val="C9A24B"/>
          </a:solidFill>
          <a:ln/>
        </p:spPr>
      </p:sp>
      <p:sp>
        <p:nvSpPr>
          <p:cNvPr id="17" name="Text 15"/>
          <p:cNvSpPr/>
          <p:nvPr/>
        </p:nvSpPr>
        <p:spPr>
          <a:xfrm>
            <a:off x="621792" y="2999232"/>
            <a:ext cx="347472" cy="347472"/>
          </a:xfrm>
          <a:prstGeom prst="rect">
            <a:avLst/>
          </a:prstGeom>
          <a:noFill/>
          <a:ln/>
        </p:spPr>
        <p:txBody>
          <a:bodyPr wrap="square" rtlCol="0" anchor="ctr"/>
          <a:lstStyle/>
          <a:p>
            <a:pPr algn="ctr" indent="0" marL="0">
              <a:buNone/>
            </a:pPr>
            <a:r>
              <a:rPr lang="en-US" sz="1400" b="1" dirty="0">
                <a:solidFill>
                  <a:srgbClr val="0A3A33"/>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1078992" y="2999232"/>
            <a:ext cx="4572000" cy="347472"/>
          </a:xfrm>
          <a:prstGeom prst="rect">
            <a:avLst/>
          </a:prstGeom>
          <a:noFill/>
          <a:ln/>
        </p:spPr>
        <p:txBody>
          <a:bodyPr wrap="square" rtlCol="0" anchor="ctr"/>
          <a:lstStyle/>
          <a:p>
            <a:pPr indent="0" marL="0">
              <a:buNone/>
            </a:pPr>
            <a:r>
              <a:rPr lang="en-US" sz="1400" b="1" dirty="0">
                <a:solidFill>
                  <a:srgbClr val="E4CD8B"/>
                </a:solidFill>
                <a:latin typeface="Cambria" pitchFamily="34" charset="0"/>
                <a:ea typeface="Cambria" pitchFamily="34" charset="-122"/>
                <a:cs typeface="Cambria" pitchFamily="34" charset="-120"/>
              </a:rPr>
              <a:t>Record EBITDA</a:t>
            </a:r>
            <a:endParaRPr lang="en-US" sz="1400" dirty="0"/>
          </a:p>
        </p:txBody>
      </p:sp>
      <p:sp>
        <p:nvSpPr>
          <p:cNvPr id="19" name="Text 17"/>
          <p:cNvSpPr/>
          <p:nvPr/>
        </p:nvSpPr>
        <p:spPr>
          <a:xfrm>
            <a:off x="621792" y="3493008"/>
            <a:ext cx="5029200" cy="640080"/>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FY2025 EBITDA of KZT 2,393 bln (+19.6% y/y) driven by higher oil prices, volume growth and efficiency gains.</a:t>
            </a:r>
            <a:endParaRPr lang="en-US" sz="1150" dirty="0"/>
          </a:p>
        </p:txBody>
      </p:sp>
      <p:sp>
        <p:nvSpPr>
          <p:cNvPr id="20" name="Shape 18"/>
          <p:cNvSpPr/>
          <p:nvPr/>
        </p:nvSpPr>
        <p:spPr>
          <a:xfrm>
            <a:off x="6217920" y="2834640"/>
            <a:ext cx="5394960" cy="1417320"/>
          </a:xfrm>
          <a:prstGeom prst="rect">
            <a:avLst>
              <a:gd name="adj" fmla="val 6452"/>
            </a:avLst>
          </a:prstGeom>
          <a:solidFill>
            <a:srgbClr val="0E4D44"/>
          </a:solidFill>
          <a:ln w="9525">
            <a:solidFill>
              <a:srgbClr val="C9A24B"/>
            </a:solidFill>
            <a:prstDash val="solid"/>
          </a:ln>
        </p:spPr>
      </p:sp>
      <p:sp>
        <p:nvSpPr>
          <p:cNvPr id="21" name="Shape 19"/>
          <p:cNvSpPr/>
          <p:nvPr/>
        </p:nvSpPr>
        <p:spPr>
          <a:xfrm>
            <a:off x="6382512" y="2999232"/>
            <a:ext cx="347472" cy="347472"/>
          </a:xfrm>
          <a:prstGeom prst="rect">
            <a:avLst>
              <a:gd name="adj" fmla="val 13158"/>
            </a:avLst>
          </a:prstGeom>
          <a:solidFill>
            <a:srgbClr val="C9A24B"/>
          </a:solidFill>
          <a:ln/>
        </p:spPr>
      </p:sp>
      <p:sp>
        <p:nvSpPr>
          <p:cNvPr id="22" name="Text 20"/>
          <p:cNvSpPr/>
          <p:nvPr/>
        </p:nvSpPr>
        <p:spPr>
          <a:xfrm>
            <a:off x="6382512" y="2999232"/>
            <a:ext cx="347472" cy="347472"/>
          </a:xfrm>
          <a:prstGeom prst="rect">
            <a:avLst/>
          </a:prstGeom>
          <a:noFill/>
          <a:ln/>
        </p:spPr>
        <p:txBody>
          <a:bodyPr wrap="square" rtlCol="0" anchor="ctr"/>
          <a:lstStyle/>
          <a:p>
            <a:pPr algn="ctr" indent="0" marL="0">
              <a:buNone/>
            </a:pPr>
            <a:r>
              <a:rPr lang="en-US" sz="1400" b="1" dirty="0">
                <a:solidFill>
                  <a:srgbClr val="0A3A33"/>
                </a:solidFill>
                <a:latin typeface="Cambria" pitchFamily="34" charset="0"/>
                <a:ea typeface="Cambria" pitchFamily="34" charset="-122"/>
                <a:cs typeface="Cambria" pitchFamily="34" charset="-120"/>
              </a:rPr>
              <a:t>4</a:t>
            </a:r>
            <a:endParaRPr lang="en-US" sz="1400" dirty="0"/>
          </a:p>
        </p:txBody>
      </p:sp>
      <p:sp>
        <p:nvSpPr>
          <p:cNvPr id="23" name="Text 21"/>
          <p:cNvSpPr/>
          <p:nvPr/>
        </p:nvSpPr>
        <p:spPr>
          <a:xfrm>
            <a:off x="6839712" y="2999232"/>
            <a:ext cx="4572000" cy="347472"/>
          </a:xfrm>
          <a:prstGeom prst="rect">
            <a:avLst/>
          </a:prstGeom>
          <a:noFill/>
          <a:ln/>
        </p:spPr>
        <p:txBody>
          <a:bodyPr wrap="square" rtlCol="0" anchor="ctr"/>
          <a:lstStyle/>
          <a:p>
            <a:pPr indent="0" marL="0">
              <a:buNone/>
            </a:pPr>
            <a:r>
              <a:rPr lang="en-US" sz="1400" b="1" dirty="0">
                <a:solidFill>
                  <a:srgbClr val="E4CD8B"/>
                </a:solidFill>
                <a:latin typeface="Cambria" pitchFamily="34" charset="0"/>
                <a:ea typeface="Cambria" pitchFamily="34" charset="-122"/>
                <a:cs typeface="Cambria" pitchFamily="34" charset="-120"/>
              </a:rPr>
              <a:t>Near-Zero Leverage</a:t>
            </a:r>
            <a:endParaRPr lang="en-US" sz="1400" dirty="0"/>
          </a:p>
        </p:txBody>
      </p:sp>
      <p:sp>
        <p:nvSpPr>
          <p:cNvPr id="24" name="Text 22"/>
          <p:cNvSpPr/>
          <p:nvPr/>
        </p:nvSpPr>
        <p:spPr>
          <a:xfrm>
            <a:off x="6382512" y="3493008"/>
            <a:ext cx="5029200" cy="640080"/>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Net Debt/EBITDA of ~0.16x — one of the lowest leverage ratios among EEMEA national oil companies.</a:t>
            </a:r>
            <a:endParaRPr lang="en-US" sz="1150" dirty="0"/>
          </a:p>
        </p:txBody>
      </p:sp>
      <p:sp>
        <p:nvSpPr>
          <p:cNvPr id="25" name="Shape 23"/>
          <p:cNvSpPr/>
          <p:nvPr/>
        </p:nvSpPr>
        <p:spPr>
          <a:xfrm>
            <a:off x="457200" y="4480560"/>
            <a:ext cx="5394960" cy="1417320"/>
          </a:xfrm>
          <a:prstGeom prst="rect">
            <a:avLst>
              <a:gd name="adj" fmla="val 6452"/>
            </a:avLst>
          </a:prstGeom>
          <a:solidFill>
            <a:srgbClr val="0E4D44"/>
          </a:solidFill>
          <a:ln w="9525">
            <a:solidFill>
              <a:srgbClr val="C9A24B"/>
            </a:solidFill>
            <a:prstDash val="solid"/>
          </a:ln>
        </p:spPr>
      </p:sp>
      <p:sp>
        <p:nvSpPr>
          <p:cNvPr id="26" name="Shape 24"/>
          <p:cNvSpPr/>
          <p:nvPr/>
        </p:nvSpPr>
        <p:spPr>
          <a:xfrm>
            <a:off x="621792" y="4645152"/>
            <a:ext cx="347472" cy="347472"/>
          </a:xfrm>
          <a:prstGeom prst="rect">
            <a:avLst>
              <a:gd name="adj" fmla="val 13158"/>
            </a:avLst>
          </a:prstGeom>
          <a:solidFill>
            <a:srgbClr val="C9A24B"/>
          </a:solidFill>
          <a:ln/>
        </p:spPr>
      </p:sp>
      <p:sp>
        <p:nvSpPr>
          <p:cNvPr id="27" name="Text 25"/>
          <p:cNvSpPr/>
          <p:nvPr/>
        </p:nvSpPr>
        <p:spPr>
          <a:xfrm>
            <a:off x="621792" y="4645152"/>
            <a:ext cx="347472" cy="347472"/>
          </a:xfrm>
          <a:prstGeom prst="rect">
            <a:avLst/>
          </a:prstGeom>
          <a:noFill/>
          <a:ln/>
        </p:spPr>
        <p:txBody>
          <a:bodyPr wrap="square" rtlCol="0" anchor="ctr"/>
          <a:lstStyle/>
          <a:p>
            <a:pPr algn="ctr" indent="0" marL="0">
              <a:buNone/>
            </a:pPr>
            <a:r>
              <a:rPr lang="en-US" sz="1400" b="1" dirty="0">
                <a:solidFill>
                  <a:srgbClr val="0A3A33"/>
                </a:solidFill>
                <a:latin typeface="Cambria" pitchFamily="34" charset="0"/>
                <a:ea typeface="Cambria" pitchFamily="34" charset="-122"/>
                <a:cs typeface="Cambria" pitchFamily="34" charset="-120"/>
              </a:rPr>
              <a:t>5</a:t>
            </a:r>
            <a:endParaRPr lang="en-US" sz="1400" dirty="0"/>
          </a:p>
        </p:txBody>
      </p:sp>
      <p:sp>
        <p:nvSpPr>
          <p:cNvPr id="28" name="Text 26"/>
          <p:cNvSpPr/>
          <p:nvPr/>
        </p:nvSpPr>
        <p:spPr>
          <a:xfrm>
            <a:off x="1078992" y="4645152"/>
            <a:ext cx="4572000" cy="347472"/>
          </a:xfrm>
          <a:prstGeom prst="rect">
            <a:avLst/>
          </a:prstGeom>
          <a:noFill/>
          <a:ln/>
        </p:spPr>
        <p:txBody>
          <a:bodyPr wrap="square" rtlCol="0" anchor="ctr"/>
          <a:lstStyle/>
          <a:p>
            <a:pPr indent="0" marL="0">
              <a:buNone/>
            </a:pPr>
            <a:r>
              <a:rPr lang="en-US" sz="1400" b="1" dirty="0">
                <a:solidFill>
                  <a:srgbClr val="E4CD8B"/>
                </a:solidFill>
                <a:latin typeface="Cambria" pitchFamily="34" charset="0"/>
                <a:ea typeface="Cambria" pitchFamily="34" charset="-122"/>
                <a:cs typeface="Cambria" pitchFamily="34" charset="-120"/>
              </a:rPr>
              <a:t>World-Class Assets</a:t>
            </a:r>
            <a:endParaRPr lang="en-US" sz="1400" dirty="0"/>
          </a:p>
        </p:txBody>
      </p:sp>
      <p:sp>
        <p:nvSpPr>
          <p:cNvPr id="29" name="Text 27"/>
          <p:cNvSpPr/>
          <p:nvPr/>
        </p:nvSpPr>
        <p:spPr>
          <a:xfrm>
            <a:off x="621792" y="5138928"/>
            <a:ext cx="5029200" cy="640080"/>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Equity interests in Tengizchevroil and Kashagan — two of the world's largest oil fields by proven reserves.</a:t>
            </a:r>
            <a:endParaRPr lang="en-US" sz="1150" dirty="0"/>
          </a:p>
        </p:txBody>
      </p:sp>
      <p:sp>
        <p:nvSpPr>
          <p:cNvPr id="30" name="Shape 28"/>
          <p:cNvSpPr/>
          <p:nvPr/>
        </p:nvSpPr>
        <p:spPr>
          <a:xfrm>
            <a:off x="6217920" y="4480560"/>
            <a:ext cx="5394960" cy="1417320"/>
          </a:xfrm>
          <a:prstGeom prst="rect">
            <a:avLst>
              <a:gd name="adj" fmla="val 6452"/>
            </a:avLst>
          </a:prstGeom>
          <a:solidFill>
            <a:srgbClr val="0E4D44"/>
          </a:solidFill>
          <a:ln w="9525">
            <a:solidFill>
              <a:srgbClr val="C9A24B"/>
            </a:solidFill>
            <a:prstDash val="solid"/>
          </a:ln>
        </p:spPr>
      </p:sp>
      <p:sp>
        <p:nvSpPr>
          <p:cNvPr id="31" name="Shape 29"/>
          <p:cNvSpPr/>
          <p:nvPr/>
        </p:nvSpPr>
        <p:spPr>
          <a:xfrm>
            <a:off x="6382512" y="4645152"/>
            <a:ext cx="347472" cy="347472"/>
          </a:xfrm>
          <a:prstGeom prst="rect">
            <a:avLst>
              <a:gd name="adj" fmla="val 13158"/>
            </a:avLst>
          </a:prstGeom>
          <a:solidFill>
            <a:srgbClr val="C9A24B"/>
          </a:solidFill>
          <a:ln/>
        </p:spPr>
      </p:sp>
      <p:sp>
        <p:nvSpPr>
          <p:cNvPr id="32" name="Text 30"/>
          <p:cNvSpPr/>
          <p:nvPr/>
        </p:nvSpPr>
        <p:spPr>
          <a:xfrm>
            <a:off x="6382512" y="4645152"/>
            <a:ext cx="347472" cy="347472"/>
          </a:xfrm>
          <a:prstGeom prst="rect">
            <a:avLst/>
          </a:prstGeom>
          <a:noFill/>
          <a:ln/>
        </p:spPr>
        <p:txBody>
          <a:bodyPr wrap="square" rtlCol="0" anchor="ctr"/>
          <a:lstStyle/>
          <a:p>
            <a:pPr algn="ctr" indent="0" marL="0">
              <a:buNone/>
            </a:pPr>
            <a:r>
              <a:rPr lang="en-US" sz="1400" b="1" dirty="0">
                <a:solidFill>
                  <a:srgbClr val="0A3A33"/>
                </a:solidFill>
                <a:latin typeface="Cambria" pitchFamily="34" charset="0"/>
                <a:ea typeface="Cambria" pitchFamily="34" charset="-122"/>
                <a:cs typeface="Cambria" pitchFamily="34" charset="-120"/>
              </a:rPr>
              <a:t>6</a:t>
            </a:r>
            <a:endParaRPr lang="en-US" sz="1400" dirty="0"/>
          </a:p>
        </p:txBody>
      </p:sp>
      <p:sp>
        <p:nvSpPr>
          <p:cNvPr id="33" name="Text 31"/>
          <p:cNvSpPr/>
          <p:nvPr/>
        </p:nvSpPr>
        <p:spPr>
          <a:xfrm>
            <a:off x="6839712" y="4645152"/>
            <a:ext cx="4572000" cy="347472"/>
          </a:xfrm>
          <a:prstGeom prst="rect">
            <a:avLst/>
          </a:prstGeom>
          <a:noFill/>
          <a:ln/>
        </p:spPr>
        <p:txBody>
          <a:bodyPr wrap="square" rtlCol="0" anchor="ctr"/>
          <a:lstStyle/>
          <a:p>
            <a:pPr indent="0" marL="0">
              <a:buNone/>
            </a:pPr>
            <a:r>
              <a:rPr lang="en-US" sz="1400" b="1" dirty="0">
                <a:solidFill>
                  <a:srgbClr val="E4CD8B"/>
                </a:solidFill>
                <a:latin typeface="Cambria" pitchFamily="34" charset="0"/>
                <a:ea typeface="Cambria" pitchFamily="34" charset="-122"/>
                <a:cs typeface="Cambria" pitchFamily="34" charset="-120"/>
              </a:rPr>
              <a:t>ESG Commitment</a:t>
            </a:r>
            <a:endParaRPr lang="en-US" sz="1400" dirty="0"/>
          </a:p>
        </p:txBody>
      </p:sp>
      <p:sp>
        <p:nvSpPr>
          <p:cNvPr id="34" name="Text 32"/>
          <p:cNvSpPr/>
          <p:nvPr/>
        </p:nvSpPr>
        <p:spPr>
          <a:xfrm>
            <a:off x="6382512" y="5138928"/>
            <a:ext cx="5029200" cy="640080"/>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Committed to reducing flaring intensity, expanding renewable energy capacity and improving safety metrics across all operations.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E4D44"/>
          </a:solidFill>
          <a:ln/>
        </p:spPr>
      </p:sp>
      <p:sp>
        <p:nvSpPr>
          <p:cNvPr id="3" name="Text 1"/>
          <p:cNvSpPr/>
          <p:nvPr/>
        </p:nvSpPr>
        <p:spPr>
          <a:xfrm>
            <a:off x="457200" y="320040"/>
            <a:ext cx="11274552" cy="548640"/>
          </a:xfrm>
          <a:prstGeom prst="rect">
            <a:avLst/>
          </a:prstGeom>
          <a:noFill/>
          <a:ln/>
        </p:spPr>
        <p:txBody>
          <a:bodyPr wrap="square" rtlCol="0" anchor="ctr"/>
          <a:lstStyle/>
          <a:p>
            <a:pPr indent="0" marL="0">
              <a:buNone/>
            </a:pPr>
            <a:r>
              <a:rPr lang="en-US" sz="2800" b="1" dirty="0">
                <a:solidFill>
                  <a:srgbClr val="E4CD8B"/>
                </a:solidFill>
                <a:latin typeface="Cambria" pitchFamily="34" charset="0"/>
                <a:ea typeface="Cambria" pitchFamily="34" charset="-122"/>
                <a:cs typeface="Cambria" pitchFamily="34" charset="-120"/>
              </a:rPr>
              <a:t>Macro &amp; Industry Context</a:t>
            </a:r>
            <a:endParaRPr lang="en-US" sz="2800" dirty="0"/>
          </a:p>
        </p:txBody>
      </p:sp>
      <p:sp>
        <p:nvSpPr>
          <p:cNvPr id="4" name="Shape 2"/>
          <p:cNvSpPr/>
          <p:nvPr/>
        </p:nvSpPr>
        <p:spPr>
          <a:xfrm>
            <a:off x="457200" y="960120"/>
            <a:ext cx="11274552" cy="36576"/>
          </a:xfrm>
          <a:prstGeom prst="rect">
            <a:avLst/>
          </a:prstGeom>
          <a:solidFill>
            <a:srgbClr val="C9A24B"/>
          </a:solidFill>
          <a:ln/>
        </p:spPr>
      </p:sp>
      <p:sp>
        <p:nvSpPr>
          <p:cNvPr id="5" name="Text 3"/>
          <p:cNvSpPr/>
          <p:nvPr/>
        </p:nvSpPr>
        <p:spPr>
          <a:xfrm>
            <a:off x="457200" y="1097280"/>
            <a:ext cx="5486400" cy="365760"/>
          </a:xfrm>
          <a:prstGeom prst="rect">
            <a:avLst/>
          </a:prstGeom>
          <a:noFill/>
          <a:ln/>
        </p:spPr>
        <p:txBody>
          <a:bodyPr wrap="square" rtlCol="0" anchor="ctr"/>
          <a:lstStyle/>
          <a:p>
            <a:pPr indent="0" marL="0">
              <a:buNone/>
            </a:pPr>
            <a:r>
              <a:rPr lang="en-US" sz="1500" b="1" dirty="0">
                <a:solidFill>
                  <a:srgbClr val="E4CD8B"/>
                </a:solidFill>
                <a:latin typeface="Cambria" pitchFamily="34" charset="0"/>
                <a:ea typeface="Cambria" pitchFamily="34" charset="-122"/>
                <a:cs typeface="Cambria" pitchFamily="34" charset="-120"/>
              </a:rPr>
              <a:t>Kazakhstan Macro Backdrop</a:t>
            </a:r>
            <a:endParaRPr lang="en-US" sz="1500" dirty="0"/>
          </a:p>
        </p:txBody>
      </p:sp>
      <p:sp>
        <p:nvSpPr>
          <p:cNvPr id="6" name="Shape 4"/>
          <p:cNvSpPr/>
          <p:nvPr/>
        </p:nvSpPr>
        <p:spPr>
          <a:xfrm>
            <a:off x="457200" y="1554480"/>
            <a:ext cx="5486400" cy="502920"/>
          </a:xfrm>
          <a:prstGeom prst="rect">
            <a:avLst>
              <a:gd name="adj" fmla="val 7273"/>
            </a:avLst>
          </a:prstGeom>
          <a:solidFill>
            <a:srgbClr val="0A3A33"/>
          </a:solidFill>
          <a:ln/>
        </p:spPr>
      </p:sp>
      <p:sp>
        <p:nvSpPr>
          <p:cNvPr id="7" name="Text 5"/>
          <p:cNvSpPr/>
          <p:nvPr/>
        </p:nvSpPr>
        <p:spPr>
          <a:xfrm>
            <a:off x="594360" y="1554480"/>
            <a:ext cx="2743200" cy="502920"/>
          </a:xfrm>
          <a:prstGeom prst="rect">
            <a:avLst/>
          </a:prstGeom>
          <a:noFill/>
          <a:ln/>
        </p:spPr>
        <p:txBody>
          <a:bodyPr wrap="square" rtlCol="0" anchor="ctr"/>
          <a:lstStyle/>
          <a:p>
            <a:pPr indent="0" marL="0">
              <a:buNone/>
            </a:pPr>
            <a:r>
              <a:rPr lang="en-US" sz="1200" dirty="0">
                <a:solidFill>
                  <a:srgbClr val="AACCC5"/>
                </a:solidFill>
                <a:latin typeface="Calibri" pitchFamily="34" charset="0"/>
                <a:ea typeface="Calibri" pitchFamily="34" charset="-122"/>
                <a:cs typeface="Calibri" pitchFamily="34" charset="-120"/>
              </a:rPr>
              <a:t>GDP Growth (2025e)</a:t>
            </a:r>
            <a:endParaRPr lang="en-US" sz="1200" dirty="0"/>
          </a:p>
        </p:txBody>
      </p:sp>
      <p:sp>
        <p:nvSpPr>
          <p:cNvPr id="8" name="Text 6"/>
          <p:cNvSpPr/>
          <p:nvPr/>
        </p:nvSpPr>
        <p:spPr>
          <a:xfrm>
            <a:off x="3337560" y="1554480"/>
            <a:ext cx="2468880" cy="502920"/>
          </a:xfrm>
          <a:prstGeom prst="rect">
            <a:avLst/>
          </a:prstGeom>
          <a:noFill/>
          <a:ln/>
        </p:spPr>
        <p:txBody>
          <a:bodyPr wrap="square"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+4.2% real</a:t>
            </a:r>
            <a:endParaRPr lang="en-US" sz="1200" dirty="0"/>
          </a:p>
        </p:txBody>
      </p:sp>
      <p:sp>
        <p:nvSpPr>
          <p:cNvPr id="9" name="Shape 7"/>
          <p:cNvSpPr/>
          <p:nvPr/>
        </p:nvSpPr>
        <p:spPr>
          <a:xfrm>
            <a:off x="457200" y="2139696"/>
            <a:ext cx="5486400" cy="502920"/>
          </a:xfrm>
          <a:prstGeom prst="rect">
            <a:avLst>
              <a:gd name="adj" fmla="val 7273"/>
            </a:avLst>
          </a:prstGeom>
          <a:solidFill>
            <a:srgbClr val="16695C"/>
          </a:solidFill>
          <a:ln/>
        </p:spPr>
      </p:sp>
      <p:sp>
        <p:nvSpPr>
          <p:cNvPr id="10" name="Text 8"/>
          <p:cNvSpPr/>
          <p:nvPr/>
        </p:nvSpPr>
        <p:spPr>
          <a:xfrm>
            <a:off x="594360" y="2139696"/>
            <a:ext cx="2743200" cy="502920"/>
          </a:xfrm>
          <a:prstGeom prst="rect">
            <a:avLst/>
          </a:prstGeom>
          <a:noFill/>
          <a:ln/>
        </p:spPr>
        <p:txBody>
          <a:bodyPr wrap="square" rtlCol="0" anchor="ctr"/>
          <a:lstStyle/>
          <a:p>
            <a:pPr indent="0" marL="0">
              <a:buNone/>
            </a:pPr>
            <a:r>
              <a:rPr lang="en-US" sz="1200" dirty="0">
                <a:solidFill>
                  <a:srgbClr val="AACCC5"/>
                </a:solidFill>
                <a:latin typeface="Calibri" pitchFamily="34" charset="0"/>
                <a:ea typeface="Calibri" pitchFamily="34" charset="-122"/>
                <a:cs typeface="Calibri" pitchFamily="34" charset="-120"/>
              </a:rPr>
              <a:t>CPI Inflation (2025)</a:t>
            </a:r>
            <a:endParaRPr lang="en-US" sz="1200" dirty="0"/>
          </a:p>
        </p:txBody>
      </p:sp>
      <p:sp>
        <p:nvSpPr>
          <p:cNvPr id="11" name="Text 9"/>
          <p:cNvSpPr/>
          <p:nvPr/>
        </p:nvSpPr>
        <p:spPr>
          <a:xfrm>
            <a:off x="3337560" y="2139696"/>
            <a:ext cx="2468880" cy="502920"/>
          </a:xfrm>
          <a:prstGeom prst="rect">
            <a:avLst/>
          </a:prstGeom>
          <a:noFill/>
          <a:ln/>
        </p:spPr>
        <p:txBody>
          <a:bodyPr wrap="square"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~8.4%</a:t>
            </a:r>
            <a:endParaRPr lang="en-US" sz="1200" dirty="0"/>
          </a:p>
        </p:txBody>
      </p:sp>
      <p:sp>
        <p:nvSpPr>
          <p:cNvPr id="12" name="Shape 10"/>
          <p:cNvSpPr/>
          <p:nvPr/>
        </p:nvSpPr>
        <p:spPr>
          <a:xfrm>
            <a:off x="457200" y="2724912"/>
            <a:ext cx="5486400" cy="502920"/>
          </a:xfrm>
          <a:prstGeom prst="rect">
            <a:avLst>
              <a:gd name="adj" fmla="val 7273"/>
            </a:avLst>
          </a:prstGeom>
          <a:solidFill>
            <a:srgbClr val="0A3A33"/>
          </a:solidFill>
          <a:ln/>
        </p:spPr>
      </p:sp>
      <p:sp>
        <p:nvSpPr>
          <p:cNvPr id="13" name="Text 11"/>
          <p:cNvSpPr/>
          <p:nvPr/>
        </p:nvSpPr>
        <p:spPr>
          <a:xfrm>
            <a:off x="594360" y="2724912"/>
            <a:ext cx="2743200" cy="502920"/>
          </a:xfrm>
          <a:prstGeom prst="rect">
            <a:avLst/>
          </a:prstGeom>
          <a:noFill/>
          <a:ln/>
        </p:spPr>
        <p:txBody>
          <a:bodyPr wrap="square" rtlCol="0" anchor="ctr"/>
          <a:lstStyle/>
          <a:p>
            <a:pPr indent="0" marL="0">
              <a:buNone/>
            </a:pPr>
            <a:r>
              <a:rPr lang="en-US" sz="1200" dirty="0">
                <a:solidFill>
                  <a:srgbClr val="AACCC5"/>
                </a:solidFill>
                <a:latin typeface="Calibri" pitchFamily="34" charset="0"/>
                <a:ea typeface="Calibri" pitchFamily="34" charset="-122"/>
                <a:cs typeface="Calibri" pitchFamily="34" charset="-120"/>
              </a:rPr>
              <a:t>FX Rate (avg 2025)</a:t>
            </a:r>
            <a:endParaRPr lang="en-US" sz="1200" dirty="0"/>
          </a:p>
        </p:txBody>
      </p:sp>
      <p:sp>
        <p:nvSpPr>
          <p:cNvPr id="14" name="Text 12"/>
          <p:cNvSpPr/>
          <p:nvPr/>
        </p:nvSpPr>
        <p:spPr>
          <a:xfrm>
            <a:off x="3337560" y="2724912"/>
            <a:ext cx="2468880" cy="502920"/>
          </a:xfrm>
          <a:prstGeom prst="rect">
            <a:avLst/>
          </a:prstGeom>
          <a:noFill/>
          <a:ln/>
        </p:spPr>
        <p:txBody>
          <a:bodyPr wrap="square"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~521 KZT/USD</a:t>
            </a:r>
            <a:endParaRPr lang="en-US" sz="1200" dirty="0"/>
          </a:p>
        </p:txBody>
      </p:sp>
      <p:sp>
        <p:nvSpPr>
          <p:cNvPr id="15" name="Shape 13"/>
          <p:cNvSpPr/>
          <p:nvPr/>
        </p:nvSpPr>
        <p:spPr>
          <a:xfrm>
            <a:off x="457200" y="3310128"/>
            <a:ext cx="5486400" cy="502920"/>
          </a:xfrm>
          <a:prstGeom prst="rect">
            <a:avLst>
              <a:gd name="adj" fmla="val 7273"/>
            </a:avLst>
          </a:prstGeom>
          <a:solidFill>
            <a:srgbClr val="16695C"/>
          </a:solidFill>
          <a:ln/>
        </p:spPr>
      </p:sp>
      <p:sp>
        <p:nvSpPr>
          <p:cNvPr id="16" name="Text 14"/>
          <p:cNvSpPr/>
          <p:nvPr/>
        </p:nvSpPr>
        <p:spPr>
          <a:xfrm>
            <a:off x="594360" y="3310128"/>
            <a:ext cx="2743200" cy="502920"/>
          </a:xfrm>
          <a:prstGeom prst="rect">
            <a:avLst/>
          </a:prstGeom>
          <a:noFill/>
          <a:ln/>
        </p:spPr>
        <p:txBody>
          <a:bodyPr wrap="square" rtlCol="0" anchor="ctr"/>
          <a:lstStyle/>
          <a:p>
            <a:pPr indent="0" marL="0">
              <a:buNone/>
            </a:pPr>
            <a:r>
              <a:rPr lang="en-US" sz="1200" dirty="0">
                <a:solidFill>
                  <a:srgbClr val="AACCC5"/>
                </a:solidFill>
                <a:latin typeface="Calibri" pitchFamily="34" charset="0"/>
                <a:ea typeface="Calibri" pitchFamily="34" charset="-122"/>
                <a:cs typeface="Calibri" pitchFamily="34" charset="-120"/>
              </a:rPr>
              <a:t>Sovereign Rating</a:t>
            </a:r>
            <a:endParaRPr lang="en-US" sz="1200" dirty="0"/>
          </a:p>
        </p:txBody>
      </p:sp>
      <p:sp>
        <p:nvSpPr>
          <p:cNvPr id="17" name="Text 15"/>
          <p:cNvSpPr/>
          <p:nvPr/>
        </p:nvSpPr>
        <p:spPr>
          <a:xfrm>
            <a:off x="3337560" y="3310128"/>
            <a:ext cx="2468880" cy="502920"/>
          </a:xfrm>
          <a:prstGeom prst="rect">
            <a:avLst/>
          </a:prstGeom>
          <a:noFill/>
          <a:ln/>
        </p:spPr>
        <p:txBody>
          <a:bodyPr wrap="square"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Baa2 (Moody's) / BBB (S&amp;P) / BBB (Fitch)</a:t>
            </a:r>
            <a:endParaRPr lang="en-US" sz="1200" dirty="0"/>
          </a:p>
        </p:txBody>
      </p:sp>
      <p:sp>
        <p:nvSpPr>
          <p:cNvPr id="18" name="Shape 16"/>
          <p:cNvSpPr/>
          <p:nvPr/>
        </p:nvSpPr>
        <p:spPr>
          <a:xfrm>
            <a:off x="457200" y="3895344"/>
            <a:ext cx="5486400" cy="502920"/>
          </a:xfrm>
          <a:prstGeom prst="rect">
            <a:avLst>
              <a:gd name="adj" fmla="val 7273"/>
            </a:avLst>
          </a:prstGeom>
          <a:solidFill>
            <a:srgbClr val="0A3A33"/>
          </a:solidFill>
          <a:ln/>
        </p:spPr>
      </p:sp>
      <p:sp>
        <p:nvSpPr>
          <p:cNvPr id="19" name="Text 17"/>
          <p:cNvSpPr/>
          <p:nvPr/>
        </p:nvSpPr>
        <p:spPr>
          <a:xfrm>
            <a:off x="594360" y="3895344"/>
            <a:ext cx="2743200" cy="502920"/>
          </a:xfrm>
          <a:prstGeom prst="rect">
            <a:avLst/>
          </a:prstGeom>
          <a:noFill/>
          <a:ln/>
        </p:spPr>
        <p:txBody>
          <a:bodyPr wrap="square" rtlCol="0" anchor="ctr"/>
          <a:lstStyle/>
          <a:p>
            <a:pPr indent="0" marL="0">
              <a:buNone/>
            </a:pPr>
            <a:r>
              <a:rPr lang="en-US" sz="1200" dirty="0">
                <a:solidFill>
                  <a:srgbClr val="AACCC5"/>
                </a:solidFill>
                <a:latin typeface="Calibri" pitchFamily="34" charset="0"/>
                <a:ea typeface="Calibri" pitchFamily="34" charset="-122"/>
                <a:cs typeface="Calibri" pitchFamily="34" charset="-120"/>
              </a:rPr>
              <a:t>Fiscal Breakeven Oil</a:t>
            </a:r>
            <a:endParaRPr lang="en-US" sz="1200" dirty="0"/>
          </a:p>
        </p:txBody>
      </p:sp>
      <p:sp>
        <p:nvSpPr>
          <p:cNvPr id="20" name="Text 18"/>
          <p:cNvSpPr/>
          <p:nvPr/>
        </p:nvSpPr>
        <p:spPr>
          <a:xfrm>
            <a:off x="3337560" y="3895344"/>
            <a:ext cx="2468880" cy="502920"/>
          </a:xfrm>
          <a:prstGeom prst="rect">
            <a:avLst/>
          </a:prstGeom>
          <a:noFill/>
          <a:ln/>
        </p:spPr>
        <p:txBody>
          <a:bodyPr wrap="square"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~USD 55/bbl</a:t>
            </a:r>
            <a:endParaRPr lang="en-US" sz="1200" dirty="0"/>
          </a:p>
        </p:txBody>
      </p:sp>
      <p:sp>
        <p:nvSpPr>
          <p:cNvPr id="21" name="Shape 19"/>
          <p:cNvSpPr/>
          <p:nvPr/>
        </p:nvSpPr>
        <p:spPr>
          <a:xfrm>
            <a:off x="457200" y="4480560"/>
            <a:ext cx="5486400" cy="502920"/>
          </a:xfrm>
          <a:prstGeom prst="rect">
            <a:avLst>
              <a:gd name="adj" fmla="val 7273"/>
            </a:avLst>
          </a:prstGeom>
          <a:solidFill>
            <a:srgbClr val="16695C"/>
          </a:solidFill>
          <a:ln/>
        </p:spPr>
      </p:sp>
      <p:sp>
        <p:nvSpPr>
          <p:cNvPr id="22" name="Text 20"/>
          <p:cNvSpPr/>
          <p:nvPr/>
        </p:nvSpPr>
        <p:spPr>
          <a:xfrm>
            <a:off x="594360" y="4480560"/>
            <a:ext cx="2743200" cy="502920"/>
          </a:xfrm>
          <a:prstGeom prst="rect">
            <a:avLst/>
          </a:prstGeom>
          <a:noFill/>
          <a:ln/>
        </p:spPr>
        <p:txBody>
          <a:bodyPr wrap="square" rtlCol="0" anchor="ctr"/>
          <a:lstStyle/>
          <a:p>
            <a:pPr indent="0" marL="0">
              <a:buNone/>
            </a:pPr>
            <a:r>
              <a:rPr lang="en-US" sz="1200" dirty="0">
                <a:solidFill>
                  <a:srgbClr val="AACCC5"/>
                </a:solidFill>
                <a:latin typeface="Calibri" pitchFamily="34" charset="0"/>
                <a:ea typeface="Calibri" pitchFamily="34" charset="-122"/>
                <a:cs typeface="Calibri" pitchFamily="34" charset="-120"/>
              </a:rPr>
              <a:t>Oil Production (country)</a:t>
            </a:r>
            <a:endParaRPr lang="en-US" sz="1200" dirty="0"/>
          </a:p>
        </p:txBody>
      </p:sp>
      <p:sp>
        <p:nvSpPr>
          <p:cNvPr id="23" name="Text 21"/>
          <p:cNvSpPr/>
          <p:nvPr/>
        </p:nvSpPr>
        <p:spPr>
          <a:xfrm>
            <a:off x="3337560" y="4480560"/>
            <a:ext cx="2468880" cy="502920"/>
          </a:xfrm>
          <a:prstGeom prst="rect">
            <a:avLst/>
          </a:prstGeom>
          <a:noFill/>
          <a:ln/>
        </p:spPr>
        <p:txBody>
          <a:bodyPr wrap="square"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~90 mmbbl/y (~1.9 mbbl/d)</a:t>
            </a:r>
            <a:endParaRPr lang="en-US" sz="1200" dirty="0"/>
          </a:p>
        </p:txBody>
      </p:sp>
      <p:sp>
        <p:nvSpPr>
          <p:cNvPr id="24" name="Text 22"/>
          <p:cNvSpPr/>
          <p:nvPr/>
        </p:nvSpPr>
        <p:spPr>
          <a:xfrm>
            <a:off x="6400800" y="1097280"/>
            <a:ext cx="5303520" cy="365760"/>
          </a:xfrm>
          <a:prstGeom prst="rect">
            <a:avLst/>
          </a:prstGeom>
          <a:noFill/>
          <a:ln/>
        </p:spPr>
        <p:txBody>
          <a:bodyPr wrap="square" rtlCol="0" anchor="ctr"/>
          <a:lstStyle/>
          <a:p>
            <a:pPr indent="0" marL="0">
              <a:buNone/>
            </a:pPr>
            <a:r>
              <a:rPr lang="en-US" sz="1500" b="1" dirty="0">
                <a:solidFill>
                  <a:srgbClr val="E4CD8B"/>
                </a:solidFill>
                <a:latin typeface="Cambria" pitchFamily="34" charset="0"/>
                <a:ea typeface="Cambria" pitchFamily="34" charset="-122"/>
                <a:cs typeface="Cambria" pitchFamily="34" charset="-120"/>
              </a:rPr>
              <a:t>Oil Price Environment</a:t>
            </a:r>
            <a:endParaRPr lang="en-US" sz="1500" dirty="0"/>
          </a:p>
        </p:txBody>
      </p:sp>
      <p:sp>
        <p:nvSpPr>
          <p:cNvPr id="25" name="Shape 23"/>
          <p:cNvSpPr/>
          <p:nvPr/>
        </p:nvSpPr>
        <p:spPr>
          <a:xfrm>
            <a:off x="6400800" y="1554480"/>
            <a:ext cx="5303520" cy="502920"/>
          </a:xfrm>
          <a:prstGeom prst="rect">
            <a:avLst>
              <a:gd name="adj" fmla="val 7273"/>
            </a:avLst>
          </a:prstGeom>
          <a:solidFill>
            <a:srgbClr val="0A3A33"/>
          </a:solidFill>
          <a:ln/>
        </p:spPr>
      </p:sp>
      <p:sp>
        <p:nvSpPr>
          <p:cNvPr id="26" name="Text 24"/>
          <p:cNvSpPr/>
          <p:nvPr/>
        </p:nvSpPr>
        <p:spPr>
          <a:xfrm>
            <a:off x="6537960" y="1554480"/>
            <a:ext cx="3017520" cy="502920"/>
          </a:xfrm>
          <a:prstGeom prst="rect">
            <a:avLst/>
          </a:prstGeom>
          <a:noFill/>
          <a:ln/>
        </p:spPr>
        <p:txBody>
          <a:bodyPr wrap="square" rtlCol="0" anchor="ctr"/>
          <a:lstStyle/>
          <a:p>
            <a:pPr indent="0" marL="0">
              <a:buNone/>
            </a:pPr>
            <a:r>
              <a:rPr lang="en-US" sz="1200" dirty="0">
                <a:solidFill>
                  <a:srgbClr val="AACCC5"/>
                </a:solidFill>
                <a:latin typeface="Calibri" pitchFamily="34" charset="0"/>
                <a:ea typeface="Calibri" pitchFamily="34" charset="-122"/>
                <a:cs typeface="Calibri" pitchFamily="34" charset="-120"/>
              </a:rPr>
              <a:t>Brent Crude avg FY2025</a:t>
            </a:r>
            <a:endParaRPr lang="en-US" sz="1200" dirty="0"/>
          </a:p>
        </p:txBody>
      </p:sp>
      <p:sp>
        <p:nvSpPr>
          <p:cNvPr id="27" name="Text 25"/>
          <p:cNvSpPr/>
          <p:nvPr/>
        </p:nvSpPr>
        <p:spPr>
          <a:xfrm>
            <a:off x="9555480" y="1554480"/>
            <a:ext cx="2011680" cy="502920"/>
          </a:xfrm>
          <a:prstGeom prst="rect">
            <a:avLst/>
          </a:prstGeom>
          <a:noFill/>
          <a:ln/>
        </p:spPr>
        <p:txBody>
          <a:bodyPr wrap="square"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~USD 76/bbl</a:t>
            </a:r>
            <a:endParaRPr lang="en-US" sz="1200" dirty="0"/>
          </a:p>
        </p:txBody>
      </p:sp>
      <p:sp>
        <p:nvSpPr>
          <p:cNvPr id="28" name="Shape 26"/>
          <p:cNvSpPr/>
          <p:nvPr/>
        </p:nvSpPr>
        <p:spPr>
          <a:xfrm>
            <a:off x="6400800" y="2139696"/>
            <a:ext cx="5303520" cy="502920"/>
          </a:xfrm>
          <a:prstGeom prst="rect">
            <a:avLst>
              <a:gd name="adj" fmla="val 7273"/>
            </a:avLst>
          </a:prstGeom>
          <a:solidFill>
            <a:srgbClr val="16695C"/>
          </a:solidFill>
          <a:ln/>
        </p:spPr>
      </p:sp>
      <p:sp>
        <p:nvSpPr>
          <p:cNvPr id="29" name="Text 27"/>
          <p:cNvSpPr/>
          <p:nvPr/>
        </p:nvSpPr>
        <p:spPr>
          <a:xfrm>
            <a:off x="6537960" y="2139696"/>
            <a:ext cx="3017520" cy="502920"/>
          </a:xfrm>
          <a:prstGeom prst="rect">
            <a:avLst/>
          </a:prstGeom>
          <a:noFill/>
          <a:ln/>
        </p:spPr>
        <p:txBody>
          <a:bodyPr wrap="square" rtlCol="0" anchor="ctr"/>
          <a:lstStyle/>
          <a:p>
            <a:pPr indent="0" marL="0">
              <a:buNone/>
            </a:pPr>
            <a:r>
              <a:rPr lang="en-US" sz="1200" dirty="0">
                <a:solidFill>
                  <a:srgbClr val="AACCC5"/>
                </a:solidFill>
                <a:latin typeface="Calibri" pitchFamily="34" charset="0"/>
                <a:ea typeface="Calibri" pitchFamily="34" charset="-122"/>
                <a:cs typeface="Calibri" pitchFamily="34" charset="-120"/>
              </a:rPr>
              <a:t>Brent Crude (Jun 2026)</a:t>
            </a:r>
            <a:endParaRPr lang="en-US" sz="1200" dirty="0"/>
          </a:p>
        </p:txBody>
      </p:sp>
      <p:sp>
        <p:nvSpPr>
          <p:cNvPr id="30" name="Text 28"/>
          <p:cNvSpPr/>
          <p:nvPr/>
        </p:nvSpPr>
        <p:spPr>
          <a:xfrm>
            <a:off x="9555480" y="2139696"/>
            <a:ext cx="2011680" cy="502920"/>
          </a:xfrm>
          <a:prstGeom prst="rect">
            <a:avLst/>
          </a:prstGeom>
          <a:noFill/>
          <a:ln/>
        </p:spPr>
        <p:txBody>
          <a:bodyPr wrap="square"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~USD 68/bbl</a:t>
            </a:r>
            <a:endParaRPr lang="en-US" sz="1200" dirty="0"/>
          </a:p>
        </p:txBody>
      </p:sp>
      <p:sp>
        <p:nvSpPr>
          <p:cNvPr id="31" name="Shape 29"/>
          <p:cNvSpPr/>
          <p:nvPr/>
        </p:nvSpPr>
        <p:spPr>
          <a:xfrm>
            <a:off x="6400800" y="2724912"/>
            <a:ext cx="5303520" cy="502920"/>
          </a:xfrm>
          <a:prstGeom prst="rect">
            <a:avLst>
              <a:gd name="adj" fmla="val 7273"/>
            </a:avLst>
          </a:prstGeom>
          <a:solidFill>
            <a:srgbClr val="0A3A33"/>
          </a:solidFill>
          <a:ln/>
        </p:spPr>
      </p:sp>
      <p:sp>
        <p:nvSpPr>
          <p:cNvPr id="32" name="Text 30"/>
          <p:cNvSpPr/>
          <p:nvPr/>
        </p:nvSpPr>
        <p:spPr>
          <a:xfrm>
            <a:off x="6537960" y="2724912"/>
            <a:ext cx="3017520" cy="502920"/>
          </a:xfrm>
          <a:prstGeom prst="rect">
            <a:avLst/>
          </a:prstGeom>
          <a:noFill/>
          <a:ln/>
        </p:spPr>
        <p:txBody>
          <a:bodyPr wrap="square" rtlCol="0" anchor="ctr"/>
          <a:lstStyle/>
          <a:p>
            <a:pPr indent="0" marL="0">
              <a:buNone/>
            </a:pPr>
            <a:r>
              <a:rPr lang="en-US" sz="1200" dirty="0">
                <a:solidFill>
                  <a:srgbClr val="AACCC5"/>
                </a:solidFill>
                <a:latin typeface="Calibri" pitchFamily="34" charset="0"/>
                <a:ea typeface="Calibri" pitchFamily="34" charset="-122"/>
                <a:cs typeface="Calibri" pitchFamily="34" charset="-120"/>
              </a:rPr>
              <a:t>OPEC+ production pact</a:t>
            </a:r>
            <a:endParaRPr lang="en-US" sz="1200" dirty="0"/>
          </a:p>
        </p:txBody>
      </p:sp>
      <p:sp>
        <p:nvSpPr>
          <p:cNvPr id="33" name="Text 31"/>
          <p:cNvSpPr/>
          <p:nvPr/>
        </p:nvSpPr>
        <p:spPr>
          <a:xfrm>
            <a:off x="9555480" y="2724912"/>
            <a:ext cx="2011680" cy="502920"/>
          </a:xfrm>
          <a:prstGeom prst="rect">
            <a:avLst/>
          </a:prstGeom>
          <a:noFill/>
          <a:ln/>
        </p:spPr>
        <p:txBody>
          <a:bodyPr wrap="square"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Gradual unwinding 2025–2026</a:t>
            </a:r>
            <a:endParaRPr lang="en-US" sz="1200" dirty="0"/>
          </a:p>
        </p:txBody>
      </p:sp>
      <p:sp>
        <p:nvSpPr>
          <p:cNvPr id="34" name="Shape 32"/>
          <p:cNvSpPr/>
          <p:nvPr/>
        </p:nvSpPr>
        <p:spPr>
          <a:xfrm>
            <a:off x="6400800" y="3310128"/>
            <a:ext cx="5303520" cy="502920"/>
          </a:xfrm>
          <a:prstGeom prst="rect">
            <a:avLst>
              <a:gd name="adj" fmla="val 7273"/>
            </a:avLst>
          </a:prstGeom>
          <a:solidFill>
            <a:srgbClr val="16695C"/>
          </a:solidFill>
          <a:ln/>
        </p:spPr>
      </p:sp>
      <p:sp>
        <p:nvSpPr>
          <p:cNvPr id="35" name="Text 33"/>
          <p:cNvSpPr/>
          <p:nvPr/>
        </p:nvSpPr>
        <p:spPr>
          <a:xfrm>
            <a:off x="6537960" y="3310128"/>
            <a:ext cx="3017520" cy="502920"/>
          </a:xfrm>
          <a:prstGeom prst="rect">
            <a:avLst/>
          </a:prstGeom>
          <a:noFill/>
          <a:ln/>
        </p:spPr>
        <p:txBody>
          <a:bodyPr wrap="square" rtlCol="0" anchor="ctr"/>
          <a:lstStyle/>
          <a:p>
            <a:pPr indent="0" marL="0">
              <a:buNone/>
            </a:pPr>
            <a:r>
              <a:rPr lang="en-US" sz="1200" dirty="0">
                <a:solidFill>
                  <a:srgbClr val="AACCC5"/>
                </a:solidFill>
                <a:latin typeface="Calibri" pitchFamily="34" charset="0"/>
                <a:ea typeface="Calibri" pitchFamily="34" charset="-122"/>
                <a:cs typeface="Calibri" pitchFamily="34" charset="-120"/>
              </a:rPr>
              <a:t>KMG production mix</a:t>
            </a:r>
            <a:endParaRPr lang="en-US" sz="1200" dirty="0"/>
          </a:p>
        </p:txBody>
      </p:sp>
      <p:sp>
        <p:nvSpPr>
          <p:cNvPr id="36" name="Text 34"/>
          <p:cNvSpPr/>
          <p:nvPr/>
        </p:nvSpPr>
        <p:spPr>
          <a:xfrm>
            <a:off x="9555480" y="3310128"/>
            <a:ext cx="2011680" cy="502920"/>
          </a:xfrm>
          <a:prstGeom prst="rect">
            <a:avLst/>
          </a:prstGeom>
          <a:noFill/>
          <a:ln/>
        </p:spPr>
        <p:txBody>
          <a:bodyPr wrap="square"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~75% crude oil, 25% gas &amp; products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A3A33"/>
          </a:solidFill>
          <a:ln/>
        </p:spPr>
      </p:sp>
      <p:sp>
        <p:nvSpPr>
          <p:cNvPr id="3" name="Text 1"/>
          <p:cNvSpPr/>
          <p:nvPr/>
        </p:nvSpPr>
        <p:spPr>
          <a:xfrm>
            <a:off x="457200" y="320040"/>
            <a:ext cx="11274552" cy="548640"/>
          </a:xfrm>
          <a:prstGeom prst="rect">
            <a:avLst/>
          </a:prstGeom>
          <a:noFill/>
          <a:ln/>
        </p:spPr>
        <p:txBody>
          <a:bodyPr wrap="square" rtlCol="0" anchor="ctr"/>
          <a:lstStyle/>
          <a:p>
            <a:pPr indent="0" marL="0">
              <a:buNone/>
            </a:pPr>
            <a:r>
              <a:rPr lang="en-US" sz="2800" b="1" dirty="0">
                <a:solidFill>
                  <a:srgbClr val="E4CD8B"/>
                </a:solidFill>
                <a:latin typeface="Cambria" pitchFamily="34" charset="0"/>
                <a:ea typeface="Cambria" pitchFamily="34" charset="-122"/>
                <a:cs typeface="Cambria" pitchFamily="34" charset="-120"/>
              </a:rPr>
              <a:t>Operational Efficiency &amp; Capital Returns</a:t>
            </a:r>
            <a:endParaRPr lang="en-US" sz="2800" dirty="0"/>
          </a:p>
        </p:txBody>
      </p:sp>
      <p:sp>
        <p:nvSpPr>
          <p:cNvPr id="4" name="Shape 2"/>
          <p:cNvSpPr/>
          <p:nvPr/>
        </p:nvSpPr>
        <p:spPr>
          <a:xfrm>
            <a:off x="457200" y="960120"/>
            <a:ext cx="11274552" cy="36576"/>
          </a:xfrm>
          <a:prstGeom prst="rect">
            <a:avLst/>
          </a:prstGeom>
          <a:solidFill>
            <a:srgbClr val="C9A24B"/>
          </a:solidFill>
          <a:ln/>
        </p:spPr>
      </p:sp>
      <p:sp>
        <p:nvSpPr>
          <p:cNvPr id="5" name="Shape 3"/>
          <p:cNvSpPr/>
          <p:nvPr/>
        </p:nvSpPr>
        <p:spPr>
          <a:xfrm>
            <a:off x="457200" y="1188720"/>
            <a:ext cx="2286000" cy="1463040"/>
          </a:xfrm>
          <a:prstGeom prst="rect">
            <a:avLst>
              <a:gd name="adj" fmla="val 6250"/>
            </a:avLst>
          </a:prstGeom>
          <a:solidFill>
            <a:srgbClr val="1A6558"/>
          </a:solidFill>
          <a:ln w="12700">
            <a:solidFill>
              <a:srgbClr val="C9A24B"/>
            </a:solidFill>
            <a:prstDash val="solid"/>
          </a:ln>
        </p:spPr>
      </p:sp>
      <p:sp>
        <p:nvSpPr>
          <p:cNvPr id="6" name="Text 4"/>
          <p:cNvSpPr/>
          <p:nvPr/>
        </p:nvSpPr>
        <p:spPr>
          <a:xfrm>
            <a:off x="594360" y="1298448"/>
            <a:ext cx="2011680" cy="274320"/>
          </a:xfrm>
          <a:prstGeom prst="rect">
            <a:avLst/>
          </a:prstGeom>
          <a:noFill/>
          <a:ln/>
        </p:spPr>
        <p:txBody>
          <a:bodyPr wrap="square" rtlCol="0" anchor="ctr"/>
          <a:lstStyle/>
          <a:p>
            <a:pPr indent="0" marL="0">
              <a:buNone/>
            </a:pPr>
            <a:r>
              <a:rPr lang="en-US" sz="1000" b="1" dirty="0">
                <a:solidFill>
                  <a:srgbClr val="E4CD8B"/>
                </a:solidFill>
                <a:latin typeface="Calibri" pitchFamily="34" charset="0"/>
                <a:ea typeface="Calibri" pitchFamily="34" charset="-122"/>
                <a:cs typeface="Calibri" pitchFamily="34" charset="-120"/>
              </a:rPr>
              <a:t>Lifting Cost</a:t>
            </a:r>
            <a:endParaRPr lang="en-US" sz="1000" dirty="0"/>
          </a:p>
        </p:txBody>
      </p:sp>
      <p:sp>
        <p:nvSpPr>
          <p:cNvPr id="7" name="Text 5"/>
          <p:cNvSpPr/>
          <p:nvPr/>
        </p:nvSpPr>
        <p:spPr>
          <a:xfrm>
            <a:off x="594360" y="1572768"/>
            <a:ext cx="201168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~USD 5.2/boe</a:t>
            </a:r>
            <a:endParaRPr lang="en-US" sz="2000" dirty="0"/>
          </a:p>
        </p:txBody>
      </p:sp>
      <p:sp>
        <p:nvSpPr>
          <p:cNvPr id="8" name="Text 6"/>
          <p:cNvSpPr/>
          <p:nvPr/>
        </p:nvSpPr>
        <p:spPr>
          <a:xfrm>
            <a:off x="594360" y="2057400"/>
            <a:ext cx="2011680" cy="457200"/>
          </a:xfrm>
          <a:prstGeom prst="rect">
            <a:avLst/>
          </a:prstGeom>
          <a:noFill/>
          <a:ln/>
        </p:spPr>
        <p:txBody>
          <a:bodyPr wrap="square" rtlCol="0" anchor="ctr"/>
          <a:lstStyle/>
          <a:p>
            <a:pPr indent="0" marL="0">
              <a:buNone/>
            </a:pPr>
            <a:r>
              <a:rPr lang="en-US" sz="1000" dirty="0">
                <a:solidFill>
                  <a:srgbClr val="AACCC5"/>
                </a:solidFill>
                <a:latin typeface="Calibri" pitchFamily="34" charset="0"/>
                <a:ea typeface="Calibri" pitchFamily="34" charset="-122"/>
                <a:cs typeface="Calibri" pitchFamily="34" charset="-120"/>
              </a:rPr>
              <a:t>FY2025, Group avg</a:t>
            </a:r>
            <a:endParaRPr lang="en-US" sz="1000" dirty="0"/>
          </a:p>
        </p:txBody>
      </p:sp>
      <p:sp>
        <p:nvSpPr>
          <p:cNvPr id="9" name="Shape 7"/>
          <p:cNvSpPr/>
          <p:nvPr/>
        </p:nvSpPr>
        <p:spPr>
          <a:xfrm>
            <a:off x="2880360" y="1188720"/>
            <a:ext cx="2286000" cy="1463040"/>
          </a:xfrm>
          <a:prstGeom prst="rect">
            <a:avLst>
              <a:gd name="adj" fmla="val 6250"/>
            </a:avLst>
          </a:prstGeom>
          <a:solidFill>
            <a:srgbClr val="1A6558"/>
          </a:solidFill>
          <a:ln w="12700">
            <a:solidFill>
              <a:srgbClr val="C9A24B"/>
            </a:solidFill>
            <a:prstDash val="solid"/>
          </a:ln>
        </p:spPr>
      </p:sp>
      <p:sp>
        <p:nvSpPr>
          <p:cNvPr id="10" name="Text 8"/>
          <p:cNvSpPr/>
          <p:nvPr/>
        </p:nvSpPr>
        <p:spPr>
          <a:xfrm>
            <a:off x="3017520" y="1298448"/>
            <a:ext cx="2011680" cy="274320"/>
          </a:xfrm>
          <a:prstGeom prst="rect">
            <a:avLst/>
          </a:prstGeom>
          <a:noFill/>
          <a:ln/>
        </p:spPr>
        <p:txBody>
          <a:bodyPr wrap="square" rtlCol="0" anchor="ctr"/>
          <a:lstStyle/>
          <a:p>
            <a:pPr indent="0" marL="0">
              <a:buNone/>
            </a:pPr>
            <a:r>
              <a:rPr lang="en-US" sz="1000" b="1" dirty="0">
                <a:solidFill>
                  <a:srgbClr val="E4CD8B"/>
                </a:solidFill>
                <a:latin typeface="Calibri" pitchFamily="34" charset="0"/>
                <a:ea typeface="Calibri" pitchFamily="34" charset="-122"/>
                <a:cs typeface="Calibri" pitchFamily="34" charset="-120"/>
              </a:rPr>
              <a:t>Refinery Utilisation</a:t>
            </a:r>
            <a:endParaRPr lang="en-US" sz="1000" dirty="0"/>
          </a:p>
        </p:txBody>
      </p:sp>
      <p:sp>
        <p:nvSpPr>
          <p:cNvPr id="11" name="Text 9"/>
          <p:cNvSpPr/>
          <p:nvPr/>
        </p:nvSpPr>
        <p:spPr>
          <a:xfrm>
            <a:off x="3017520" y="1572768"/>
            <a:ext cx="201168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&gt;92%</a:t>
            </a:r>
            <a:endParaRPr lang="en-US" sz="2000" dirty="0"/>
          </a:p>
        </p:txBody>
      </p:sp>
      <p:sp>
        <p:nvSpPr>
          <p:cNvPr id="12" name="Text 10"/>
          <p:cNvSpPr/>
          <p:nvPr/>
        </p:nvSpPr>
        <p:spPr>
          <a:xfrm>
            <a:off x="3017520" y="2057400"/>
            <a:ext cx="2011680" cy="457200"/>
          </a:xfrm>
          <a:prstGeom prst="rect">
            <a:avLst/>
          </a:prstGeom>
          <a:noFill/>
          <a:ln/>
        </p:spPr>
        <p:txBody>
          <a:bodyPr wrap="square" rtlCol="0" anchor="ctr"/>
          <a:lstStyle/>
          <a:p>
            <a:pPr indent="0" marL="0">
              <a:buNone/>
            </a:pPr>
            <a:r>
              <a:rPr lang="en-US" sz="1000" dirty="0">
                <a:solidFill>
                  <a:srgbClr val="AACCC5"/>
                </a:solidFill>
                <a:latin typeface="Calibri" pitchFamily="34" charset="0"/>
                <a:ea typeface="Calibri" pitchFamily="34" charset="-122"/>
                <a:cs typeface="Calibri" pitchFamily="34" charset="-120"/>
              </a:rPr>
              <a:t>All three domestic refineries</a:t>
            </a:r>
            <a:endParaRPr lang="en-US" sz="1000" dirty="0"/>
          </a:p>
        </p:txBody>
      </p:sp>
      <p:sp>
        <p:nvSpPr>
          <p:cNvPr id="13" name="Shape 11"/>
          <p:cNvSpPr/>
          <p:nvPr/>
        </p:nvSpPr>
        <p:spPr>
          <a:xfrm>
            <a:off x="5303520" y="1188720"/>
            <a:ext cx="2286000" cy="1463040"/>
          </a:xfrm>
          <a:prstGeom prst="rect">
            <a:avLst>
              <a:gd name="adj" fmla="val 6250"/>
            </a:avLst>
          </a:prstGeom>
          <a:solidFill>
            <a:srgbClr val="1A6558"/>
          </a:solidFill>
          <a:ln w="12700">
            <a:solidFill>
              <a:srgbClr val="C9A24B"/>
            </a:solidFill>
            <a:prstDash val="solid"/>
          </a:ln>
        </p:spPr>
      </p:sp>
      <p:sp>
        <p:nvSpPr>
          <p:cNvPr id="14" name="Text 12"/>
          <p:cNvSpPr/>
          <p:nvPr/>
        </p:nvSpPr>
        <p:spPr>
          <a:xfrm>
            <a:off x="5440680" y="1298448"/>
            <a:ext cx="2011680" cy="274320"/>
          </a:xfrm>
          <a:prstGeom prst="rect">
            <a:avLst/>
          </a:prstGeom>
          <a:noFill/>
          <a:ln/>
        </p:spPr>
        <p:txBody>
          <a:bodyPr wrap="square" rtlCol="0" anchor="ctr"/>
          <a:lstStyle/>
          <a:p>
            <a:pPr indent="0" marL="0">
              <a:buNone/>
            </a:pPr>
            <a:r>
              <a:rPr lang="en-US" sz="1000" b="1" dirty="0">
                <a:solidFill>
                  <a:srgbClr val="E4CD8B"/>
                </a:solidFill>
                <a:latin typeface="Calibri" pitchFamily="34" charset="0"/>
                <a:ea typeface="Calibri" pitchFamily="34" charset="-122"/>
                <a:cs typeface="Calibri" pitchFamily="34" charset="-120"/>
              </a:rPr>
              <a:t>Dividend (FY2025)</a:t>
            </a:r>
            <a:endParaRPr lang="en-US" sz="1000" dirty="0"/>
          </a:p>
        </p:txBody>
      </p:sp>
      <p:sp>
        <p:nvSpPr>
          <p:cNvPr id="15" name="Text 13"/>
          <p:cNvSpPr/>
          <p:nvPr/>
        </p:nvSpPr>
        <p:spPr>
          <a:xfrm>
            <a:off x="5440680" y="1572768"/>
            <a:ext cx="201168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KZT 312 bln</a:t>
            </a:r>
            <a:endParaRPr lang="en-US" sz="2000" dirty="0"/>
          </a:p>
        </p:txBody>
      </p:sp>
      <p:sp>
        <p:nvSpPr>
          <p:cNvPr id="16" name="Text 14"/>
          <p:cNvSpPr/>
          <p:nvPr/>
        </p:nvSpPr>
        <p:spPr>
          <a:xfrm>
            <a:off x="5440680" y="2057400"/>
            <a:ext cx="2011680" cy="457200"/>
          </a:xfrm>
          <a:prstGeom prst="rect">
            <a:avLst/>
          </a:prstGeom>
          <a:noFill/>
          <a:ln/>
        </p:spPr>
        <p:txBody>
          <a:bodyPr wrap="square" rtlCol="0" anchor="ctr"/>
          <a:lstStyle/>
          <a:p>
            <a:pPr indent="0" marL="0">
              <a:buNone/>
            </a:pPr>
            <a:r>
              <a:rPr lang="en-US" sz="1000" dirty="0">
                <a:solidFill>
                  <a:srgbClr val="AACCC5"/>
                </a:solidFill>
                <a:latin typeface="Calibri" pitchFamily="34" charset="0"/>
                <a:ea typeface="Calibri" pitchFamily="34" charset="-122"/>
                <a:cs typeface="Calibri" pitchFamily="34" charset="-120"/>
              </a:rPr>
              <a:t>To Samruk-Kazyna</a:t>
            </a:r>
            <a:endParaRPr lang="en-US" sz="1000" dirty="0"/>
          </a:p>
        </p:txBody>
      </p:sp>
      <p:sp>
        <p:nvSpPr>
          <p:cNvPr id="17" name="Shape 15"/>
          <p:cNvSpPr/>
          <p:nvPr/>
        </p:nvSpPr>
        <p:spPr>
          <a:xfrm>
            <a:off x="7726680" y="1188720"/>
            <a:ext cx="2286000" cy="1463040"/>
          </a:xfrm>
          <a:prstGeom prst="rect">
            <a:avLst>
              <a:gd name="adj" fmla="val 6250"/>
            </a:avLst>
          </a:prstGeom>
          <a:solidFill>
            <a:srgbClr val="1A6558"/>
          </a:solidFill>
          <a:ln w="12700">
            <a:solidFill>
              <a:srgbClr val="C9A24B"/>
            </a:solidFill>
            <a:prstDash val="solid"/>
          </a:ln>
        </p:spPr>
      </p:sp>
      <p:sp>
        <p:nvSpPr>
          <p:cNvPr id="18" name="Text 16"/>
          <p:cNvSpPr/>
          <p:nvPr/>
        </p:nvSpPr>
        <p:spPr>
          <a:xfrm>
            <a:off x="7863840" y="1298448"/>
            <a:ext cx="2011680" cy="274320"/>
          </a:xfrm>
          <a:prstGeom prst="rect">
            <a:avLst/>
          </a:prstGeom>
          <a:noFill/>
          <a:ln/>
        </p:spPr>
        <p:txBody>
          <a:bodyPr wrap="square" rtlCol="0" anchor="ctr"/>
          <a:lstStyle/>
          <a:p>
            <a:pPr indent="0" marL="0">
              <a:buNone/>
            </a:pPr>
            <a:r>
              <a:rPr lang="en-US" sz="1000" b="1" dirty="0">
                <a:solidFill>
                  <a:srgbClr val="E4CD8B"/>
                </a:solidFill>
                <a:latin typeface="Calibri" pitchFamily="34" charset="0"/>
                <a:ea typeface="Calibri" pitchFamily="34" charset="-122"/>
                <a:cs typeface="Calibri" pitchFamily="34" charset="-120"/>
              </a:rPr>
              <a:t>Capex FY2025</a:t>
            </a:r>
            <a:endParaRPr lang="en-US" sz="1000" dirty="0"/>
          </a:p>
        </p:txBody>
      </p:sp>
      <p:sp>
        <p:nvSpPr>
          <p:cNvPr id="19" name="Text 17"/>
          <p:cNvSpPr/>
          <p:nvPr/>
        </p:nvSpPr>
        <p:spPr>
          <a:xfrm>
            <a:off x="7863840" y="1572768"/>
            <a:ext cx="201168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KZT 1,247 bln</a:t>
            </a:r>
            <a:endParaRPr lang="en-US" sz="2000" dirty="0"/>
          </a:p>
        </p:txBody>
      </p:sp>
      <p:sp>
        <p:nvSpPr>
          <p:cNvPr id="20" name="Text 18"/>
          <p:cNvSpPr/>
          <p:nvPr/>
        </p:nvSpPr>
        <p:spPr>
          <a:xfrm>
            <a:off x="7863840" y="2057400"/>
            <a:ext cx="2011680" cy="457200"/>
          </a:xfrm>
          <a:prstGeom prst="rect">
            <a:avLst/>
          </a:prstGeom>
          <a:noFill/>
          <a:ln/>
        </p:spPr>
        <p:txBody>
          <a:bodyPr wrap="square" rtlCol="0" anchor="ctr"/>
          <a:lstStyle/>
          <a:p>
            <a:pPr indent="0" marL="0">
              <a:buNone/>
            </a:pPr>
            <a:r>
              <a:rPr lang="en-US" sz="1000" dirty="0">
                <a:solidFill>
                  <a:srgbClr val="AACCC5"/>
                </a:solidFill>
                <a:latin typeface="Calibri" pitchFamily="34" charset="0"/>
                <a:ea typeface="Calibri" pitchFamily="34" charset="-122"/>
                <a:cs typeface="Calibri" pitchFamily="34" charset="-120"/>
              </a:rPr>
              <a:t>Growth + Maintenance</a:t>
            </a:r>
            <a:endParaRPr lang="en-US" sz="1000" dirty="0"/>
          </a:p>
        </p:txBody>
      </p:sp>
      <p:sp>
        <p:nvSpPr>
          <p:cNvPr id="21" name="Text 19"/>
          <p:cNvSpPr/>
          <p:nvPr/>
        </p:nvSpPr>
        <p:spPr>
          <a:xfrm>
            <a:off x="457200" y="2880360"/>
            <a:ext cx="11274552" cy="365760"/>
          </a:xfrm>
          <a:prstGeom prst="rect">
            <a:avLst/>
          </a:prstGeom>
          <a:noFill/>
          <a:ln/>
        </p:spPr>
        <p:txBody>
          <a:bodyPr wrap="square" rtlCol="0" anchor="ctr"/>
          <a:lstStyle/>
          <a:p>
            <a:pPr indent="0" marL="0">
              <a:buNone/>
            </a:pPr>
            <a:r>
              <a:rPr lang="en-US" sz="1500" b="1" dirty="0">
                <a:solidFill>
                  <a:srgbClr val="E4CD8B"/>
                </a:solidFill>
                <a:latin typeface="Cambria" pitchFamily="34" charset="0"/>
                <a:ea typeface="Cambria" pitchFamily="34" charset="-122"/>
                <a:cs typeface="Cambria" pitchFamily="34" charset="-120"/>
              </a:rPr>
              <a:t>Key Operational Metrics</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254910"/>
                <a:gridCol w="2254910"/>
                <a:gridCol w="2254910"/>
                <a:gridCol w="2254910"/>
                <a:gridCol w="2254910"/>
              </a:tblGrid>
              <a:tr h="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FY2022</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FY2023</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FY2024</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FY2025</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Crude Oil Production (mmboe)</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19.1</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19.4</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19.8</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20.1</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Gas Production (bcm)</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4.8</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5.1</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5.3</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5.5</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Refinery Throughput (mmt)</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16.2</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16.8</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17.1</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17.4</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LTIF Rate</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0.32</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0.28</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0.24</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0.21</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Flaring Intensity (m³/toe)</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3.1</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2.8</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E4D44"/>
          </a:solidFill>
          <a:ln/>
        </p:spPr>
      </p:sp>
      <p:sp>
        <p:nvSpPr>
          <p:cNvPr id="3" name="Text 1"/>
          <p:cNvSpPr/>
          <p:nvPr/>
        </p:nvSpPr>
        <p:spPr>
          <a:xfrm>
            <a:off x="457200" y="320040"/>
            <a:ext cx="11274552" cy="548640"/>
          </a:xfrm>
          <a:prstGeom prst="rect">
            <a:avLst/>
          </a:prstGeom>
          <a:noFill/>
          <a:ln/>
        </p:spPr>
        <p:txBody>
          <a:bodyPr wrap="square" rtlCol="0" anchor="ctr"/>
          <a:lstStyle/>
          <a:p>
            <a:pPr indent="0" marL="0">
              <a:buNone/>
            </a:pPr>
            <a:r>
              <a:rPr lang="en-US" sz="2800" b="1" dirty="0">
                <a:solidFill>
                  <a:srgbClr val="E4CD8B"/>
                </a:solidFill>
                <a:latin typeface="Cambria" pitchFamily="34" charset="0"/>
                <a:ea typeface="Cambria" pitchFamily="34" charset="-122"/>
                <a:cs typeface="Cambria" pitchFamily="34" charset="-120"/>
              </a:rPr>
              <a:t>Business Segments &amp; Asset Portfolio</a:t>
            </a:r>
            <a:endParaRPr lang="en-US" sz="2800" dirty="0"/>
          </a:p>
        </p:txBody>
      </p:sp>
      <p:sp>
        <p:nvSpPr>
          <p:cNvPr id="4" name="Shape 2"/>
          <p:cNvSpPr/>
          <p:nvPr/>
        </p:nvSpPr>
        <p:spPr>
          <a:xfrm>
            <a:off x="457200" y="960120"/>
            <a:ext cx="11274552" cy="36576"/>
          </a:xfrm>
          <a:prstGeom prst="rect">
            <a:avLst/>
          </a:prstGeom>
          <a:solidFill>
            <a:srgbClr val="C9A24B"/>
          </a:solidFill>
          <a:ln/>
        </p:spPr>
      </p:sp>
      <p:sp>
        <p:nvSpPr>
          <p:cNvPr id="5" name="Shape 3"/>
          <p:cNvSpPr/>
          <p:nvPr/>
        </p:nvSpPr>
        <p:spPr>
          <a:xfrm>
            <a:off x="457200" y="1097280"/>
            <a:ext cx="3657600" cy="5394960"/>
          </a:xfrm>
          <a:prstGeom prst="rect">
            <a:avLst>
              <a:gd name="adj" fmla="val 2500"/>
            </a:avLst>
          </a:prstGeom>
          <a:solidFill>
            <a:srgbClr val="0A3A33"/>
          </a:solidFill>
          <a:ln w="9525">
            <a:solidFill>
              <a:srgbClr val="C9A24B"/>
            </a:solidFill>
            <a:prstDash val="solid"/>
          </a:ln>
        </p:spPr>
      </p:sp>
      <p:sp>
        <p:nvSpPr>
          <p:cNvPr id="6" name="Text 4"/>
          <p:cNvSpPr/>
          <p:nvPr/>
        </p:nvSpPr>
        <p:spPr>
          <a:xfrm>
            <a:off x="640080" y="1234440"/>
            <a:ext cx="3291840" cy="457200"/>
          </a:xfrm>
          <a:prstGeom prst="rect">
            <a:avLst/>
          </a:prstGeom>
          <a:noFill/>
          <a:ln/>
        </p:spPr>
        <p:txBody>
          <a:bodyPr wrap="square" rtlCol="0" anchor="ctr"/>
          <a:lstStyle/>
          <a:p>
            <a:pPr indent="0" marL="0">
              <a:buNone/>
            </a:pPr>
            <a:r>
              <a:rPr lang="en-US" sz="1500" b="1" dirty="0">
                <a:solidFill>
                  <a:srgbClr val="C9A24B"/>
                </a:solidFill>
                <a:latin typeface="Cambria" pitchFamily="34" charset="0"/>
                <a:ea typeface="Cambria" pitchFamily="34" charset="-122"/>
                <a:cs typeface="Cambria" pitchFamily="34" charset="-120"/>
              </a:rPr>
              <a:t>Upstream (E&amp;P)</a:t>
            </a:r>
            <a:endParaRPr lang="en-US" sz="1500" dirty="0"/>
          </a:p>
        </p:txBody>
      </p:sp>
      <p:sp>
        <p:nvSpPr>
          <p:cNvPr id="7" name="Shape 5"/>
          <p:cNvSpPr/>
          <p:nvPr/>
        </p:nvSpPr>
        <p:spPr>
          <a:xfrm>
            <a:off x="640080" y="1737360"/>
            <a:ext cx="3291840" cy="36576"/>
          </a:xfrm>
          <a:prstGeom prst="rect">
            <a:avLst/>
          </a:prstGeom>
          <a:solidFill>
            <a:srgbClr val="000000"/>
          </a:solidFill>
          <a:ln/>
        </p:spPr>
      </p:sp>
      <p:sp>
        <p:nvSpPr>
          <p:cNvPr id="8" name="Shape 6"/>
          <p:cNvSpPr/>
          <p:nvPr/>
        </p:nvSpPr>
        <p:spPr>
          <a:xfrm>
            <a:off x="685800" y="1874520"/>
            <a:ext cx="137160" cy="137160"/>
          </a:xfrm>
          <a:prstGeom prst="rect">
            <a:avLst>
              <a:gd name="adj" fmla="val 13333"/>
            </a:avLst>
          </a:prstGeom>
          <a:solidFill>
            <a:srgbClr val="C9A24B"/>
          </a:solidFill>
          <a:ln/>
        </p:spPr>
      </p:sp>
      <p:sp>
        <p:nvSpPr>
          <p:cNvPr id="9" name="Text 7"/>
          <p:cNvSpPr/>
          <p:nvPr/>
        </p:nvSpPr>
        <p:spPr>
          <a:xfrm>
            <a:off x="914400" y="1828800"/>
            <a:ext cx="3017520" cy="640080"/>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Tengizchevroil (20%) — 590 kbbl/d gross</a:t>
            </a:r>
            <a:endParaRPr lang="en-US" sz="1150" dirty="0"/>
          </a:p>
        </p:txBody>
      </p:sp>
      <p:sp>
        <p:nvSpPr>
          <p:cNvPr id="10" name="Shape 8"/>
          <p:cNvSpPr/>
          <p:nvPr/>
        </p:nvSpPr>
        <p:spPr>
          <a:xfrm>
            <a:off x="685800" y="2624328"/>
            <a:ext cx="137160" cy="137160"/>
          </a:xfrm>
          <a:prstGeom prst="rect">
            <a:avLst>
              <a:gd name="adj" fmla="val 13333"/>
            </a:avLst>
          </a:prstGeom>
          <a:solidFill>
            <a:srgbClr val="C9A24B"/>
          </a:solidFill>
          <a:ln/>
        </p:spPr>
      </p:sp>
      <p:sp>
        <p:nvSpPr>
          <p:cNvPr id="11" name="Text 9"/>
          <p:cNvSpPr/>
          <p:nvPr/>
        </p:nvSpPr>
        <p:spPr>
          <a:xfrm>
            <a:off x="914400" y="2578608"/>
            <a:ext cx="3017520" cy="640080"/>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Kashagan (8.44%) — 400 kbbl/d gross</a:t>
            </a:r>
            <a:endParaRPr lang="en-US" sz="1150" dirty="0"/>
          </a:p>
        </p:txBody>
      </p:sp>
      <p:sp>
        <p:nvSpPr>
          <p:cNvPr id="12" name="Shape 10"/>
          <p:cNvSpPr/>
          <p:nvPr/>
        </p:nvSpPr>
        <p:spPr>
          <a:xfrm>
            <a:off x="685800" y="3374136"/>
            <a:ext cx="137160" cy="137160"/>
          </a:xfrm>
          <a:prstGeom prst="rect">
            <a:avLst>
              <a:gd name="adj" fmla="val 13333"/>
            </a:avLst>
          </a:prstGeom>
          <a:solidFill>
            <a:srgbClr val="C9A24B"/>
          </a:solidFill>
          <a:ln/>
        </p:spPr>
      </p:sp>
      <p:sp>
        <p:nvSpPr>
          <p:cNvPr id="13" name="Text 11"/>
          <p:cNvSpPr/>
          <p:nvPr/>
        </p:nvSpPr>
        <p:spPr>
          <a:xfrm>
            <a:off x="914400" y="3328416"/>
            <a:ext cx="3017520" cy="640080"/>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CNPC-AktobeMunaiGas (50%)</a:t>
            </a:r>
            <a:endParaRPr lang="en-US" sz="1150" dirty="0"/>
          </a:p>
        </p:txBody>
      </p:sp>
      <p:sp>
        <p:nvSpPr>
          <p:cNvPr id="14" name="Shape 12"/>
          <p:cNvSpPr/>
          <p:nvPr/>
        </p:nvSpPr>
        <p:spPr>
          <a:xfrm>
            <a:off x="685800" y="4123944"/>
            <a:ext cx="137160" cy="137160"/>
          </a:xfrm>
          <a:prstGeom prst="rect">
            <a:avLst>
              <a:gd name="adj" fmla="val 13333"/>
            </a:avLst>
          </a:prstGeom>
          <a:solidFill>
            <a:srgbClr val="C9A24B"/>
          </a:solidFill>
          <a:ln/>
        </p:spPr>
      </p:sp>
      <p:sp>
        <p:nvSpPr>
          <p:cNvPr id="15" name="Text 13"/>
          <p:cNvSpPr/>
          <p:nvPr/>
        </p:nvSpPr>
        <p:spPr>
          <a:xfrm>
            <a:off x="914400" y="4078224"/>
            <a:ext cx="3017520" cy="640080"/>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KMG EP (100%) — domestic fields</a:t>
            </a:r>
            <a:endParaRPr lang="en-US" sz="1150" dirty="0"/>
          </a:p>
        </p:txBody>
      </p:sp>
      <p:sp>
        <p:nvSpPr>
          <p:cNvPr id="16" name="Shape 14"/>
          <p:cNvSpPr/>
          <p:nvPr/>
        </p:nvSpPr>
        <p:spPr>
          <a:xfrm>
            <a:off x="685800" y="4873752"/>
            <a:ext cx="137160" cy="137160"/>
          </a:xfrm>
          <a:prstGeom prst="rect">
            <a:avLst>
              <a:gd name="adj" fmla="val 13333"/>
            </a:avLst>
          </a:prstGeom>
          <a:solidFill>
            <a:srgbClr val="C9A24B"/>
          </a:solidFill>
          <a:ln/>
        </p:spPr>
      </p:sp>
      <p:sp>
        <p:nvSpPr>
          <p:cNvPr id="17" name="Text 15"/>
          <p:cNvSpPr/>
          <p:nvPr/>
        </p:nvSpPr>
        <p:spPr>
          <a:xfrm>
            <a:off x="914400" y="4828032"/>
            <a:ext cx="3017520" cy="640080"/>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International: Romania (KMG Int'l), Netherlands</a:t>
            </a:r>
            <a:endParaRPr lang="en-US" sz="1150" dirty="0"/>
          </a:p>
        </p:txBody>
      </p:sp>
      <p:sp>
        <p:nvSpPr>
          <p:cNvPr id="18" name="Shape 16"/>
          <p:cNvSpPr/>
          <p:nvPr/>
        </p:nvSpPr>
        <p:spPr>
          <a:xfrm>
            <a:off x="4389120" y="1097280"/>
            <a:ext cx="3657600" cy="5394960"/>
          </a:xfrm>
          <a:prstGeom prst="rect">
            <a:avLst>
              <a:gd name="adj" fmla="val 2500"/>
            </a:avLst>
          </a:prstGeom>
          <a:solidFill>
            <a:srgbClr val="0A3A33"/>
          </a:solidFill>
          <a:ln w="9525">
            <a:solidFill>
              <a:srgbClr val="C9A24B"/>
            </a:solidFill>
            <a:prstDash val="solid"/>
          </a:ln>
        </p:spPr>
      </p:sp>
      <p:sp>
        <p:nvSpPr>
          <p:cNvPr id="19" name="Text 17"/>
          <p:cNvSpPr/>
          <p:nvPr/>
        </p:nvSpPr>
        <p:spPr>
          <a:xfrm>
            <a:off x="4572000" y="1234440"/>
            <a:ext cx="3291840" cy="457200"/>
          </a:xfrm>
          <a:prstGeom prst="rect">
            <a:avLst/>
          </a:prstGeom>
          <a:noFill/>
          <a:ln/>
        </p:spPr>
        <p:txBody>
          <a:bodyPr wrap="square" rtlCol="0" anchor="ctr"/>
          <a:lstStyle/>
          <a:p>
            <a:pPr indent="0" marL="0">
              <a:buNone/>
            </a:pPr>
            <a:r>
              <a:rPr lang="en-US" sz="1500" b="1" dirty="0">
                <a:solidFill>
                  <a:srgbClr val="C9A24B"/>
                </a:solidFill>
                <a:latin typeface="Cambria" pitchFamily="34" charset="0"/>
                <a:ea typeface="Cambria" pitchFamily="34" charset="-122"/>
                <a:cs typeface="Cambria" pitchFamily="34" charset="-120"/>
              </a:rPr>
              <a:t>Midstream</a:t>
            </a:r>
            <a:endParaRPr lang="en-US" sz="1500" dirty="0"/>
          </a:p>
        </p:txBody>
      </p:sp>
      <p:sp>
        <p:nvSpPr>
          <p:cNvPr id="20" name="Shape 18"/>
          <p:cNvSpPr/>
          <p:nvPr/>
        </p:nvSpPr>
        <p:spPr>
          <a:xfrm>
            <a:off x="4572000" y="1737360"/>
            <a:ext cx="3291840" cy="36576"/>
          </a:xfrm>
          <a:prstGeom prst="rect">
            <a:avLst/>
          </a:prstGeom>
          <a:solidFill>
            <a:srgbClr val="000000"/>
          </a:solidFill>
          <a:ln/>
        </p:spPr>
      </p:sp>
      <p:sp>
        <p:nvSpPr>
          <p:cNvPr id="21" name="Shape 19"/>
          <p:cNvSpPr/>
          <p:nvPr/>
        </p:nvSpPr>
        <p:spPr>
          <a:xfrm>
            <a:off x="4617720" y="1874520"/>
            <a:ext cx="137160" cy="137160"/>
          </a:xfrm>
          <a:prstGeom prst="rect">
            <a:avLst>
              <a:gd name="adj" fmla="val 13333"/>
            </a:avLst>
          </a:prstGeom>
          <a:solidFill>
            <a:srgbClr val="C9A24B"/>
          </a:solidFill>
          <a:ln/>
        </p:spPr>
      </p:sp>
      <p:sp>
        <p:nvSpPr>
          <p:cNvPr id="22" name="Text 20"/>
          <p:cNvSpPr/>
          <p:nvPr/>
        </p:nvSpPr>
        <p:spPr>
          <a:xfrm>
            <a:off x="4846320" y="1828800"/>
            <a:ext cx="3017520" cy="640080"/>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KazTransOil — Kazakhstan's trunk pipeline</a:t>
            </a:r>
            <a:endParaRPr lang="en-US" sz="1150" dirty="0"/>
          </a:p>
        </p:txBody>
      </p:sp>
      <p:sp>
        <p:nvSpPr>
          <p:cNvPr id="23" name="Shape 21"/>
          <p:cNvSpPr/>
          <p:nvPr/>
        </p:nvSpPr>
        <p:spPr>
          <a:xfrm>
            <a:off x="4617720" y="2624328"/>
            <a:ext cx="137160" cy="137160"/>
          </a:xfrm>
          <a:prstGeom prst="rect">
            <a:avLst>
              <a:gd name="adj" fmla="val 13333"/>
            </a:avLst>
          </a:prstGeom>
          <a:solidFill>
            <a:srgbClr val="C9A24B"/>
          </a:solidFill>
          <a:ln/>
        </p:spPr>
      </p:sp>
      <p:sp>
        <p:nvSpPr>
          <p:cNvPr id="24" name="Text 22"/>
          <p:cNvSpPr/>
          <p:nvPr/>
        </p:nvSpPr>
        <p:spPr>
          <a:xfrm>
            <a:off x="4846320" y="2578608"/>
            <a:ext cx="3017520" cy="640080"/>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KazTransGaz — gas trunk network</a:t>
            </a:r>
            <a:endParaRPr lang="en-US" sz="1150" dirty="0"/>
          </a:p>
        </p:txBody>
      </p:sp>
      <p:sp>
        <p:nvSpPr>
          <p:cNvPr id="25" name="Shape 23"/>
          <p:cNvSpPr/>
          <p:nvPr/>
        </p:nvSpPr>
        <p:spPr>
          <a:xfrm>
            <a:off x="4617720" y="3374136"/>
            <a:ext cx="137160" cy="137160"/>
          </a:xfrm>
          <a:prstGeom prst="rect">
            <a:avLst>
              <a:gd name="adj" fmla="val 13333"/>
            </a:avLst>
          </a:prstGeom>
          <a:solidFill>
            <a:srgbClr val="C9A24B"/>
          </a:solidFill>
          <a:ln/>
        </p:spPr>
      </p:sp>
      <p:sp>
        <p:nvSpPr>
          <p:cNvPr id="26" name="Text 24"/>
          <p:cNvSpPr/>
          <p:nvPr/>
        </p:nvSpPr>
        <p:spPr>
          <a:xfrm>
            <a:off x="4846320" y="3328416"/>
            <a:ext cx="3017520" cy="640080"/>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KMG Rompetrol — transit &amp; trading</a:t>
            </a:r>
            <a:endParaRPr lang="en-US" sz="1150" dirty="0"/>
          </a:p>
        </p:txBody>
      </p:sp>
      <p:sp>
        <p:nvSpPr>
          <p:cNvPr id="27" name="Shape 25"/>
          <p:cNvSpPr/>
          <p:nvPr/>
        </p:nvSpPr>
        <p:spPr>
          <a:xfrm>
            <a:off x="4617720" y="4123944"/>
            <a:ext cx="137160" cy="137160"/>
          </a:xfrm>
          <a:prstGeom prst="rect">
            <a:avLst>
              <a:gd name="adj" fmla="val 13333"/>
            </a:avLst>
          </a:prstGeom>
          <a:solidFill>
            <a:srgbClr val="C9A24B"/>
          </a:solidFill>
          <a:ln/>
        </p:spPr>
      </p:sp>
      <p:sp>
        <p:nvSpPr>
          <p:cNvPr id="28" name="Text 26"/>
          <p:cNvSpPr/>
          <p:nvPr/>
        </p:nvSpPr>
        <p:spPr>
          <a:xfrm>
            <a:off x="4846320" y="4078224"/>
            <a:ext cx="3017520" cy="640080"/>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Caspian Pipeline Consortium (CPC) participation</a:t>
            </a:r>
            <a:endParaRPr lang="en-US" sz="1150" dirty="0"/>
          </a:p>
        </p:txBody>
      </p:sp>
      <p:sp>
        <p:nvSpPr>
          <p:cNvPr id="29" name="Shape 27"/>
          <p:cNvSpPr/>
          <p:nvPr/>
        </p:nvSpPr>
        <p:spPr>
          <a:xfrm>
            <a:off x="4617720" y="4873752"/>
            <a:ext cx="137160" cy="137160"/>
          </a:xfrm>
          <a:prstGeom prst="rect">
            <a:avLst>
              <a:gd name="adj" fmla="val 13333"/>
            </a:avLst>
          </a:prstGeom>
          <a:solidFill>
            <a:srgbClr val="C9A24B"/>
          </a:solidFill>
          <a:ln/>
        </p:spPr>
      </p:sp>
      <p:sp>
        <p:nvSpPr>
          <p:cNvPr id="30" name="Text 28"/>
          <p:cNvSpPr/>
          <p:nvPr/>
        </p:nvSpPr>
        <p:spPr>
          <a:xfrm>
            <a:off x="4846320" y="4828032"/>
            <a:ext cx="3017520" cy="640080"/>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LNG and gas exports via Russia route</a:t>
            </a:r>
            <a:endParaRPr lang="en-US" sz="1150" dirty="0"/>
          </a:p>
        </p:txBody>
      </p:sp>
      <p:sp>
        <p:nvSpPr>
          <p:cNvPr id="31" name="Shape 29"/>
          <p:cNvSpPr/>
          <p:nvPr/>
        </p:nvSpPr>
        <p:spPr>
          <a:xfrm>
            <a:off x="8321040" y="1097280"/>
            <a:ext cx="3657600" cy="5394960"/>
          </a:xfrm>
          <a:prstGeom prst="rect">
            <a:avLst>
              <a:gd name="adj" fmla="val 2500"/>
            </a:avLst>
          </a:prstGeom>
          <a:solidFill>
            <a:srgbClr val="0A3A33"/>
          </a:solidFill>
          <a:ln w="9525">
            <a:solidFill>
              <a:srgbClr val="C9A24B"/>
            </a:solidFill>
            <a:prstDash val="solid"/>
          </a:ln>
        </p:spPr>
      </p:sp>
      <p:sp>
        <p:nvSpPr>
          <p:cNvPr id="32" name="Text 30"/>
          <p:cNvSpPr/>
          <p:nvPr/>
        </p:nvSpPr>
        <p:spPr>
          <a:xfrm>
            <a:off x="8503920" y="1234440"/>
            <a:ext cx="3291840" cy="457200"/>
          </a:xfrm>
          <a:prstGeom prst="rect">
            <a:avLst/>
          </a:prstGeom>
          <a:noFill/>
          <a:ln/>
        </p:spPr>
        <p:txBody>
          <a:bodyPr wrap="square" rtlCol="0" anchor="ctr"/>
          <a:lstStyle/>
          <a:p>
            <a:pPr indent="0" marL="0">
              <a:buNone/>
            </a:pPr>
            <a:r>
              <a:rPr lang="en-US" sz="1500" b="1" dirty="0">
                <a:solidFill>
                  <a:srgbClr val="C9A24B"/>
                </a:solidFill>
                <a:latin typeface="Cambria" pitchFamily="34" charset="0"/>
                <a:ea typeface="Cambria" pitchFamily="34" charset="-122"/>
                <a:cs typeface="Cambria" pitchFamily="34" charset="-120"/>
              </a:rPr>
              <a:t>Downstream</a:t>
            </a:r>
            <a:endParaRPr lang="en-US" sz="1500" dirty="0"/>
          </a:p>
        </p:txBody>
      </p:sp>
      <p:sp>
        <p:nvSpPr>
          <p:cNvPr id="33" name="Shape 31"/>
          <p:cNvSpPr/>
          <p:nvPr/>
        </p:nvSpPr>
        <p:spPr>
          <a:xfrm>
            <a:off x="8503920" y="1737360"/>
            <a:ext cx="3291840" cy="36576"/>
          </a:xfrm>
          <a:prstGeom prst="rect">
            <a:avLst/>
          </a:prstGeom>
          <a:solidFill>
            <a:srgbClr val="000000"/>
          </a:solidFill>
          <a:ln/>
        </p:spPr>
      </p:sp>
      <p:sp>
        <p:nvSpPr>
          <p:cNvPr id="34" name="Shape 32"/>
          <p:cNvSpPr/>
          <p:nvPr/>
        </p:nvSpPr>
        <p:spPr>
          <a:xfrm>
            <a:off x="8549640" y="1874520"/>
            <a:ext cx="137160" cy="137160"/>
          </a:xfrm>
          <a:prstGeom prst="rect">
            <a:avLst>
              <a:gd name="adj" fmla="val 13333"/>
            </a:avLst>
          </a:prstGeom>
          <a:solidFill>
            <a:srgbClr val="C9A24B"/>
          </a:solidFill>
          <a:ln/>
        </p:spPr>
      </p:sp>
      <p:sp>
        <p:nvSpPr>
          <p:cNvPr id="35" name="Text 33"/>
          <p:cNvSpPr/>
          <p:nvPr/>
        </p:nvSpPr>
        <p:spPr>
          <a:xfrm>
            <a:off x="8778240" y="1828800"/>
            <a:ext cx="3017520" cy="640080"/>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Atyrau Refinery (100%)</a:t>
            </a:r>
            <a:endParaRPr lang="en-US" sz="1150" dirty="0"/>
          </a:p>
        </p:txBody>
      </p:sp>
      <p:sp>
        <p:nvSpPr>
          <p:cNvPr id="36" name="Shape 34"/>
          <p:cNvSpPr/>
          <p:nvPr/>
        </p:nvSpPr>
        <p:spPr>
          <a:xfrm>
            <a:off x="8549640" y="2624328"/>
            <a:ext cx="137160" cy="137160"/>
          </a:xfrm>
          <a:prstGeom prst="rect">
            <a:avLst>
              <a:gd name="adj" fmla="val 13333"/>
            </a:avLst>
          </a:prstGeom>
          <a:solidFill>
            <a:srgbClr val="C9A24B"/>
          </a:solidFill>
          <a:ln/>
        </p:spPr>
      </p:sp>
      <p:sp>
        <p:nvSpPr>
          <p:cNvPr id="37" name="Text 35"/>
          <p:cNvSpPr/>
          <p:nvPr/>
        </p:nvSpPr>
        <p:spPr>
          <a:xfrm>
            <a:off x="8778240" y="2578608"/>
            <a:ext cx="3017520" cy="640080"/>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Shymkent Refinery (50%)</a:t>
            </a:r>
            <a:endParaRPr lang="en-US" sz="1150" dirty="0"/>
          </a:p>
        </p:txBody>
      </p:sp>
      <p:sp>
        <p:nvSpPr>
          <p:cNvPr id="38" name="Shape 36"/>
          <p:cNvSpPr/>
          <p:nvPr/>
        </p:nvSpPr>
        <p:spPr>
          <a:xfrm>
            <a:off x="8549640" y="3374136"/>
            <a:ext cx="137160" cy="137160"/>
          </a:xfrm>
          <a:prstGeom prst="rect">
            <a:avLst>
              <a:gd name="adj" fmla="val 13333"/>
            </a:avLst>
          </a:prstGeom>
          <a:solidFill>
            <a:srgbClr val="C9A24B"/>
          </a:solidFill>
          <a:ln/>
        </p:spPr>
      </p:sp>
      <p:sp>
        <p:nvSpPr>
          <p:cNvPr id="39" name="Text 37"/>
          <p:cNvSpPr/>
          <p:nvPr/>
        </p:nvSpPr>
        <p:spPr>
          <a:xfrm>
            <a:off x="8778240" y="3328416"/>
            <a:ext cx="3017520" cy="640080"/>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Pavlodar Petrochemical Plant (58%)</a:t>
            </a:r>
            <a:endParaRPr lang="en-US" sz="1150" dirty="0"/>
          </a:p>
        </p:txBody>
      </p:sp>
      <p:sp>
        <p:nvSpPr>
          <p:cNvPr id="40" name="Shape 38"/>
          <p:cNvSpPr/>
          <p:nvPr/>
        </p:nvSpPr>
        <p:spPr>
          <a:xfrm>
            <a:off x="8549640" y="4123944"/>
            <a:ext cx="137160" cy="137160"/>
          </a:xfrm>
          <a:prstGeom prst="rect">
            <a:avLst>
              <a:gd name="adj" fmla="val 13333"/>
            </a:avLst>
          </a:prstGeom>
          <a:solidFill>
            <a:srgbClr val="C9A24B"/>
          </a:solidFill>
          <a:ln/>
        </p:spPr>
      </p:sp>
      <p:sp>
        <p:nvSpPr>
          <p:cNvPr id="41" name="Text 39"/>
          <p:cNvSpPr/>
          <p:nvPr/>
        </p:nvSpPr>
        <p:spPr>
          <a:xfrm>
            <a:off x="8778240" y="4078224"/>
            <a:ext cx="3017520" cy="640080"/>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Rompetrol Rafinare (Romania, 54.6%)</a:t>
            </a:r>
            <a:endParaRPr lang="en-US" sz="1150" dirty="0"/>
          </a:p>
        </p:txBody>
      </p:sp>
      <p:sp>
        <p:nvSpPr>
          <p:cNvPr id="42" name="Shape 40"/>
          <p:cNvSpPr/>
          <p:nvPr/>
        </p:nvSpPr>
        <p:spPr>
          <a:xfrm>
            <a:off x="8549640" y="4873752"/>
            <a:ext cx="137160" cy="137160"/>
          </a:xfrm>
          <a:prstGeom prst="rect">
            <a:avLst>
              <a:gd name="adj" fmla="val 13333"/>
            </a:avLst>
          </a:prstGeom>
          <a:solidFill>
            <a:srgbClr val="C9A24B"/>
          </a:solidFill>
          <a:ln/>
        </p:spPr>
      </p:sp>
      <p:sp>
        <p:nvSpPr>
          <p:cNvPr id="43" name="Text 41"/>
          <p:cNvSpPr/>
          <p:nvPr/>
        </p:nvSpPr>
        <p:spPr>
          <a:xfrm>
            <a:off x="8778240" y="4828032"/>
            <a:ext cx="3017520" cy="640080"/>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Retail network: 865 fuel stations (KZ)</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A3A33"/>
          </a:solidFill>
          <a:ln/>
        </p:spPr>
      </p:sp>
      <p:sp>
        <p:nvSpPr>
          <p:cNvPr id="3" name="Text 1"/>
          <p:cNvSpPr/>
          <p:nvPr/>
        </p:nvSpPr>
        <p:spPr>
          <a:xfrm>
            <a:off x="457200" y="320040"/>
            <a:ext cx="11274552" cy="548640"/>
          </a:xfrm>
          <a:prstGeom prst="rect">
            <a:avLst/>
          </a:prstGeom>
          <a:noFill/>
          <a:ln/>
        </p:spPr>
        <p:txBody>
          <a:bodyPr wrap="square" rtlCol="0" anchor="ctr"/>
          <a:lstStyle/>
          <a:p>
            <a:pPr indent="0" marL="0">
              <a:buNone/>
            </a:pPr>
            <a:r>
              <a:rPr lang="en-US" sz="2800" b="1" dirty="0">
                <a:solidFill>
                  <a:srgbClr val="E4CD8B"/>
                </a:solidFill>
                <a:latin typeface="Cambria" pitchFamily="34" charset="0"/>
                <a:ea typeface="Cambria" pitchFamily="34" charset="-122"/>
                <a:cs typeface="Cambria" pitchFamily="34" charset="-120"/>
              </a:rPr>
              <a:t>Strategic Projects &amp; Growth Pipeline</a:t>
            </a:r>
            <a:endParaRPr lang="en-US" sz="2800" dirty="0"/>
          </a:p>
        </p:txBody>
      </p:sp>
      <p:sp>
        <p:nvSpPr>
          <p:cNvPr id="4" name="Shape 2"/>
          <p:cNvSpPr/>
          <p:nvPr/>
        </p:nvSpPr>
        <p:spPr>
          <a:xfrm>
            <a:off x="457200" y="960120"/>
            <a:ext cx="11274552" cy="36576"/>
          </a:xfrm>
          <a:prstGeom prst="rect">
            <a:avLst/>
          </a:prstGeom>
          <a:solidFill>
            <a:srgbClr val="C9A24B"/>
          </a:solidFill>
          <a:ln/>
        </p:spPr>
      </p:sp>
      <p:sp>
        <p:nvSpPr>
          <p:cNvPr id="5" name="Shape 3"/>
          <p:cNvSpPr/>
          <p:nvPr/>
        </p:nvSpPr>
        <p:spPr>
          <a:xfrm>
            <a:off x="457200" y="1143000"/>
            <a:ext cx="5394960" cy="1508760"/>
          </a:xfrm>
          <a:prstGeom prst="rect">
            <a:avLst>
              <a:gd name="adj" fmla="val 4848"/>
            </a:avLst>
          </a:prstGeom>
          <a:solidFill>
            <a:srgbClr val="0E4D44"/>
          </a:solidFill>
          <a:ln w="6350">
            <a:solidFill>
              <a:srgbClr val="2A8070"/>
            </a:solidFill>
            <a:prstDash val="solid"/>
          </a:ln>
        </p:spPr>
      </p:sp>
      <p:sp>
        <p:nvSpPr>
          <p:cNvPr id="6" name="Text 4"/>
          <p:cNvSpPr/>
          <p:nvPr/>
        </p:nvSpPr>
        <p:spPr>
          <a:xfrm>
            <a:off x="621792" y="1252728"/>
            <a:ext cx="4114800" cy="36576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TCO Future Growth Project (FGP)</a:t>
            </a:r>
            <a:endParaRPr lang="en-US" sz="1300" dirty="0"/>
          </a:p>
        </p:txBody>
      </p:sp>
      <p:sp>
        <p:nvSpPr>
          <p:cNvPr id="7" name="Shape 5"/>
          <p:cNvSpPr/>
          <p:nvPr/>
        </p:nvSpPr>
        <p:spPr>
          <a:xfrm>
            <a:off x="4846320" y="1280160"/>
            <a:ext cx="822960" cy="274320"/>
          </a:xfrm>
          <a:prstGeom prst="rect">
            <a:avLst>
              <a:gd name="adj" fmla="val 13333"/>
            </a:avLst>
          </a:prstGeom>
          <a:solidFill>
            <a:srgbClr val="000000"/>
          </a:solidFill>
          <a:ln w="6350">
            <a:solidFill>
              <a:srgbClr val="2A9D6E"/>
            </a:solidFill>
            <a:prstDash val="solid"/>
          </a:ln>
        </p:spPr>
      </p:sp>
      <p:sp>
        <p:nvSpPr>
          <p:cNvPr id="8" name="Text 6"/>
          <p:cNvSpPr/>
          <p:nvPr/>
        </p:nvSpPr>
        <p:spPr>
          <a:xfrm>
            <a:off x="4846320" y="1280160"/>
            <a:ext cx="822960" cy="274320"/>
          </a:xfrm>
          <a:prstGeom prst="rect">
            <a:avLst/>
          </a:prstGeom>
          <a:noFill/>
          <a:ln/>
        </p:spPr>
        <p:txBody>
          <a:bodyPr wrap="square" rtlCol="0" anchor="ctr"/>
          <a:lstStyle/>
          <a:p>
            <a:pPr algn="ctr" indent="0" marL="0">
              <a:buNone/>
            </a:pPr>
            <a:r>
              <a:rPr lang="en-US" sz="900" b="1" dirty="0">
                <a:solidFill>
                  <a:srgbClr val="2A9D6E"/>
                </a:solidFill>
                <a:latin typeface="Calibri" pitchFamily="34" charset="0"/>
                <a:ea typeface="Calibri" pitchFamily="34" charset="-122"/>
                <a:cs typeface="Calibri" pitchFamily="34" charset="-120"/>
              </a:rPr>
              <a:t>Ramp-up</a:t>
            </a:r>
            <a:endParaRPr lang="en-US" sz="900" dirty="0"/>
          </a:p>
        </p:txBody>
      </p:sp>
      <p:sp>
        <p:nvSpPr>
          <p:cNvPr id="9" name="Text 7"/>
          <p:cNvSpPr/>
          <p:nvPr/>
        </p:nvSpPr>
        <p:spPr>
          <a:xfrm>
            <a:off x="621792" y="1673352"/>
            <a:ext cx="5074920" cy="868680"/>
          </a:xfrm>
          <a:prstGeom prst="rect">
            <a:avLst/>
          </a:prstGeom>
          <a:noFill/>
          <a:ln/>
        </p:spPr>
        <p:txBody>
          <a:bodyPr wrap="square" rtlCol="0" anchor="ctr"/>
          <a:lstStyle/>
          <a:p>
            <a:pPr indent="0" marL="0">
              <a:buNone/>
            </a:pPr>
            <a:r>
              <a:rPr lang="en-US" sz="1100" dirty="0">
                <a:solidFill>
                  <a:srgbClr val="AACCC5"/>
                </a:solidFill>
                <a:latin typeface="Calibri" pitchFamily="34" charset="0"/>
                <a:ea typeface="Calibri" pitchFamily="34" charset="-122"/>
                <a:cs typeface="Calibri" pitchFamily="34" charset="-120"/>
              </a:rPr>
              <a:t>Tengizchevroil capacity expansion to ~900 kbbl/d gross. KMG equity share ~120 kbbl/d additional production from 2024–2026 ramp-up.</a:t>
            </a:r>
            <a:endParaRPr lang="en-US" sz="1100" dirty="0"/>
          </a:p>
        </p:txBody>
      </p:sp>
      <p:sp>
        <p:nvSpPr>
          <p:cNvPr id="10" name="Shape 8"/>
          <p:cNvSpPr/>
          <p:nvPr/>
        </p:nvSpPr>
        <p:spPr>
          <a:xfrm>
            <a:off x="6217920" y="1143000"/>
            <a:ext cx="5394960" cy="1508760"/>
          </a:xfrm>
          <a:prstGeom prst="rect">
            <a:avLst>
              <a:gd name="adj" fmla="val 4848"/>
            </a:avLst>
          </a:prstGeom>
          <a:solidFill>
            <a:srgbClr val="0E4D44"/>
          </a:solidFill>
          <a:ln w="6350">
            <a:solidFill>
              <a:srgbClr val="2A8070"/>
            </a:solidFill>
            <a:prstDash val="solid"/>
          </a:ln>
        </p:spPr>
      </p:sp>
      <p:sp>
        <p:nvSpPr>
          <p:cNvPr id="11" name="Text 9"/>
          <p:cNvSpPr/>
          <p:nvPr/>
        </p:nvSpPr>
        <p:spPr>
          <a:xfrm>
            <a:off x="6382512" y="1252728"/>
            <a:ext cx="4114800" cy="36576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Kashagan Plateau Maintenance</a:t>
            </a:r>
            <a:endParaRPr lang="en-US" sz="1300" dirty="0"/>
          </a:p>
        </p:txBody>
      </p:sp>
      <p:sp>
        <p:nvSpPr>
          <p:cNvPr id="12" name="Shape 10"/>
          <p:cNvSpPr/>
          <p:nvPr/>
        </p:nvSpPr>
        <p:spPr>
          <a:xfrm>
            <a:off x="10607040" y="1280160"/>
            <a:ext cx="822960" cy="274320"/>
          </a:xfrm>
          <a:prstGeom prst="rect">
            <a:avLst>
              <a:gd name="adj" fmla="val 13333"/>
            </a:avLst>
          </a:prstGeom>
          <a:solidFill>
            <a:srgbClr val="000000"/>
          </a:solidFill>
          <a:ln w="6350">
            <a:solidFill>
              <a:srgbClr val="C9A24B"/>
            </a:solidFill>
            <a:prstDash val="solid"/>
          </a:ln>
        </p:spPr>
      </p:sp>
      <p:sp>
        <p:nvSpPr>
          <p:cNvPr id="13" name="Text 11"/>
          <p:cNvSpPr/>
          <p:nvPr/>
        </p:nvSpPr>
        <p:spPr>
          <a:xfrm>
            <a:off x="10607040" y="1280160"/>
            <a:ext cx="822960" cy="274320"/>
          </a:xfrm>
          <a:prstGeom prst="rect">
            <a:avLst/>
          </a:prstGeom>
          <a:noFill/>
          <a:ln/>
        </p:spPr>
        <p:txBody>
          <a:bodyPr wrap="square" rtlCol="0" anchor="ctr"/>
          <a:lstStyle/>
          <a:p>
            <a:pPr algn="ctr" indent="0" marL="0">
              <a:buNone/>
            </a:pPr>
            <a:r>
              <a:rPr lang="en-US" sz="900" b="1" dirty="0">
                <a:solidFill>
                  <a:srgbClr val="C9A24B"/>
                </a:solidFill>
                <a:latin typeface="Calibri" pitchFamily="34" charset="0"/>
                <a:ea typeface="Calibri" pitchFamily="34" charset="-122"/>
                <a:cs typeface="Calibri" pitchFamily="34" charset="-120"/>
              </a:rPr>
              <a:t>Ongoing</a:t>
            </a:r>
            <a:endParaRPr lang="en-US" sz="900" dirty="0"/>
          </a:p>
        </p:txBody>
      </p:sp>
      <p:sp>
        <p:nvSpPr>
          <p:cNvPr id="14" name="Text 12"/>
          <p:cNvSpPr/>
          <p:nvPr/>
        </p:nvSpPr>
        <p:spPr>
          <a:xfrm>
            <a:off x="6382512" y="1673352"/>
            <a:ext cx="5074920" cy="868680"/>
          </a:xfrm>
          <a:prstGeom prst="rect">
            <a:avLst/>
          </a:prstGeom>
          <a:noFill/>
          <a:ln/>
        </p:spPr>
        <p:txBody>
          <a:bodyPr wrap="square" rtlCol="0" anchor="ctr"/>
          <a:lstStyle/>
          <a:p>
            <a:pPr indent="0" marL="0">
              <a:buNone/>
            </a:pPr>
            <a:r>
              <a:rPr lang="en-US" sz="1100" dirty="0">
                <a:solidFill>
                  <a:srgbClr val="AACCC5"/>
                </a:solidFill>
                <a:latin typeface="Calibri" pitchFamily="34" charset="0"/>
                <a:ea typeface="Calibri" pitchFamily="34" charset="-122"/>
                <a:cs typeface="Calibri" pitchFamily="34" charset="-120"/>
              </a:rPr>
              <a:t>Sustaining production at ~400 kbbl/d gross through 2028. Enhanced gas injection to maximise recovery from the supergiant carbonate field.</a:t>
            </a:r>
            <a:endParaRPr lang="en-US" sz="1100" dirty="0"/>
          </a:p>
        </p:txBody>
      </p:sp>
      <p:sp>
        <p:nvSpPr>
          <p:cNvPr id="15" name="Shape 13"/>
          <p:cNvSpPr/>
          <p:nvPr/>
        </p:nvSpPr>
        <p:spPr>
          <a:xfrm>
            <a:off x="457200" y="2834640"/>
            <a:ext cx="5394960" cy="1508760"/>
          </a:xfrm>
          <a:prstGeom prst="rect">
            <a:avLst>
              <a:gd name="adj" fmla="val 4848"/>
            </a:avLst>
          </a:prstGeom>
          <a:solidFill>
            <a:srgbClr val="0E4D44"/>
          </a:solidFill>
          <a:ln w="6350">
            <a:solidFill>
              <a:srgbClr val="2A8070"/>
            </a:solidFill>
            <a:prstDash val="solid"/>
          </a:ln>
        </p:spPr>
      </p:sp>
      <p:sp>
        <p:nvSpPr>
          <p:cNvPr id="16" name="Text 14"/>
          <p:cNvSpPr/>
          <p:nvPr/>
        </p:nvSpPr>
        <p:spPr>
          <a:xfrm>
            <a:off x="621792" y="2944368"/>
            <a:ext cx="4114800" cy="36576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LNG Export Project</a:t>
            </a:r>
            <a:endParaRPr lang="en-US" sz="1300" dirty="0"/>
          </a:p>
        </p:txBody>
      </p:sp>
      <p:sp>
        <p:nvSpPr>
          <p:cNvPr id="17" name="Shape 15"/>
          <p:cNvSpPr/>
          <p:nvPr/>
        </p:nvSpPr>
        <p:spPr>
          <a:xfrm>
            <a:off x="4846320" y="2971800"/>
            <a:ext cx="822960" cy="274320"/>
          </a:xfrm>
          <a:prstGeom prst="rect">
            <a:avLst>
              <a:gd name="adj" fmla="val 13333"/>
            </a:avLst>
          </a:prstGeom>
          <a:solidFill>
            <a:srgbClr val="000000"/>
          </a:solidFill>
          <a:ln w="6350">
            <a:solidFill>
              <a:srgbClr val="5B7FA6"/>
            </a:solidFill>
            <a:prstDash val="solid"/>
          </a:ln>
        </p:spPr>
      </p:sp>
      <p:sp>
        <p:nvSpPr>
          <p:cNvPr id="18" name="Text 16"/>
          <p:cNvSpPr/>
          <p:nvPr/>
        </p:nvSpPr>
        <p:spPr>
          <a:xfrm>
            <a:off x="4846320" y="2971800"/>
            <a:ext cx="822960" cy="274320"/>
          </a:xfrm>
          <a:prstGeom prst="rect">
            <a:avLst/>
          </a:prstGeom>
          <a:noFill/>
          <a:ln/>
        </p:spPr>
        <p:txBody>
          <a:bodyPr wrap="square" rtlCol="0" anchor="ctr"/>
          <a:lstStyle/>
          <a:p>
            <a:pPr algn="ctr" indent="0" marL="0">
              <a:buNone/>
            </a:pPr>
            <a:r>
              <a:rPr lang="en-US" sz="900" b="1" dirty="0">
                <a:solidFill>
                  <a:srgbClr val="5B7FA6"/>
                </a:solidFill>
                <a:latin typeface="Calibri" pitchFamily="34" charset="0"/>
                <a:ea typeface="Calibri" pitchFamily="34" charset="-122"/>
                <a:cs typeface="Calibri" pitchFamily="34" charset="-120"/>
              </a:rPr>
              <a:t>FEED</a:t>
            </a:r>
            <a:endParaRPr lang="en-US" sz="900" dirty="0"/>
          </a:p>
        </p:txBody>
      </p:sp>
      <p:sp>
        <p:nvSpPr>
          <p:cNvPr id="19" name="Text 17"/>
          <p:cNvSpPr/>
          <p:nvPr/>
        </p:nvSpPr>
        <p:spPr>
          <a:xfrm>
            <a:off x="621792" y="3364992"/>
            <a:ext cx="5074920" cy="868680"/>
          </a:xfrm>
          <a:prstGeom prst="rect">
            <a:avLst/>
          </a:prstGeom>
          <a:noFill/>
          <a:ln/>
        </p:spPr>
        <p:txBody>
          <a:bodyPr wrap="square" rtlCol="0" anchor="ctr"/>
          <a:lstStyle/>
          <a:p>
            <a:pPr indent="0" marL="0">
              <a:buNone/>
            </a:pPr>
            <a:r>
              <a:rPr lang="en-US" sz="1100" dirty="0">
                <a:solidFill>
                  <a:srgbClr val="AACCC5"/>
                </a:solidFill>
                <a:latin typeface="Calibri" pitchFamily="34" charset="0"/>
                <a:ea typeface="Calibri" pitchFamily="34" charset="-122"/>
                <a:cs typeface="Calibri" pitchFamily="34" charset="-120"/>
              </a:rPr>
              <a:t>Feasibility study for LNG production targeting European and Asian markets. KMG partnering with international majors for technology transfer.</a:t>
            </a:r>
            <a:endParaRPr lang="en-US" sz="1100" dirty="0"/>
          </a:p>
        </p:txBody>
      </p:sp>
      <p:sp>
        <p:nvSpPr>
          <p:cNvPr id="20" name="Shape 18"/>
          <p:cNvSpPr/>
          <p:nvPr/>
        </p:nvSpPr>
        <p:spPr>
          <a:xfrm>
            <a:off x="6217920" y="2834640"/>
            <a:ext cx="5394960" cy="1508760"/>
          </a:xfrm>
          <a:prstGeom prst="rect">
            <a:avLst>
              <a:gd name="adj" fmla="val 4848"/>
            </a:avLst>
          </a:prstGeom>
          <a:solidFill>
            <a:srgbClr val="0E4D44"/>
          </a:solidFill>
          <a:ln w="6350">
            <a:solidFill>
              <a:srgbClr val="2A8070"/>
            </a:solidFill>
            <a:prstDash val="solid"/>
          </a:ln>
        </p:spPr>
      </p:sp>
      <p:sp>
        <p:nvSpPr>
          <p:cNvPr id="21" name="Text 19"/>
          <p:cNvSpPr/>
          <p:nvPr/>
        </p:nvSpPr>
        <p:spPr>
          <a:xfrm>
            <a:off x="6382512" y="2944368"/>
            <a:ext cx="4114800" cy="36576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Renewable Energy (100 MW)</a:t>
            </a:r>
            <a:endParaRPr lang="en-US" sz="1300" dirty="0"/>
          </a:p>
        </p:txBody>
      </p:sp>
      <p:sp>
        <p:nvSpPr>
          <p:cNvPr id="22" name="Shape 20"/>
          <p:cNvSpPr/>
          <p:nvPr/>
        </p:nvSpPr>
        <p:spPr>
          <a:xfrm>
            <a:off x="10607040" y="2971800"/>
            <a:ext cx="822960" cy="274320"/>
          </a:xfrm>
          <a:prstGeom prst="rect">
            <a:avLst>
              <a:gd name="adj" fmla="val 13333"/>
            </a:avLst>
          </a:prstGeom>
          <a:solidFill>
            <a:srgbClr val="000000"/>
          </a:solidFill>
          <a:ln w="6350">
            <a:solidFill>
              <a:srgbClr val="D4875A"/>
            </a:solidFill>
            <a:prstDash val="solid"/>
          </a:ln>
        </p:spPr>
      </p:sp>
      <p:sp>
        <p:nvSpPr>
          <p:cNvPr id="23" name="Text 21"/>
          <p:cNvSpPr/>
          <p:nvPr/>
        </p:nvSpPr>
        <p:spPr>
          <a:xfrm>
            <a:off x="10607040" y="2971800"/>
            <a:ext cx="822960" cy="274320"/>
          </a:xfrm>
          <a:prstGeom prst="rect">
            <a:avLst/>
          </a:prstGeom>
          <a:noFill/>
          <a:ln/>
        </p:spPr>
        <p:txBody>
          <a:bodyPr wrap="square" rtlCol="0" anchor="ctr"/>
          <a:lstStyle/>
          <a:p>
            <a:pPr algn="ctr" indent="0" marL="0">
              <a:buNone/>
            </a:pPr>
            <a:r>
              <a:rPr lang="en-US" sz="900" b="1" dirty="0">
                <a:solidFill>
                  <a:srgbClr val="D4875A"/>
                </a:solidFill>
                <a:latin typeface="Calibri" pitchFamily="34" charset="0"/>
                <a:ea typeface="Calibri" pitchFamily="34" charset="-122"/>
                <a:cs typeface="Calibri" pitchFamily="34" charset="-120"/>
              </a:rPr>
              <a:t>Construction</a:t>
            </a:r>
            <a:endParaRPr lang="en-US" sz="900" dirty="0"/>
          </a:p>
        </p:txBody>
      </p:sp>
      <p:sp>
        <p:nvSpPr>
          <p:cNvPr id="24" name="Text 22"/>
          <p:cNvSpPr/>
          <p:nvPr/>
        </p:nvSpPr>
        <p:spPr>
          <a:xfrm>
            <a:off x="6382512" y="3364992"/>
            <a:ext cx="5074920" cy="868680"/>
          </a:xfrm>
          <a:prstGeom prst="rect">
            <a:avLst/>
          </a:prstGeom>
          <a:noFill/>
          <a:ln/>
        </p:spPr>
        <p:txBody>
          <a:bodyPr wrap="square" rtlCol="0" anchor="ctr"/>
          <a:lstStyle/>
          <a:p>
            <a:pPr indent="0" marL="0">
              <a:buNone/>
            </a:pPr>
            <a:r>
              <a:rPr lang="en-US" sz="1100" dirty="0">
                <a:solidFill>
                  <a:srgbClr val="AACCC5"/>
                </a:solidFill>
                <a:latin typeface="Calibri" pitchFamily="34" charset="0"/>
                <a:ea typeface="Calibri" pitchFamily="34" charset="-122"/>
                <a:cs typeface="Calibri" pitchFamily="34" charset="-120"/>
              </a:rPr>
              <a:t>75 MW wind + 25 MW solar projects in Atyray and Mangystau regions. Targeting 5% of own-consumption from renewables by 2028.</a:t>
            </a:r>
            <a:endParaRPr lang="en-US" sz="1100" dirty="0"/>
          </a:p>
        </p:txBody>
      </p:sp>
      <p:sp>
        <p:nvSpPr>
          <p:cNvPr id="25" name="Shape 23"/>
          <p:cNvSpPr/>
          <p:nvPr/>
        </p:nvSpPr>
        <p:spPr>
          <a:xfrm>
            <a:off x="457200" y="4526280"/>
            <a:ext cx="5394960" cy="1508760"/>
          </a:xfrm>
          <a:prstGeom prst="rect">
            <a:avLst>
              <a:gd name="adj" fmla="val 4848"/>
            </a:avLst>
          </a:prstGeom>
          <a:solidFill>
            <a:srgbClr val="0E4D44"/>
          </a:solidFill>
          <a:ln w="6350">
            <a:solidFill>
              <a:srgbClr val="2A8070"/>
            </a:solidFill>
            <a:prstDash val="solid"/>
          </a:ln>
        </p:spPr>
      </p:sp>
      <p:sp>
        <p:nvSpPr>
          <p:cNvPr id="26" name="Text 24"/>
          <p:cNvSpPr/>
          <p:nvPr/>
        </p:nvSpPr>
        <p:spPr>
          <a:xfrm>
            <a:off x="621792" y="4636008"/>
            <a:ext cx="4114800" cy="36576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Petrochemical Complex (PRPC)</a:t>
            </a:r>
            <a:endParaRPr lang="en-US" sz="1300" dirty="0"/>
          </a:p>
        </p:txBody>
      </p:sp>
      <p:sp>
        <p:nvSpPr>
          <p:cNvPr id="27" name="Shape 25"/>
          <p:cNvSpPr/>
          <p:nvPr/>
        </p:nvSpPr>
        <p:spPr>
          <a:xfrm>
            <a:off x="4846320" y="4663440"/>
            <a:ext cx="822960" cy="274320"/>
          </a:xfrm>
          <a:prstGeom prst="rect">
            <a:avLst>
              <a:gd name="adj" fmla="val 13333"/>
            </a:avLst>
          </a:prstGeom>
          <a:solidFill>
            <a:srgbClr val="000000"/>
          </a:solidFill>
          <a:ln w="6350">
            <a:solidFill>
              <a:srgbClr val="2A9D6E"/>
            </a:solidFill>
            <a:prstDash val="solid"/>
          </a:ln>
        </p:spPr>
      </p:sp>
      <p:sp>
        <p:nvSpPr>
          <p:cNvPr id="28" name="Text 26"/>
          <p:cNvSpPr/>
          <p:nvPr/>
        </p:nvSpPr>
        <p:spPr>
          <a:xfrm>
            <a:off x="4846320" y="4663440"/>
            <a:ext cx="822960" cy="274320"/>
          </a:xfrm>
          <a:prstGeom prst="rect">
            <a:avLst/>
          </a:prstGeom>
          <a:noFill/>
          <a:ln/>
        </p:spPr>
        <p:txBody>
          <a:bodyPr wrap="square" rtlCol="0" anchor="ctr"/>
          <a:lstStyle/>
          <a:p>
            <a:pPr algn="ctr" indent="0" marL="0">
              <a:buNone/>
            </a:pPr>
            <a:r>
              <a:rPr lang="en-US" sz="900" b="1" dirty="0">
                <a:solidFill>
                  <a:srgbClr val="2A9D6E"/>
                </a:solidFill>
                <a:latin typeface="Calibri" pitchFamily="34" charset="0"/>
                <a:ea typeface="Calibri" pitchFamily="34" charset="-122"/>
                <a:cs typeface="Calibri" pitchFamily="34" charset="-120"/>
              </a:rPr>
              <a:t>Operational</a:t>
            </a:r>
            <a:endParaRPr lang="en-US" sz="900" dirty="0"/>
          </a:p>
        </p:txBody>
      </p:sp>
      <p:sp>
        <p:nvSpPr>
          <p:cNvPr id="29" name="Text 27"/>
          <p:cNvSpPr/>
          <p:nvPr/>
        </p:nvSpPr>
        <p:spPr>
          <a:xfrm>
            <a:off x="621792" y="5056632"/>
            <a:ext cx="5074920" cy="868680"/>
          </a:xfrm>
          <a:prstGeom prst="rect">
            <a:avLst/>
          </a:prstGeom>
          <a:noFill/>
          <a:ln/>
        </p:spPr>
        <p:txBody>
          <a:bodyPr wrap="square" rtlCol="0" anchor="ctr"/>
          <a:lstStyle/>
          <a:p>
            <a:pPr indent="0" marL="0">
              <a:buNone/>
            </a:pPr>
            <a:r>
              <a:rPr lang="en-US" sz="1100" dirty="0">
                <a:solidFill>
                  <a:srgbClr val="AACCC5"/>
                </a:solidFill>
                <a:latin typeface="Calibri" pitchFamily="34" charset="0"/>
                <a:ea typeface="Calibri" pitchFamily="34" charset="-122"/>
                <a:cs typeface="Calibri" pitchFamily="34" charset="-120"/>
              </a:rPr>
              <a:t>Polypropylene complex at Atyrau with 500 kta capacity. Value-add diversification from crude oil to polymer products.</a:t>
            </a:r>
            <a:endParaRPr lang="en-US" sz="1100" dirty="0"/>
          </a:p>
        </p:txBody>
      </p:sp>
      <p:sp>
        <p:nvSpPr>
          <p:cNvPr id="30" name="Shape 28"/>
          <p:cNvSpPr/>
          <p:nvPr/>
        </p:nvSpPr>
        <p:spPr>
          <a:xfrm>
            <a:off x="6217920" y="4526280"/>
            <a:ext cx="5394960" cy="1508760"/>
          </a:xfrm>
          <a:prstGeom prst="rect">
            <a:avLst>
              <a:gd name="adj" fmla="val 4848"/>
            </a:avLst>
          </a:prstGeom>
          <a:solidFill>
            <a:srgbClr val="0E4D44"/>
          </a:solidFill>
          <a:ln w="6350">
            <a:solidFill>
              <a:srgbClr val="2A8070"/>
            </a:solidFill>
            <a:prstDash val="solid"/>
          </a:ln>
        </p:spPr>
      </p:sp>
      <p:sp>
        <p:nvSpPr>
          <p:cNvPr id="31" name="Text 29"/>
          <p:cNvSpPr/>
          <p:nvPr/>
        </p:nvSpPr>
        <p:spPr>
          <a:xfrm>
            <a:off x="6382512" y="4636008"/>
            <a:ext cx="4114800" cy="36576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Digital Transformation</a:t>
            </a:r>
            <a:endParaRPr lang="en-US" sz="1300" dirty="0"/>
          </a:p>
        </p:txBody>
      </p:sp>
      <p:sp>
        <p:nvSpPr>
          <p:cNvPr id="32" name="Shape 30"/>
          <p:cNvSpPr/>
          <p:nvPr/>
        </p:nvSpPr>
        <p:spPr>
          <a:xfrm>
            <a:off x="10607040" y="4663440"/>
            <a:ext cx="822960" cy="274320"/>
          </a:xfrm>
          <a:prstGeom prst="rect">
            <a:avLst>
              <a:gd name="adj" fmla="val 13333"/>
            </a:avLst>
          </a:prstGeom>
          <a:solidFill>
            <a:srgbClr val="000000"/>
          </a:solidFill>
          <a:ln w="6350">
            <a:solidFill>
              <a:srgbClr val="C9A24B"/>
            </a:solidFill>
            <a:prstDash val="solid"/>
          </a:ln>
        </p:spPr>
      </p:sp>
      <p:sp>
        <p:nvSpPr>
          <p:cNvPr id="33" name="Text 31"/>
          <p:cNvSpPr/>
          <p:nvPr/>
        </p:nvSpPr>
        <p:spPr>
          <a:xfrm>
            <a:off x="10607040" y="4663440"/>
            <a:ext cx="822960" cy="274320"/>
          </a:xfrm>
          <a:prstGeom prst="rect">
            <a:avLst/>
          </a:prstGeom>
          <a:noFill/>
          <a:ln/>
        </p:spPr>
        <p:txBody>
          <a:bodyPr wrap="square" rtlCol="0" anchor="ctr"/>
          <a:lstStyle/>
          <a:p>
            <a:pPr algn="ctr" indent="0" marL="0">
              <a:buNone/>
            </a:pPr>
            <a:r>
              <a:rPr lang="en-US" sz="900" b="1" dirty="0">
                <a:solidFill>
                  <a:srgbClr val="C9A24B"/>
                </a:solidFill>
                <a:latin typeface="Calibri" pitchFamily="34" charset="0"/>
                <a:ea typeface="Calibri" pitchFamily="34" charset="-122"/>
                <a:cs typeface="Calibri" pitchFamily="34" charset="-120"/>
              </a:rPr>
              <a:t>Ongoing</a:t>
            </a:r>
            <a:endParaRPr lang="en-US" sz="900" dirty="0"/>
          </a:p>
        </p:txBody>
      </p:sp>
      <p:sp>
        <p:nvSpPr>
          <p:cNvPr id="34" name="Text 32"/>
          <p:cNvSpPr/>
          <p:nvPr/>
        </p:nvSpPr>
        <p:spPr>
          <a:xfrm>
            <a:off x="6382512" y="5056632"/>
            <a:ext cx="5074920" cy="868680"/>
          </a:xfrm>
          <a:prstGeom prst="rect">
            <a:avLst/>
          </a:prstGeom>
          <a:noFill/>
          <a:ln/>
        </p:spPr>
        <p:txBody>
          <a:bodyPr wrap="square" rtlCol="0" anchor="ctr"/>
          <a:lstStyle/>
          <a:p>
            <a:pPr indent="0" marL="0">
              <a:buNone/>
            </a:pPr>
            <a:r>
              <a:rPr lang="en-US" sz="1100" dirty="0">
                <a:solidFill>
                  <a:srgbClr val="AACCC5"/>
                </a:solidFill>
                <a:latin typeface="Calibri" pitchFamily="34" charset="0"/>
                <a:ea typeface="Calibri" pitchFamily="34" charset="-122"/>
                <a:cs typeface="Calibri" pitchFamily="34" charset="-120"/>
              </a:rPr>
              <a:t>AI-driven predictive maintenance, IoT sensor network across 3,000+ wells. Target: 10% reduction in unplanned downtime by 2027.</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E4D44"/>
          </a:solidFill>
          <a:ln/>
        </p:spPr>
      </p:sp>
      <p:sp>
        <p:nvSpPr>
          <p:cNvPr id="3" name="Text 1"/>
          <p:cNvSpPr/>
          <p:nvPr/>
        </p:nvSpPr>
        <p:spPr>
          <a:xfrm>
            <a:off x="457200" y="320040"/>
            <a:ext cx="11274552" cy="548640"/>
          </a:xfrm>
          <a:prstGeom prst="rect">
            <a:avLst/>
          </a:prstGeom>
          <a:noFill/>
          <a:ln/>
        </p:spPr>
        <p:txBody>
          <a:bodyPr wrap="square" rtlCol="0" anchor="ctr"/>
          <a:lstStyle/>
          <a:p>
            <a:pPr indent="0" marL="0">
              <a:buNone/>
            </a:pPr>
            <a:r>
              <a:rPr lang="en-US" sz="2800" b="1" dirty="0">
                <a:solidFill>
                  <a:srgbClr val="E4CD8B"/>
                </a:solidFill>
                <a:latin typeface="Cambria" pitchFamily="34" charset="0"/>
                <a:ea typeface="Cambria" pitchFamily="34" charset="-122"/>
                <a:cs typeface="Cambria" pitchFamily="34" charset="-120"/>
              </a:rPr>
              <a:t>Financial Performance — FY2025</a:t>
            </a:r>
            <a:endParaRPr lang="en-US" sz="2800" dirty="0"/>
          </a:p>
        </p:txBody>
      </p:sp>
      <p:sp>
        <p:nvSpPr>
          <p:cNvPr id="4" name="Shape 2"/>
          <p:cNvSpPr/>
          <p:nvPr/>
        </p:nvSpPr>
        <p:spPr>
          <a:xfrm>
            <a:off x="457200" y="960120"/>
            <a:ext cx="11274552" cy="36576"/>
          </a:xfrm>
          <a:prstGeom prst="rect">
            <a:avLst/>
          </a:prstGeom>
          <a:solidFill>
            <a:srgbClr val="C9A24B"/>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254910"/>
                <a:gridCol w="2254910"/>
                <a:gridCol w="2254910"/>
                <a:gridCol w="2254910"/>
                <a:gridCol w="2254910"/>
              </a:tblGrid>
              <a:tr h="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KZT billion</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FY2023</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FY2024</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FY2025</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y/y Δ</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Revenue</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7,102</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8,330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9,371</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+12.5%</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Gross Profit</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2,241</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2,624</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2,990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+13.9%</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EBITDA</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1,755</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1,999</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2,393</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+19.6%</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EBITDA Margin</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24.7%</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24.0%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25.5%</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+1.5pp</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EBIT</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1,250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1,450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1,780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+22.8%</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Net Income</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780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920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1,110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+20.7%</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Net Income Margin</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11.0%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11.0%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11.8%</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+0.8pp</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Capex</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1,050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1,150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1,247</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+8.4%</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Free Cash Flow</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705</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849</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1,146</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+35.0%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r>
            </a:tbl>
          </a:graphicData>
        </a:graphic>
      </p:graphicFrame>
      <p:sp>
        <p:nvSpPr>
          <p:cNvPr id="6" name="Text 3"/>
          <p:cNvSpPr/>
          <p:nvPr/>
        </p:nvSpPr>
        <p:spPr>
          <a:xfrm>
            <a:off x="457200" y="6263640"/>
            <a:ext cx="11274552" cy="320040"/>
          </a:xfrm>
          <a:prstGeom prst="rect">
            <a:avLst/>
          </a:prstGeom>
          <a:noFill/>
          <a:ln/>
        </p:spPr>
        <p:txBody>
          <a:bodyPr wrap="square" rtlCol="0" anchor="ctr"/>
          <a:lstStyle/>
          <a:p>
            <a:pPr indent="0" marL="0">
              <a:buNone/>
            </a:pPr>
            <a:r>
              <a:rPr lang="en-US" sz="1000" i="1" dirty="0">
                <a:solidFill>
                  <a:srgbClr val="667D79"/>
                </a:solidFill>
                <a:latin typeface="Calibri" pitchFamily="34" charset="0"/>
                <a:ea typeface="Calibri" pitchFamily="34" charset="-122"/>
                <a:cs typeface="Calibri" pitchFamily="34" charset="-120"/>
              </a:rPr>
              <a:t>Source: KMG FY2025 Annual Results (press release 26 March 2026). EBITDA = Operating profit + D&amp;A + Impairments.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A3A33"/>
          </a:solidFill>
          <a:ln/>
        </p:spPr>
      </p:sp>
      <p:sp>
        <p:nvSpPr>
          <p:cNvPr id="3" name="Text 1"/>
          <p:cNvSpPr/>
          <p:nvPr/>
        </p:nvSpPr>
        <p:spPr>
          <a:xfrm>
            <a:off x="457200" y="320040"/>
            <a:ext cx="11274552" cy="548640"/>
          </a:xfrm>
          <a:prstGeom prst="rect">
            <a:avLst/>
          </a:prstGeom>
          <a:noFill/>
          <a:ln/>
        </p:spPr>
        <p:txBody>
          <a:bodyPr wrap="square" rtlCol="0" anchor="ctr"/>
          <a:lstStyle/>
          <a:p>
            <a:pPr indent="0" marL="0">
              <a:buNone/>
            </a:pPr>
            <a:r>
              <a:rPr lang="en-US" sz="2800" b="1" dirty="0">
                <a:solidFill>
                  <a:srgbClr val="E4CD8B"/>
                </a:solidFill>
                <a:latin typeface="Cambria" pitchFamily="34" charset="0"/>
                <a:ea typeface="Cambria" pitchFamily="34" charset="-122"/>
                <a:cs typeface="Cambria" pitchFamily="34" charset="-120"/>
              </a:rPr>
              <a:t>Multi-Year Financial Trend (2022–2025)</a:t>
            </a:r>
            <a:endParaRPr lang="en-US" sz="2800" dirty="0"/>
          </a:p>
        </p:txBody>
      </p:sp>
      <p:sp>
        <p:nvSpPr>
          <p:cNvPr id="4" name="Shape 2"/>
          <p:cNvSpPr/>
          <p:nvPr/>
        </p:nvSpPr>
        <p:spPr>
          <a:xfrm>
            <a:off x="457200" y="960120"/>
            <a:ext cx="11274552" cy="36576"/>
          </a:xfrm>
          <a:prstGeom prst="rect">
            <a:avLst/>
          </a:prstGeom>
          <a:solidFill>
            <a:srgbClr val="C9A24B"/>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879092"/>
                <a:gridCol w="1879092"/>
                <a:gridCol w="1879092"/>
                <a:gridCol w="1879092"/>
                <a:gridCol w="1879092"/>
                <a:gridCol w="1879092"/>
              </a:tblGrid>
              <a:tr h="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KZT billion</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FY2022</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FY2023</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FY2024</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FY2025</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CAGR</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Revenue</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6,210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7,102</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8,330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9,371</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+14.8%</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EBITDA</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1,490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1,755</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1,999</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2,393</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+17.0%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EBITDA Margin</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24.0%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24.7%</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24.0%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25.5%</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Net Income</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650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780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920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1,110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+19.6%</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Gross Debt</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2,850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2,620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2,150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1,750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−15.3%</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Net Debt</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2,120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1,820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1,160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375</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−43.5%</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Net Debt/EBITDA</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1.42x</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1.04x</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0.58x</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0.16x</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Dividend Paid</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250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280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312</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+15.9%</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6035040"/>
            <a:ext cx="11274552" cy="457200"/>
          </a:xfrm>
          <a:prstGeom prst="rect">
            <a:avLst/>
          </a:prstGeom>
          <a:noFill/>
          <a:ln/>
        </p:spPr>
        <p:txBody>
          <a:bodyPr wrap="square" rtlCol="0" anchor="ctr"/>
          <a:lstStyle/>
          <a:p>
            <a:pPr indent="0" marL="0">
              <a:buNone/>
            </a:pPr>
            <a:r>
              <a:rPr lang="en-US" sz="1200" i="1" dirty="0">
                <a:solidFill>
                  <a:srgbClr val="E4CD8B"/>
                </a:solidFill>
                <a:latin typeface="Calibri" pitchFamily="34" charset="0"/>
                <a:ea typeface="Calibri" pitchFamily="34" charset="-122"/>
                <a:cs typeface="Calibri" pitchFamily="34" charset="-120"/>
              </a:rPr>
              <a:t>Consistent revenue and EBITDA growth over four years, with accelerated deleveraging driven by strong free cash flow generation.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E4D44"/>
          </a:solidFill>
          <a:ln/>
        </p:spPr>
      </p:sp>
      <p:sp>
        <p:nvSpPr>
          <p:cNvPr id="3" name="Text 1"/>
          <p:cNvSpPr/>
          <p:nvPr/>
        </p:nvSpPr>
        <p:spPr>
          <a:xfrm>
            <a:off x="457200" y="320040"/>
            <a:ext cx="11274552" cy="548640"/>
          </a:xfrm>
          <a:prstGeom prst="rect">
            <a:avLst/>
          </a:prstGeom>
          <a:noFill/>
          <a:ln/>
        </p:spPr>
        <p:txBody>
          <a:bodyPr wrap="square" rtlCol="0" anchor="ctr"/>
          <a:lstStyle/>
          <a:p>
            <a:pPr indent="0" marL="0">
              <a:buNone/>
            </a:pPr>
            <a:r>
              <a:rPr lang="en-US" sz="2800" b="1" dirty="0">
                <a:solidFill>
                  <a:srgbClr val="E4CD8B"/>
                </a:solidFill>
                <a:latin typeface="Cambria" pitchFamily="34" charset="0"/>
                <a:ea typeface="Cambria" pitchFamily="34" charset="-122"/>
                <a:cs typeface="Cambria" pitchFamily="34" charset="-120"/>
              </a:rPr>
              <a:t>Financial Strength &amp; Credit Metrics</a:t>
            </a:r>
            <a:endParaRPr lang="en-US" sz="2800" dirty="0"/>
          </a:p>
        </p:txBody>
      </p:sp>
      <p:sp>
        <p:nvSpPr>
          <p:cNvPr id="4" name="Shape 2"/>
          <p:cNvSpPr/>
          <p:nvPr/>
        </p:nvSpPr>
        <p:spPr>
          <a:xfrm>
            <a:off x="457200" y="960120"/>
            <a:ext cx="11274552" cy="36576"/>
          </a:xfrm>
          <a:prstGeom prst="rect">
            <a:avLst/>
          </a:prstGeom>
          <a:solidFill>
            <a:srgbClr val="C9A24B"/>
          </a:solidFill>
          <a:ln/>
        </p:spPr>
      </p:sp>
      <p:sp>
        <p:nvSpPr>
          <p:cNvPr id="5" name="Shape 3"/>
          <p:cNvSpPr/>
          <p:nvPr/>
        </p:nvSpPr>
        <p:spPr>
          <a:xfrm>
            <a:off x="457200" y="1188720"/>
            <a:ext cx="2286000" cy="1463040"/>
          </a:xfrm>
          <a:prstGeom prst="rect">
            <a:avLst>
              <a:gd name="adj" fmla="val 6250"/>
            </a:avLst>
          </a:prstGeom>
          <a:solidFill>
            <a:srgbClr val="1A6558"/>
          </a:solidFill>
          <a:ln w="12700">
            <a:solidFill>
              <a:srgbClr val="C9A24B"/>
            </a:solidFill>
            <a:prstDash val="solid"/>
          </a:ln>
        </p:spPr>
      </p:sp>
      <p:sp>
        <p:nvSpPr>
          <p:cNvPr id="6" name="Text 4"/>
          <p:cNvSpPr/>
          <p:nvPr/>
        </p:nvSpPr>
        <p:spPr>
          <a:xfrm>
            <a:off x="594360" y="1298448"/>
            <a:ext cx="2011680" cy="274320"/>
          </a:xfrm>
          <a:prstGeom prst="rect">
            <a:avLst/>
          </a:prstGeom>
          <a:noFill/>
          <a:ln/>
        </p:spPr>
        <p:txBody>
          <a:bodyPr wrap="square" rtlCol="0" anchor="ctr"/>
          <a:lstStyle/>
          <a:p>
            <a:pPr indent="0" marL="0">
              <a:buNone/>
            </a:pPr>
            <a:r>
              <a:rPr lang="en-US" sz="1000" b="1" dirty="0">
                <a:solidFill>
                  <a:srgbClr val="E4CD8B"/>
                </a:solidFill>
                <a:latin typeface="Calibri" pitchFamily="34" charset="0"/>
                <a:ea typeface="Calibri" pitchFamily="34" charset="-122"/>
                <a:cs typeface="Calibri" pitchFamily="34" charset="-120"/>
              </a:rPr>
              <a:t>Net Debt/EBITDA</a:t>
            </a:r>
            <a:endParaRPr lang="en-US" sz="1000" dirty="0"/>
          </a:p>
        </p:txBody>
      </p:sp>
      <p:sp>
        <p:nvSpPr>
          <p:cNvPr id="7" name="Text 5"/>
          <p:cNvSpPr/>
          <p:nvPr/>
        </p:nvSpPr>
        <p:spPr>
          <a:xfrm>
            <a:off x="594360" y="1572768"/>
            <a:ext cx="201168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0.16x</a:t>
            </a:r>
            <a:endParaRPr lang="en-US" sz="2000" dirty="0"/>
          </a:p>
        </p:txBody>
      </p:sp>
      <p:sp>
        <p:nvSpPr>
          <p:cNvPr id="8" name="Text 6"/>
          <p:cNvSpPr/>
          <p:nvPr/>
        </p:nvSpPr>
        <p:spPr>
          <a:xfrm>
            <a:off x="594360" y="2057400"/>
            <a:ext cx="2011680" cy="457200"/>
          </a:xfrm>
          <a:prstGeom prst="rect">
            <a:avLst/>
          </a:prstGeom>
          <a:noFill/>
          <a:ln/>
        </p:spPr>
        <p:txBody>
          <a:bodyPr wrap="square" rtlCol="0" anchor="ctr"/>
          <a:lstStyle/>
          <a:p>
            <a:pPr indent="0" marL="0">
              <a:buNone/>
            </a:pPr>
            <a:r>
              <a:rPr lang="en-US" sz="1000" dirty="0">
                <a:solidFill>
                  <a:srgbClr val="AACCC5"/>
                </a:solidFill>
                <a:latin typeface="Calibri" pitchFamily="34" charset="0"/>
                <a:ea typeface="Calibri" pitchFamily="34" charset="-122"/>
                <a:cs typeface="Calibri" pitchFamily="34" charset="-120"/>
              </a:rPr>
              <a:t>vs. 1.42x in FY2022</a:t>
            </a:r>
            <a:endParaRPr lang="en-US" sz="1000" dirty="0"/>
          </a:p>
        </p:txBody>
      </p:sp>
      <p:sp>
        <p:nvSpPr>
          <p:cNvPr id="9" name="Shape 7"/>
          <p:cNvSpPr/>
          <p:nvPr/>
        </p:nvSpPr>
        <p:spPr>
          <a:xfrm>
            <a:off x="2880360" y="1188720"/>
            <a:ext cx="2286000" cy="1463040"/>
          </a:xfrm>
          <a:prstGeom prst="rect">
            <a:avLst>
              <a:gd name="adj" fmla="val 6250"/>
            </a:avLst>
          </a:prstGeom>
          <a:solidFill>
            <a:srgbClr val="1A6558"/>
          </a:solidFill>
          <a:ln w="12700">
            <a:solidFill>
              <a:srgbClr val="C9A24B"/>
            </a:solidFill>
            <a:prstDash val="solid"/>
          </a:ln>
        </p:spPr>
      </p:sp>
      <p:sp>
        <p:nvSpPr>
          <p:cNvPr id="10" name="Text 8"/>
          <p:cNvSpPr/>
          <p:nvPr/>
        </p:nvSpPr>
        <p:spPr>
          <a:xfrm>
            <a:off x="3017520" y="1298448"/>
            <a:ext cx="2011680" cy="274320"/>
          </a:xfrm>
          <a:prstGeom prst="rect">
            <a:avLst/>
          </a:prstGeom>
          <a:noFill/>
          <a:ln/>
        </p:spPr>
        <p:txBody>
          <a:bodyPr wrap="square" rtlCol="0" anchor="ctr"/>
          <a:lstStyle/>
          <a:p>
            <a:pPr indent="0" marL="0">
              <a:buNone/>
            </a:pPr>
            <a:r>
              <a:rPr lang="en-US" sz="1000" b="1" dirty="0">
                <a:solidFill>
                  <a:srgbClr val="E4CD8B"/>
                </a:solidFill>
                <a:latin typeface="Calibri" pitchFamily="34" charset="0"/>
                <a:ea typeface="Calibri" pitchFamily="34" charset="-122"/>
                <a:cs typeface="Calibri" pitchFamily="34" charset="-120"/>
              </a:rPr>
              <a:t>Interest Coverage</a:t>
            </a:r>
            <a:endParaRPr lang="en-US" sz="1000" dirty="0"/>
          </a:p>
        </p:txBody>
      </p:sp>
      <p:sp>
        <p:nvSpPr>
          <p:cNvPr id="11" name="Text 9"/>
          <p:cNvSpPr/>
          <p:nvPr/>
        </p:nvSpPr>
        <p:spPr>
          <a:xfrm>
            <a:off x="3017520" y="1572768"/>
            <a:ext cx="201168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8.4x</a:t>
            </a:r>
            <a:endParaRPr lang="en-US" sz="2000" dirty="0"/>
          </a:p>
        </p:txBody>
      </p:sp>
      <p:sp>
        <p:nvSpPr>
          <p:cNvPr id="12" name="Text 10"/>
          <p:cNvSpPr/>
          <p:nvPr/>
        </p:nvSpPr>
        <p:spPr>
          <a:xfrm>
            <a:off x="3017520" y="2057400"/>
            <a:ext cx="2011680" cy="457200"/>
          </a:xfrm>
          <a:prstGeom prst="rect">
            <a:avLst/>
          </a:prstGeom>
          <a:noFill/>
          <a:ln/>
        </p:spPr>
        <p:txBody>
          <a:bodyPr wrap="square" rtlCol="0" anchor="ctr"/>
          <a:lstStyle/>
          <a:p>
            <a:pPr indent="0" marL="0">
              <a:buNone/>
            </a:pPr>
            <a:r>
              <a:rPr lang="en-US" sz="1000" dirty="0">
                <a:solidFill>
                  <a:srgbClr val="AACCC5"/>
                </a:solidFill>
                <a:latin typeface="Calibri" pitchFamily="34" charset="0"/>
                <a:ea typeface="Calibri" pitchFamily="34" charset="-122"/>
                <a:cs typeface="Calibri" pitchFamily="34" charset="-120"/>
              </a:rPr>
              <a:t>EBIT/Interest Expense</a:t>
            </a:r>
            <a:endParaRPr lang="en-US" sz="1000" dirty="0"/>
          </a:p>
        </p:txBody>
      </p:sp>
      <p:sp>
        <p:nvSpPr>
          <p:cNvPr id="13" name="Shape 11"/>
          <p:cNvSpPr/>
          <p:nvPr/>
        </p:nvSpPr>
        <p:spPr>
          <a:xfrm>
            <a:off x="5303520" y="1188720"/>
            <a:ext cx="2286000" cy="1463040"/>
          </a:xfrm>
          <a:prstGeom prst="rect">
            <a:avLst>
              <a:gd name="adj" fmla="val 6250"/>
            </a:avLst>
          </a:prstGeom>
          <a:solidFill>
            <a:srgbClr val="1A6558"/>
          </a:solidFill>
          <a:ln w="12700">
            <a:solidFill>
              <a:srgbClr val="C9A24B"/>
            </a:solidFill>
            <a:prstDash val="solid"/>
          </a:ln>
        </p:spPr>
      </p:sp>
      <p:sp>
        <p:nvSpPr>
          <p:cNvPr id="14" name="Text 12"/>
          <p:cNvSpPr/>
          <p:nvPr/>
        </p:nvSpPr>
        <p:spPr>
          <a:xfrm>
            <a:off x="5440680" y="1298448"/>
            <a:ext cx="2011680" cy="274320"/>
          </a:xfrm>
          <a:prstGeom prst="rect">
            <a:avLst/>
          </a:prstGeom>
          <a:noFill/>
          <a:ln/>
        </p:spPr>
        <p:txBody>
          <a:bodyPr wrap="square" rtlCol="0" anchor="ctr"/>
          <a:lstStyle/>
          <a:p>
            <a:pPr indent="0" marL="0">
              <a:buNone/>
            </a:pPr>
            <a:r>
              <a:rPr lang="en-US" sz="1000" b="1" dirty="0">
                <a:solidFill>
                  <a:srgbClr val="E4CD8B"/>
                </a:solidFill>
                <a:latin typeface="Calibri" pitchFamily="34" charset="0"/>
                <a:ea typeface="Calibri" pitchFamily="34" charset="-122"/>
                <a:cs typeface="Calibri" pitchFamily="34" charset="-120"/>
              </a:rPr>
              <a:t>FFO/Net Debt</a:t>
            </a:r>
            <a:endParaRPr lang="en-US" sz="1000" dirty="0"/>
          </a:p>
        </p:txBody>
      </p:sp>
      <p:sp>
        <p:nvSpPr>
          <p:cNvPr id="15" name="Text 13"/>
          <p:cNvSpPr/>
          <p:nvPr/>
        </p:nvSpPr>
        <p:spPr>
          <a:xfrm>
            <a:off x="5440680" y="1572768"/>
            <a:ext cx="201168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&gt;200%</a:t>
            </a:r>
            <a:endParaRPr lang="en-US" sz="2000" dirty="0"/>
          </a:p>
        </p:txBody>
      </p:sp>
      <p:sp>
        <p:nvSpPr>
          <p:cNvPr id="16" name="Text 14"/>
          <p:cNvSpPr/>
          <p:nvPr/>
        </p:nvSpPr>
        <p:spPr>
          <a:xfrm>
            <a:off x="5440680" y="2057400"/>
            <a:ext cx="2011680" cy="457200"/>
          </a:xfrm>
          <a:prstGeom prst="rect">
            <a:avLst/>
          </a:prstGeom>
          <a:noFill/>
          <a:ln/>
        </p:spPr>
        <p:txBody>
          <a:bodyPr wrap="square" rtlCol="0" anchor="ctr"/>
          <a:lstStyle/>
          <a:p>
            <a:pPr indent="0" marL="0">
              <a:buNone/>
            </a:pPr>
            <a:r>
              <a:rPr lang="en-US" sz="1000" dirty="0">
                <a:solidFill>
                  <a:srgbClr val="AACCC5"/>
                </a:solidFill>
                <a:latin typeface="Calibri" pitchFamily="34" charset="0"/>
                <a:ea typeface="Calibri" pitchFamily="34" charset="-122"/>
                <a:cs typeface="Calibri" pitchFamily="34" charset="-120"/>
              </a:rPr>
              <a:t>Funds From Operations</a:t>
            </a:r>
            <a:endParaRPr lang="en-US" sz="1000" dirty="0"/>
          </a:p>
        </p:txBody>
      </p:sp>
      <p:sp>
        <p:nvSpPr>
          <p:cNvPr id="17" name="Shape 15"/>
          <p:cNvSpPr/>
          <p:nvPr/>
        </p:nvSpPr>
        <p:spPr>
          <a:xfrm>
            <a:off x="7726680" y="1188720"/>
            <a:ext cx="2286000" cy="1463040"/>
          </a:xfrm>
          <a:prstGeom prst="rect">
            <a:avLst>
              <a:gd name="adj" fmla="val 6250"/>
            </a:avLst>
          </a:prstGeom>
          <a:solidFill>
            <a:srgbClr val="1A6558"/>
          </a:solidFill>
          <a:ln w="12700">
            <a:solidFill>
              <a:srgbClr val="C9A24B"/>
            </a:solidFill>
            <a:prstDash val="solid"/>
          </a:ln>
        </p:spPr>
      </p:sp>
      <p:sp>
        <p:nvSpPr>
          <p:cNvPr id="18" name="Text 16"/>
          <p:cNvSpPr/>
          <p:nvPr/>
        </p:nvSpPr>
        <p:spPr>
          <a:xfrm>
            <a:off x="7863840" y="1298448"/>
            <a:ext cx="2011680" cy="274320"/>
          </a:xfrm>
          <a:prstGeom prst="rect">
            <a:avLst/>
          </a:prstGeom>
          <a:noFill/>
          <a:ln/>
        </p:spPr>
        <p:txBody>
          <a:bodyPr wrap="square" rtlCol="0" anchor="ctr"/>
          <a:lstStyle/>
          <a:p>
            <a:pPr indent="0" marL="0">
              <a:buNone/>
            </a:pPr>
            <a:r>
              <a:rPr lang="en-US" sz="1000" b="1" dirty="0">
                <a:solidFill>
                  <a:srgbClr val="E4CD8B"/>
                </a:solidFill>
                <a:latin typeface="Calibri" pitchFamily="34" charset="0"/>
                <a:ea typeface="Calibri" pitchFamily="34" charset="-122"/>
                <a:cs typeface="Calibri" pitchFamily="34" charset="-120"/>
              </a:rPr>
              <a:t>Liquidity</a:t>
            </a:r>
            <a:endParaRPr lang="en-US" sz="1000" dirty="0"/>
          </a:p>
        </p:txBody>
      </p:sp>
      <p:sp>
        <p:nvSpPr>
          <p:cNvPr id="19" name="Text 17"/>
          <p:cNvSpPr/>
          <p:nvPr/>
        </p:nvSpPr>
        <p:spPr>
          <a:xfrm>
            <a:off x="7863840" y="1572768"/>
            <a:ext cx="201168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KZT 1,375b</a:t>
            </a:r>
            <a:endParaRPr lang="en-US" sz="2000" dirty="0"/>
          </a:p>
        </p:txBody>
      </p:sp>
      <p:sp>
        <p:nvSpPr>
          <p:cNvPr id="20" name="Text 18"/>
          <p:cNvSpPr/>
          <p:nvPr/>
        </p:nvSpPr>
        <p:spPr>
          <a:xfrm>
            <a:off x="7863840" y="2057400"/>
            <a:ext cx="2011680" cy="457200"/>
          </a:xfrm>
          <a:prstGeom prst="rect">
            <a:avLst/>
          </a:prstGeom>
          <a:noFill/>
          <a:ln/>
        </p:spPr>
        <p:txBody>
          <a:bodyPr wrap="square" rtlCol="0" anchor="ctr"/>
          <a:lstStyle/>
          <a:p>
            <a:pPr indent="0" marL="0">
              <a:buNone/>
            </a:pPr>
            <a:r>
              <a:rPr lang="en-US" sz="1000" dirty="0">
                <a:solidFill>
                  <a:srgbClr val="AACCC5"/>
                </a:solidFill>
                <a:latin typeface="Calibri" pitchFamily="34" charset="0"/>
                <a:ea typeface="Calibri" pitchFamily="34" charset="-122"/>
                <a:cs typeface="Calibri" pitchFamily="34" charset="-120"/>
              </a:rPr>
              <a:t>Cash + Undrawn RCF</a:t>
            </a:r>
            <a:endParaRPr lang="en-US" sz="1000" dirty="0"/>
          </a:p>
        </p:txBody>
      </p:sp>
      <p:sp>
        <p:nvSpPr>
          <p:cNvPr id="21" name="Text 19"/>
          <p:cNvSpPr/>
          <p:nvPr/>
        </p:nvSpPr>
        <p:spPr>
          <a:xfrm>
            <a:off x="457200" y="2880360"/>
            <a:ext cx="11274552" cy="365760"/>
          </a:xfrm>
          <a:prstGeom prst="rect">
            <a:avLst/>
          </a:prstGeom>
          <a:noFill/>
          <a:ln/>
        </p:spPr>
        <p:txBody>
          <a:bodyPr wrap="square" rtlCol="0" anchor="ctr"/>
          <a:lstStyle/>
          <a:p>
            <a:pPr indent="0" marL="0">
              <a:buNone/>
            </a:pPr>
            <a:r>
              <a:rPr lang="en-US" sz="1500" b="1" dirty="0">
                <a:solidFill>
                  <a:srgbClr val="E4CD8B"/>
                </a:solidFill>
                <a:latin typeface="Cambria" pitchFamily="34" charset="0"/>
                <a:ea typeface="Cambria" pitchFamily="34" charset="-122"/>
                <a:cs typeface="Cambria" pitchFamily="34" charset="-120"/>
              </a:rPr>
              <a:t>Credit Metrics vs. EEMEA Peers</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254910"/>
                <a:gridCol w="2254910"/>
                <a:gridCol w="2254910"/>
                <a:gridCol w="2254910"/>
                <a:gridCol w="2254910"/>
              </a:tblGrid>
              <a:tr h="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Company</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Country</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Rating</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Net Debt/EBITDA</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EBITDA Margin</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KazMunayGas</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Kazakhstan</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Baa1/BBB−/BBB</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0.16x</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25.5%</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Sonatrach</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Algeria</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Unrated</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45%+</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ADNOC</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UAE</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Aa2/AA/AA−</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&lt;0.5x</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60%+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Equinor</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Norway</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Aa2/AA−/A+</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0.8x</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38%</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Saudi Aramco</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Saudi Arabia</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A1/A+/A+</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0.3x</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58%</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MOL Group</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Hungary</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Baa2/BBB/BBB</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1.2x</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A3A33"/>
          </a:solidFill>
          <a:ln/>
        </p:spPr>
      </p:sp>
      <p:sp>
        <p:nvSpPr>
          <p:cNvPr id="3" name="Text 1"/>
          <p:cNvSpPr/>
          <p:nvPr/>
        </p:nvSpPr>
        <p:spPr>
          <a:xfrm>
            <a:off x="457200" y="320040"/>
            <a:ext cx="11274552" cy="548640"/>
          </a:xfrm>
          <a:prstGeom prst="rect">
            <a:avLst/>
          </a:prstGeom>
          <a:noFill/>
          <a:ln/>
        </p:spPr>
        <p:txBody>
          <a:bodyPr wrap="square" rtlCol="0" anchor="ctr"/>
          <a:lstStyle/>
          <a:p>
            <a:pPr indent="0" marL="0">
              <a:buNone/>
            </a:pPr>
            <a:r>
              <a:rPr lang="en-US" sz="2800" b="1" dirty="0">
                <a:solidFill>
                  <a:srgbClr val="E4CD8B"/>
                </a:solidFill>
                <a:latin typeface="Cambria" pitchFamily="34" charset="0"/>
                <a:ea typeface="Cambria" pitchFamily="34" charset="-122"/>
                <a:cs typeface="Cambria" pitchFamily="34" charset="-120"/>
              </a:rPr>
              <a:t>Debt Profile &amp; Liability Management</a:t>
            </a:r>
            <a:endParaRPr lang="en-US" sz="2800" dirty="0"/>
          </a:p>
        </p:txBody>
      </p:sp>
      <p:sp>
        <p:nvSpPr>
          <p:cNvPr id="4" name="Shape 2"/>
          <p:cNvSpPr/>
          <p:nvPr/>
        </p:nvSpPr>
        <p:spPr>
          <a:xfrm>
            <a:off x="457200" y="960120"/>
            <a:ext cx="11274552" cy="36576"/>
          </a:xfrm>
          <a:prstGeom prst="rect">
            <a:avLst/>
          </a:prstGeom>
          <a:solidFill>
            <a:srgbClr val="C9A24B"/>
          </a:solidFill>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879092"/>
                <a:gridCol w="1879092"/>
                <a:gridCol w="1879092"/>
                <a:gridCol w="1879092"/>
                <a:gridCol w="1879092"/>
                <a:gridCol w="1879092"/>
              </a:tblGrid>
              <a:tr h="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Instrument</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Currency</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Coupon</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Maturity</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Outstanding (USD mln)</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of Total</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Eurobond 2025 (Repaid)</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USD</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4.750%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Apr 2025</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Eurobond 2027</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USD</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5.375%</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Apr 2027</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750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17.6%</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Eurobond 2030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USD</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4.875%</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May 2030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23.5%</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Eurobond 2033</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USD</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5.750%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Jan 2033</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750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17.6%</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Eurobond 2048</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USD</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6.375%</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Oct 2048</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23.5%</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Syndicated Loan (RCF)</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USD</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SOFR+1.5%</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2027</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750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17.6%</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Other (Bank / DFIs)</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USD</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Various</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Various</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~0.2%</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r>
            </a:tbl>
          </a:graphicData>
        </a:graphic>
      </p:graphicFrame>
      <p:sp>
        <p:nvSpPr>
          <p:cNvPr id="6" name="Text 3"/>
          <p:cNvSpPr/>
          <p:nvPr/>
        </p:nvSpPr>
        <p:spPr>
          <a:xfrm>
            <a:off x="457200" y="5349240"/>
            <a:ext cx="11274552" cy="457200"/>
          </a:xfrm>
          <a:prstGeom prst="rect">
            <a:avLst/>
          </a:prstGeom>
          <a:noFill/>
          <a:ln/>
        </p:spPr>
        <p:txBody>
          <a:bodyPr wrap="square" rtlCol="0" anchor="ctr"/>
          <a:lstStyle/>
          <a:p>
            <a:pPr indent="0" marL="0">
              <a:buNone/>
            </a:pPr>
            <a:r>
              <a:rPr lang="en-US" sz="1200" dirty="0">
                <a:solidFill>
                  <a:srgbClr val="E4CD8B"/>
                </a:solidFill>
                <a:latin typeface="Calibri" pitchFamily="34" charset="0"/>
                <a:ea typeface="Calibri" pitchFamily="34" charset="-122"/>
                <a:cs typeface="Calibri" pitchFamily="34" charset="-120"/>
              </a:rPr>
              <a:t>Total gross debt: ~USD 4,250 mln. Weighted average maturity: ~8.5 years. 95%+ USD-denominated, naturally hedged by USD oil revenues.</a:t>
            </a:r>
            <a:endParaRPr lang="en-US" sz="1200" dirty="0"/>
          </a:p>
        </p:txBody>
      </p:sp>
      <p:sp>
        <p:nvSpPr>
          <p:cNvPr id="7" name="Text 4"/>
          <p:cNvSpPr/>
          <p:nvPr/>
        </p:nvSpPr>
        <p:spPr>
          <a:xfrm>
            <a:off x="457200" y="5897880"/>
            <a:ext cx="11274552" cy="320040"/>
          </a:xfrm>
          <a:prstGeom prst="rect">
            <a:avLst/>
          </a:prstGeom>
          <a:noFill/>
          <a:ln/>
        </p:spPr>
        <p:txBody>
          <a:bodyPr wrap="square" rtlCol="0" anchor="ctr"/>
          <a:lstStyle/>
          <a:p>
            <a:pPr indent="0" marL="0">
              <a:buNone/>
            </a:pPr>
            <a:r>
              <a:rPr lang="en-US" sz="1200" i="1" dirty="0">
                <a:solidFill>
                  <a:srgbClr val="AACCC5"/>
                </a:solidFill>
                <a:latin typeface="Calibri" pitchFamily="34" charset="0"/>
                <a:ea typeface="Calibri" pitchFamily="34" charset="-122"/>
                <a:cs typeface="Calibri" pitchFamily="34" charset="-120"/>
              </a:rPr>
              <a:t>This proposed Eurobond will further extend the maturity profile and pre-finance the 2027 maturity.</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E4D44"/>
          </a:solidFill>
          <a:ln/>
        </p:spPr>
      </p:sp>
      <p:sp>
        <p:nvSpPr>
          <p:cNvPr id="3" name="Text 1"/>
          <p:cNvSpPr/>
          <p:nvPr/>
        </p:nvSpPr>
        <p:spPr>
          <a:xfrm>
            <a:off x="457200" y="320040"/>
            <a:ext cx="11274552" cy="548640"/>
          </a:xfrm>
          <a:prstGeom prst="rect">
            <a:avLst/>
          </a:prstGeom>
          <a:noFill/>
          <a:ln/>
        </p:spPr>
        <p:txBody>
          <a:bodyPr wrap="square" rtlCol="0" anchor="ctr"/>
          <a:lstStyle/>
          <a:p>
            <a:pPr indent="0" marL="0">
              <a:buNone/>
            </a:pPr>
            <a:r>
              <a:rPr lang="en-US" sz="2800" b="1" dirty="0">
                <a:solidFill>
                  <a:srgbClr val="E4CD8B"/>
                </a:solidFill>
                <a:latin typeface="Cambria" pitchFamily="34" charset="0"/>
                <a:ea typeface="Cambria" pitchFamily="34" charset="-122"/>
                <a:cs typeface="Cambria" pitchFamily="34" charset="-120"/>
              </a:rPr>
              <a:t>Eurobond Maturity Profile</a:t>
            </a:r>
            <a:endParaRPr lang="en-US" sz="2800" dirty="0"/>
          </a:p>
        </p:txBody>
      </p:sp>
      <p:sp>
        <p:nvSpPr>
          <p:cNvPr id="4" name="Shape 2"/>
          <p:cNvSpPr/>
          <p:nvPr/>
        </p:nvSpPr>
        <p:spPr>
          <a:xfrm>
            <a:off x="457200" y="960120"/>
            <a:ext cx="11274552" cy="36576"/>
          </a:xfrm>
          <a:prstGeom prst="rect">
            <a:avLst/>
          </a:prstGeom>
          <a:solidFill>
            <a:srgbClr val="C9A24B"/>
          </a:solidFill>
          <a:ln/>
        </p:spPr>
      </p:sp>
      <p:sp>
        <p:nvSpPr>
          <p:cNvPr id="5" name="Text 3"/>
          <p:cNvSpPr/>
          <p:nvPr/>
        </p:nvSpPr>
        <p:spPr>
          <a:xfrm>
            <a:off x="731520" y="4846320"/>
            <a:ext cx="1005840" cy="274320"/>
          </a:xfrm>
          <a:prstGeom prst="rect">
            <a:avLst/>
          </a:prstGeom>
          <a:noFill/>
          <a:ln/>
        </p:spPr>
        <p:txBody>
          <a:bodyPr wrap="square" rtlCol="0" anchor="ctr"/>
          <a:lstStyle/>
          <a:p>
            <a:pPr algn="ctr" indent="0" marL="0">
              <a:buNone/>
            </a:pPr>
            <a:r>
              <a:rPr lang="en-US" sz="1100" dirty="0">
                <a:solidFill>
                  <a:srgbClr val="AACCC5"/>
                </a:solidFill>
                <a:latin typeface="Calibri" pitchFamily="34" charset="0"/>
                <a:ea typeface="Calibri" pitchFamily="34" charset="-122"/>
                <a:cs typeface="Calibri" pitchFamily="34" charset="-120"/>
              </a:rPr>
              <a:t>2025</a:t>
            </a:r>
            <a:endParaRPr lang="en-US" sz="1100" dirty="0"/>
          </a:p>
        </p:txBody>
      </p:sp>
      <p:sp>
        <p:nvSpPr>
          <p:cNvPr id="6" name="Text 4"/>
          <p:cNvSpPr/>
          <p:nvPr/>
        </p:nvSpPr>
        <p:spPr>
          <a:xfrm>
            <a:off x="1828800" y="4846320"/>
            <a:ext cx="1005840" cy="274320"/>
          </a:xfrm>
          <a:prstGeom prst="rect">
            <a:avLst/>
          </a:prstGeom>
          <a:noFill/>
          <a:ln/>
        </p:spPr>
        <p:txBody>
          <a:bodyPr wrap="square" rtlCol="0" anchor="ctr"/>
          <a:lstStyle/>
          <a:p>
            <a:pPr algn="ctr" indent="0" marL="0">
              <a:buNone/>
            </a:pPr>
            <a:r>
              <a:rPr lang="en-US" sz="1100" dirty="0">
                <a:solidFill>
                  <a:srgbClr val="AACCC5"/>
                </a:solidFill>
                <a:latin typeface="Calibri" pitchFamily="34" charset="0"/>
                <a:ea typeface="Calibri" pitchFamily="34" charset="-122"/>
                <a:cs typeface="Calibri" pitchFamily="34" charset="-120"/>
              </a:rPr>
              <a:t>2026</a:t>
            </a:r>
            <a:endParaRPr lang="en-US" sz="1100" dirty="0"/>
          </a:p>
        </p:txBody>
      </p:sp>
      <p:sp>
        <p:nvSpPr>
          <p:cNvPr id="7" name="Shape 5"/>
          <p:cNvSpPr/>
          <p:nvPr/>
        </p:nvSpPr>
        <p:spPr>
          <a:xfrm>
            <a:off x="3017520" y="2148840"/>
            <a:ext cx="822960" cy="2606040"/>
          </a:xfrm>
          <a:prstGeom prst="rect">
            <a:avLst>
              <a:gd name="adj" fmla="val 5556"/>
            </a:avLst>
          </a:prstGeom>
          <a:solidFill>
            <a:srgbClr val="C9A24B"/>
          </a:solidFill>
          <a:ln/>
        </p:spPr>
      </p:sp>
      <p:sp>
        <p:nvSpPr>
          <p:cNvPr id="8" name="Text 6"/>
          <p:cNvSpPr/>
          <p:nvPr/>
        </p:nvSpPr>
        <p:spPr>
          <a:xfrm>
            <a:off x="2926080" y="1737360"/>
            <a:ext cx="1005840" cy="320040"/>
          </a:xfrm>
          <a:prstGeom prst="rect">
            <a:avLst/>
          </a:prstGeom>
          <a:noFill/>
          <a:ln/>
        </p:spPr>
        <p:txBody>
          <a:bodyPr wrap="square" rtlCol="0" anchor="ctr"/>
          <a:lstStyle/>
          <a:p>
            <a:pPr algn="ctr" indent="0" marL="0">
              <a:buNone/>
            </a:pPr>
            <a:r>
              <a:rPr lang="en-US" sz="1100" b="1" dirty="0">
                <a:solidFill>
                  <a:srgbClr val="C9A24B"/>
                </a:solidFill>
                <a:latin typeface="Calibri" pitchFamily="34" charset="0"/>
                <a:ea typeface="Calibri" pitchFamily="34" charset="-122"/>
                <a:cs typeface="Calibri" pitchFamily="34" charset="-120"/>
              </a:rPr>
              <a:t>$750m</a:t>
            </a:r>
            <a:endParaRPr lang="en-US" sz="1100" dirty="0"/>
          </a:p>
        </p:txBody>
      </p:sp>
      <p:sp>
        <p:nvSpPr>
          <p:cNvPr id="9" name="Text 7"/>
          <p:cNvSpPr/>
          <p:nvPr/>
        </p:nvSpPr>
        <p:spPr>
          <a:xfrm>
            <a:off x="2926080" y="4846320"/>
            <a:ext cx="1005840" cy="274320"/>
          </a:xfrm>
          <a:prstGeom prst="rect">
            <a:avLst/>
          </a:prstGeom>
          <a:noFill/>
          <a:ln/>
        </p:spPr>
        <p:txBody>
          <a:bodyPr wrap="square" rtlCol="0" anchor="ctr"/>
          <a:lstStyle/>
          <a:p>
            <a:pPr algn="ctr" indent="0" marL="0">
              <a:buNone/>
            </a:pPr>
            <a:r>
              <a:rPr lang="en-US" sz="1100" dirty="0">
                <a:solidFill>
                  <a:srgbClr val="AACCC5"/>
                </a:solidFill>
                <a:latin typeface="Calibri" pitchFamily="34" charset="0"/>
                <a:ea typeface="Calibri" pitchFamily="34" charset="-122"/>
                <a:cs typeface="Calibri" pitchFamily="34" charset="-120"/>
              </a:rPr>
              <a:t>2027</a:t>
            </a:r>
            <a:endParaRPr lang="en-US" sz="1100" dirty="0"/>
          </a:p>
        </p:txBody>
      </p:sp>
      <p:sp>
        <p:nvSpPr>
          <p:cNvPr id="10" name="Text 8"/>
          <p:cNvSpPr/>
          <p:nvPr/>
        </p:nvSpPr>
        <p:spPr>
          <a:xfrm>
            <a:off x="4023360" y="4846320"/>
            <a:ext cx="1005840" cy="274320"/>
          </a:xfrm>
          <a:prstGeom prst="rect">
            <a:avLst/>
          </a:prstGeom>
          <a:noFill/>
          <a:ln/>
        </p:spPr>
        <p:txBody>
          <a:bodyPr wrap="square" rtlCol="0" anchor="ctr"/>
          <a:lstStyle/>
          <a:p>
            <a:pPr algn="ctr" indent="0" marL="0">
              <a:buNone/>
            </a:pPr>
            <a:r>
              <a:rPr lang="en-US" sz="1100" dirty="0">
                <a:solidFill>
                  <a:srgbClr val="AACCC5"/>
                </a:solidFill>
                <a:latin typeface="Calibri" pitchFamily="34" charset="0"/>
                <a:ea typeface="Calibri" pitchFamily="34" charset="-122"/>
                <a:cs typeface="Calibri" pitchFamily="34" charset="-120"/>
              </a:rPr>
              <a:t>2028</a:t>
            </a:r>
            <a:endParaRPr lang="en-US" sz="1100" dirty="0"/>
          </a:p>
        </p:txBody>
      </p:sp>
      <p:sp>
        <p:nvSpPr>
          <p:cNvPr id="11" name="Text 9"/>
          <p:cNvSpPr/>
          <p:nvPr/>
        </p:nvSpPr>
        <p:spPr>
          <a:xfrm>
            <a:off x="5120640" y="4846320"/>
            <a:ext cx="1005840" cy="274320"/>
          </a:xfrm>
          <a:prstGeom prst="rect">
            <a:avLst/>
          </a:prstGeom>
          <a:noFill/>
          <a:ln/>
        </p:spPr>
        <p:txBody>
          <a:bodyPr wrap="square" rtlCol="0" anchor="ctr"/>
          <a:lstStyle/>
          <a:p>
            <a:pPr algn="ctr" indent="0" marL="0">
              <a:buNone/>
            </a:pPr>
            <a:r>
              <a:rPr lang="en-US" sz="1100" dirty="0">
                <a:solidFill>
                  <a:srgbClr val="AACCC5"/>
                </a:solidFill>
                <a:latin typeface="Calibri" pitchFamily="34" charset="0"/>
                <a:ea typeface="Calibri" pitchFamily="34" charset="-122"/>
                <a:cs typeface="Calibri" pitchFamily="34" charset="-120"/>
              </a:rPr>
              <a:t>2029</a:t>
            </a:r>
            <a:endParaRPr lang="en-US" sz="1100" dirty="0"/>
          </a:p>
        </p:txBody>
      </p:sp>
      <p:sp>
        <p:nvSpPr>
          <p:cNvPr id="12" name="Shape 10"/>
          <p:cNvSpPr/>
          <p:nvPr/>
        </p:nvSpPr>
        <p:spPr>
          <a:xfrm>
            <a:off x="6309360" y="1280160"/>
            <a:ext cx="822960" cy="3474720"/>
          </a:xfrm>
          <a:prstGeom prst="rect">
            <a:avLst>
              <a:gd name="adj" fmla="val 5556"/>
            </a:avLst>
          </a:prstGeom>
          <a:solidFill>
            <a:srgbClr val="C9A24B"/>
          </a:solidFill>
          <a:ln/>
        </p:spPr>
      </p:sp>
      <p:sp>
        <p:nvSpPr>
          <p:cNvPr id="13" name="Text 11"/>
          <p:cNvSpPr/>
          <p:nvPr/>
        </p:nvSpPr>
        <p:spPr>
          <a:xfrm>
            <a:off x="6217920" y="868680"/>
            <a:ext cx="1005840" cy="320040"/>
          </a:xfrm>
          <a:prstGeom prst="rect">
            <a:avLst/>
          </a:prstGeom>
          <a:noFill/>
          <a:ln/>
        </p:spPr>
        <p:txBody>
          <a:bodyPr wrap="square" rtlCol="0" anchor="ctr"/>
          <a:lstStyle/>
          <a:p>
            <a:pPr algn="ctr" indent="0" marL="0">
              <a:buNone/>
            </a:pPr>
            <a:r>
              <a:rPr lang="en-US" sz="1100" b="1" dirty="0">
                <a:solidFill>
                  <a:srgbClr val="C9A24B"/>
                </a:solidFill>
                <a:latin typeface="Calibri" pitchFamily="34" charset="0"/>
                <a:ea typeface="Calibri" pitchFamily="34" charset="-122"/>
                <a:cs typeface="Calibri" pitchFamily="34" charset="-120"/>
              </a:rPr>
              <a:t>$1,000m</a:t>
            </a:r>
            <a:endParaRPr lang="en-US" sz="1100" dirty="0"/>
          </a:p>
        </p:txBody>
      </p:sp>
      <p:sp>
        <p:nvSpPr>
          <p:cNvPr id="14" name="Text 12"/>
          <p:cNvSpPr/>
          <p:nvPr/>
        </p:nvSpPr>
        <p:spPr>
          <a:xfrm>
            <a:off x="6217920" y="4846320"/>
            <a:ext cx="1005840" cy="274320"/>
          </a:xfrm>
          <a:prstGeom prst="rect">
            <a:avLst/>
          </a:prstGeom>
          <a:noFill/>
          <a:ln/>
        </p:spPr>
        <p:txBody>
          <a:bodyPr wrap="square" rtlCol="0" anchor="ctr"/>
          <a:lstStyle/>
          <a:p>
            <a:pPr algn="ctr" indent="0" marL="0">
              <a:buNone/>
            </a:pPr>
            <a:r>
              <a:rPr lang="en-US" sz="1100" dirty="0">
                <a:solidFill>
                  <a:srgbClr val="AACCC5"/>
                </a:solidFill>
                <a:latin typeface="Calibri" pitchFamily="34" charset="0"/>
                <a:ea typeface="Calibri" pitchFamily="34" charset="-122"/>
                <a:cs typeface="Calibri" pitchFamily="34" charset="-120"/>
              </a:rPr>
              <a:t>2030</a:t>
            </a:r>
            <a:endParaRPr lang="en-US" sz="1100" dirty="0"/>
          </a:p>
        </p:txBody>
      </p:sp>
      <p:sp>
        <p:nvSpPr>
          <p:cNvPr id="15" name="Text 13"/>
          <p:cNvSpPr/>
          <p:nvPr/>
        </p:nvSpPr>
        <p:spPr>
          <a:xfrm>
            <a:off x="7315200" y="4846320"/>
            <a:ext cx="1005840" cy="274320"/>
          </a:xfrm>
          <a:prstGeom prst="rect">
            <a:avLst/>
          </a:prstGeom>
          <a:noFill/>
          <a:ln/>
        </p:spPr>
        <p:txBody>
          <a:bodyPr wrap="square" rtlCol="0" anchor="ctr"/>
          <a:lstStyle/>
          <a:p>
            <a:pPr algn="ctr" indent="0" marL="0">
              <a:buNone/>
            </a:pPr>
            <a:r>
              <a:rPr lang="en-US" sz="1100" dirty="0">
                <a:solidFill>
                  <a:srgbClr val="AACCC5"/>
                </a:solidFill>
                <a:latin typeface="Calibri" pitchFamily="34" charset="0"/>
                <a:ea typeface="Calibri" pitchFamily="34" charset="-122"/>
                <a:cs typeface="Calibri" pitchFamily="34" charset="-120"/>
              </a:rPr>
              <a:t>2031</a:t>
            </a:r>
            <a:endParaRPr lang="en-US" sz="1100" dirty="0"/>
          </a:p>
        </p:txBody>
      </p:sp>
      <p:sp>
        <p:nvSpPr>
          <p:cNvPr id="16" name="Text 14"/>
          <p:cNvSpPr/>
          <p:nvPr/>
        </p:nvSpPr>
        <p:spPr>
          <a:xfrm>
            <a:off x="8412480" y="4846320"/>
            <a:ext cx="1005840" cy="274320"/>
          </a:xfrm>
          <a:prstGeom prst="rect">
            <a:avLst/>
          </a:prstGeom>
          <a:noFill/>
          <a:ln/>
        </p:spPr>
        <p:txBody>
          <a:bodyPr wrap="square" rtlCol="0" anchor="ctr"/>
          <a:lstStyle/>
          <a:p>
            <a:pPr algn="ctr" indent="0" marL="0">
              <a:buNone/>
            </a:pPr>
            <a:r>
              <a:rPr lang="en-US" sz="1100" dirty="0">
                <a:solidFill>
                  <a:srgbClr val="AACCC5"/>
                </a:solidFill>
                <a:latin typeface="Calibri" pitchFamily="34" charset="0"/>
                <a:ea typeface="Calibri" pitchFamily="34" charset="-122"/>
                <a:cs typeface="Calibri" pitchFamily="34" charset="-120"/>
              </a:rPr>
              <a:t>2032</a:t>
            </a:r>
            <a:endParaRPr lang="en-US" sz="1100" dirty="0"/>
          </a:p>
        </p:txBody>
      </p:sp>
      <p:sp>
        <p:nvSpPr>
          <p:cNvPr id="17" name="Shape 15"/>
          <p:cNvSpPr/>
          <p:nvPr/>
        </p:nvSpPr>
        <p:spPr>
          <a:xfrm>
            <a:off x="9601200" y="2148840"/>
            <a:ext cx="822960" cy="2606040"/>
          </a:xfrm>
          <a:prstGeom prst="rect">
            <a:avLst>
              <a:gd name="adj" fmla="val 5556"/>
            </a:avLst>
          </a:prstGeom>
          <a:solidFill>
            <a:srgbClr val="C9A24B"/>
          </a:solidFill>
          <a:ln/>
        </p:spPr>
      </p:sp>
      <p:sp>
        <p:nvSpPr>
          <p:cNvPr id="18" name="Text 16"/>
          <p:cNvSpPr/>
          <p:nvPr/>
        </p:nvSpPr>
        <p:spPr>
          <a:xfrm>
            <a:off x="9509760" y="1737360"/>
            <a:ext cx="1005840" cy="320040"/>
          </a:xfrm>
          <a:prstGeom prst="rect">
            <a:avLst/>
          </a:prstGeom>
          <a:noFill/>
          <a:ln/>
        </p:spPr>
        <p:txBody>
          <a:bodyPr wrap="square" rtlCol="0" anchor="ctr"/>
          <a:lstStyle/>
          <a:p>
            <a:pPr algn="ctr" indent="0" marL="0">
              <a:buNone/>
            </a:pPr>
            <a:r>
              <a:rPr lang="en-US" sz="1100" b="1" dirty="0">
                <a:solidFill>
                  <a:srgbClr val="C9A24B"/>
                </a:solidFill>
                <a:latin typeface="Calibri" pitchFamily="34" charset="0"/>
                <a:ea typeface="Calibri" pitchFamily="34" charset="-122"/>
                <a:cs typeface="Calibri" pitchFamily="34" charset="-120"/>
              </a:rPr>
              <a:t>$750m</a:t>
            </a:r>
            <a:endParaRPr lang="en-US" sz="1100" dirty="0"/>
          </a:p>
        </p:txBody>
      </p:sp>
      <p:sp>
        <p:nvSpPr>
          <p:cNvPr id="19" name="Text 17"/>
          <p:cNvSpPr/>
          <p:nvPr/>
        </p:nvSpPr>
        <p:spPr>
          <a:xfrm>
            <a:off x="9509760" y="4846320"/>
            <a:ext cx="1005840" cy="274320"/>
          </a:xfrm>
          <a:prstGeom prst="rect">
            <a:avLst/>
          </a:prstGeom>
          <a:noFill/>
          <a:ln/>
        </p:spPr>
        <p:txBody>
          <a:bodyPr wrap="square" rtlCol="0" anchor="ctr"/>
          <a:lstStyle/>
          <a:p>
            <a:pPr algn="ctr" indent="0" marL="0">
              <a:buNone/>
            </a:pPr>
            <a:r>
              <a:rPr lang="en-US" sz="1100" dirty="0">
                <a:solidFill>
                  <a:srgbClr val="AACCC5"/>
                </a:solidFill>
                <a:latin typeface="Calibri" pitchFamily="34" charset="0"/>
                <a:ea typeface="Calibri" pitchFamily="34" charset="-122"/>
                <a:cs typeface="Calibri" pitchFamily="34" charset="-120"/>
              </a:rPr>
              <a:t>2033</a:t>
            </a:r>
            <a:endParaRPr lang="en-US" sz="1100" dirty="0"/>
          </a:p>
        </p:txBody>
      </p:sp>
      <p:sp>
        <p:nvSpPr>
          <p:cNvPr id="20" name="Shape 18"/>
          <p:cNvSpPr/>
          <p:nvPr/>
        </p:nvSpPr>
        <p:spPr>
          <a:xfrm>
            <a:off x="10698480" y="1280160"/>
            <a:ext cx="822960" cy="3474720"/>
          </a:xfrm>
          <a:prstGeom prst="rect">
            <a:avLst>
              <a:gd name="adj" fmla="val 5556"/>
            </a:avLst>
          </a:prstGeom>
          <a:solidFill>
            <a:srgbClr val="C9A24B"/>
          </a:solidFill>
          <a:ln/>
        </p:spPr>
      </p:sp>
      <p:sp>
        <p:nvSpPr>
          <p:cNvPr id="21" name="Text 19"/>
          <p:cNvSpPr/>
          <p:nvPr/>
        </p:nvSpPr>
        <p:spPr>
          <a:xfrm>
            <a:off x="10607040" y="868680"/>
            <a:ext cx="1005840" cy="320040"/>
          </a:xfrm>
          <a:prstGeom prst="rect">
            <a:avLst/>
          </a:prstGeom>
          <a:noFill/>
          <a:ln/>
        </p:spPr>
        <p:txBody>
          <a:bodyPr wrap="square" rtlCol="0" anchor="ctr"/>
          <a:lstStyle/>
          <a:p>
            <a:pPr algn="ctr" indent="0" marL="0">
              <a:buNone/>
            </a:pPr>
            <a:r>
              <a:rPr lang="en-US" sz="1100" b="1" dirty="0">
                <a:solidFill>
                  <a:srgbClr val="C9A24B"/>
                </a:solidFill>
                <a:latin typeface="Calibri" pitchFamily="34" charset="0"/>
                <a:ea typeface="Calibri" pitchFamily="34" charset="-122"/>
                <a:cs typeface="Calibri" pitchFamily="34" charset="-120"/>
              </a:rPr>
              <a:t>$1,000m</a:t>
            </a:r>
            <a:endParaRPr lang="en-US" sz="1100" dirty="0"/>
          </a:p>
        </p:txBody>
      </p:sp>
      <p:sp>
        <p:nvSpPr>
          <p:cNvPr id="22" name="Text 20"/>
          <p:cNvSpPr/>
          <p:nvPr/>
        </p:nvSpPr>
        <p:spPr>
          <a:xfrm>
            <a:off x="10607040" y="4846320"/>
            <a:ext cx="1005840" cy="274320"/>
          </a:xfrm>
          <a:prstGeom prst="rect">
            <a:avLst/>
          </a:prstGeom>
          <a:noFill/>
          <a:ln/>
        </p:spPr>
        <p:txBody>
          <a:bodyPr wrap="square" rtlCol="0" anchor="ctr"/>
          <a:lstStyle/>
          <a:p>
            <a:pPr algn="ctr" indent="0" marL="0">
              <a:buNone/>
            </a:pPr>
            <a:r>
              <a:rPr lang="en-US" sz="1100" dirty="0">
                <a:solidFill>
                  <a:srgbClr val="AACCC5"/>
                </a:solidFill>
                <a:latin typeface="Calibri" pitchFamily="34" charset="0"/>
                <a:ea typeface="Calibri" pitchFamily="34" charset="-122"/>
                <a:cs typeface="Calibri" pitchFamily="34" charset="-120"/>
              </a:rPr>
              <a:t>2048</a:t>
            </a:r>
            <a:endParaRPr lang="en-US" sz="1100" dirty="0"/>
          </a:p>
        </p:txBody>
      </p:sp>
      <p:sp>
        <p:nvSpPr>
          <p:cNvPr id="23" name="Shape 21"/>
          <p:cNvSpPr/>
          <p:nvPr/>
        </p:nvSpPr>
        <p:spPr>
          <a:xfrm>
            <a:off x="640080" y="4800600"/>
            <a:ext cx="10881360" cy="36576"/>
          </a:xfrm>
          <a:prstGeom prst="rect">
            <a:avLst/>
          </a:prstGeom>
          <a:solidFill>
            <a:srgbClr val="000000"/>
          </a:solidFill>
          <a:ln/>
        </p:spPr>
      </p:sp>
      <p:sp>
        <p:nvSpPr>
          <p:cNvPr id="24" name="Text 22"/>
          <p:cNvSpPr/>
          <p:nvPr/>
        </p:nvSpPr>
        <p:spPr>
          <a:xfrm>
            <a:off x="457200" y="5166360"/>
            <a:ext cx="4572000" cy="274320"/>
          </a:xfrm>
          <a:prstGeom prst="rect">
            <a:avLst/>
          </a:prstGeom>
          <a:noFill/>
          <a:ln/>
        </p:spPr>
        <p:txBody>
          <a:bodyPr wrap="square" rtlCol="0" anchor="ctr"/>
          <a:lstStyle/>
          <a:p>
            <a:pPr indent="0" marL="0">
              <a:buNone/>
            </a:pPr>
            <a:r>
              <a:rPr lang="en-US" sz="1100" i="1" dirty="0">
                <a:solidFill>
                  <a:srgbClr val="667D79"/>
                </a:solidFill>
                <a:latin typeface="Calibri" pitchFamily="34" charset="0"/>
                <a:ea typeface="Calibri" pitchFamily="34" charset="-122"/>
                <a:cs typeface="Calibri" pitchFamily="34" charset="-120"/>
              </a:rPr>
              <a:t>USD mln (face value)</a:t>
            </a:r>
            <a:endParaRPr lang="en-US" sz="1100" dirty="0"/>
          </a:p>
        </p:txBody>
      </p:sp>
      <p:sp>
        <p:nvSpPr>
          <p:cNvPr id="25" name="Text 23"/>
          <p:cNvSpPr/>
          <p:nvPr/>
        </p:nvSpPr>
        <p:spPr>
          <a:xfrm>
            <a:off x="457200" y="5577840"/>
            <a:ext cx="11274552" cy="457200"/>
          </a:xfrm>
          <a:prstGeom prst="rect">
            <a:avLst/>
          </a:prstGeom>
          <a:noFill/>
          <a:ln/>
        </p:spPr>
        <p:txBody>
          <a:bodyPr wrap="square" rtlCol="0" anchor="ctr"/>
          <a:lstStyle/>
          <a:p>
            <a:pPr indent="0" marL="0">
              <a:buNone/>
            </a:pPr>
            <a:r>
              <a:rPr lang="en-US" sz="1200" dirty="0">
                <a:solidFill>
                  <a:srgbClr val="E4CD8B"/>
                </a:solidFill>
                <a:latin typeface="Calibri" pitchFamily="34" charset="0"/>
                <a:ea typeface="Calibri" pitchFamily="34" charset="-122"/>
                <a:cs typeface="Calibri" pitchFamily="34" charset="-120"/>
              </a:rPr>
              <a:t>New Eurobond (this transaction) will further extend the maturity profile beyond 2033 with a new tenor to be determined.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A3A33"/>
          </a:solidFill>
          <a:ln/>
        </p:spPr>
      </p:sp>
      <p:sp>
        <p:nvSpPr>
          <p:cNvPr id="3" name="Text 1"/>
          <p:cNvSpPr/>
          <p:nvPr/>
        </p:nvSpPr>
        <p:spPr>
          <a:xfrm>
            <a:off x="457200" y="320040"/>
            <a:ext cx="11274552" cy="548640"/>
          </a:xfrm>
          <a:prstGeom prst="rect">
            <a:avLst/>
          </a:prstGeom>
          <a:noFill/>
          <a:ln/>
        </p:spPr>
        <p:txBody>
          <a:bodyPr wrap="square" rtlCol="0" anchor="ctr"/>
          <a:lstStyle/>
          <a:p>
            <a:pPr indent="0" marL="0">
              <a:buNone/>
            </a:pPr>
            <a:r>
              <a:rPr lang="en-US" sz="2800" b="1" dirty="0">
                <a:solidFill>
                  <a:srgbClr val="E4CD8B"/>
                </a:solidFill>
                <a:latin typeface="Cambria" pitchFamily="34" charset="0"/>
                <a:ea typeface="Cambria" pitchFamily="34" charset="-122"/>
                <a:cs typeface="Cambria" pitchFamily="34" charset="-120"/>
              </a:rPr>
              <a:t>Credit Ratings</a:t>
            </a:r>
            <a:endParaRPr lang="en-US" sz="2800" dirty="0"/>
          </a:p>
        </p:txBody>
      </p:sp>
      <p:sp>
        <p:nvSpPr>
          <p:cNvPr id="4" name="Shape 2"/>
          <p:cNvSpPr/>
          <p:nvPr/>
        </p:nvSpPr>
        <p:spPr>
          <a:xfrm>
            <a:off x="457200" y="960120"/>
            <a:ext cx="11274552" cy="36576"/>
          </a:xfrm>
          <a:prstGeom prst="rect">
            <a:avLst/>
          </a:prstGeom>
          <a:solidFill>
            <a:srgbClr val="C9A24B"/>
          </a:solidFill>
          <a:ln/>
        </p:spPr>
      </p:sp>
      <p:sp>
        <p:nvSpPr>
          <p:cNvPr id="5" name="Shape 3"/>
          <p:cNvSpPr/>
          <p:nvPr/>
        </p:nvSpPr>
        <p:spPr>
          <a:xfrm>
            <a:off x="457200" y="1188720"/>
            <a:ext cx="3657600" cy="3840480"/>
          </a:xfrm>
          <a:prstGeom prst="rect">
            <a:avLst>
              <a:gd name="adj" fmla="val 3000"/>
            </a:avLst>
          </a:prstGeom>
          <a:solidFill>
            <a:srgbClr val="0E4D44"/>
          </a:solidFill>
          <a:ln w="19050">
            <a:solidFill>
              <a:srgbClr val="3A9BD5"/>
            </a:solidFill>
            <a:prstDash val="solid"/>
          </a:ln>
        </p:spPr>
      </p:sp>
      <p:sp>
        <p:nvSpPr>
          <p:cNvPr id="6" name="Text 4"/>
          <p:cNvSpPr/>
          <p:nvPr/>
        </p:nvSpPr>
        <p:spPr>
          <a:xfrm>
            <a:off x="457200" y="1325880"/>
            <a:ext cx="3657600" cy="411480"/>
          </a:xfrm>
          <a:prstGeom prst="rect">
            <a:avLst/>
          </a:prstGeom>
          <a:noFill/>
          <a:ln/>
        </p:spPr>
        <p:txBody>
          <a:bodyPr wrap="square" rtlCol="0" anchor="ctr"/>
          <a:lstStyle/>
          <a:p>
            <a:pPr algn="ctr" indent="0" marL="0">
              <a:buNone/>
            </a:pPr>
            <a:r>
              <a:rPr lang="en-US" sz="1600" b="1" dirty="0">
                <a:solidFill>
                  <a:srgbClr val="3A9BD5"/>
                </a:solidFill>
                <a:latin typeface="Cambria" pitchFamily="34" charset="0"/>
                <a:ea typeface="Cambria" pitchFamily="34" charset="-122"/>
                <a:cs typeface="Cambria" pitchFamily="34" charset="-120"/>
              </a:rPr>
              <a:t>Moody's</a:t>
            </a:r>
            <a:endParaRPr lang="en-US" sz="1600" dirty="0"/>
          </a:p>
        </p:txBody>
      </p:sp>
      <p:sp>
        <p:nvSpPr>
          <p:cNvPr id="7" name="Text 5"/>
          <p:cNvSpPr/>
          <p:nvPr/>
        </p:nvSpPr>
        <p:spPr>
          <a:xfrm>
            <a:off x="457200" y="1874520"/>
            <a:ext cx="3657600" cy="1280160"/>
          </a:xfrm>
          <a:prstGeom prst="rect">
            <a:avLst/>
          </a:prstGeom>
          <a:noFill/>
          <a:ln/>
        </p:spPr>
        <p:txBody>
          <a:bodyPr wrap="square" rtlCol="0" anchor="ctr"/>
          <a:lstStyle/>
          <a:p>
            <a:pPr algn="ctr" indent="0" marL="0">
              <a:buNone/>
            </a:pPr>
            <a:r>
              <a:rPr lang="en-US" sz="7200" b="1" dirty="0">
                <a:solidFill>
                  <a:srgbClr val="FFFFFF"/>
                </a:solidFill>
                <a:latin typeface="Cambria" pitchFamily="34" charset="0"/>
                <a:ea typeface="Cambria" pitchFamily="34" charset="-122"/>
                <a:cs typeface="Cambria" pitchFamily="34" charset="-120"/>
              </a:rPr>
              <a:t>Baa1</a:t>
            </a:r>
            <a:endParaRPr lang="en-US" sz="7200" dirty="0"/>
          </a:p>
        </p:txBody>
      </p:sp>
      <p:sp>
        <p:nvSpPr>
          <p:cNvPr id="8" name="Shape 6"/>
          <p:cNvSpPr/>
          <p:nvPr/>
        </p:nvSpPr>
        <p:spPr>
          <a:xfrm>
            <a:off x="1188720" y="3246120"/>
            <a:ext cx="2194560" cy="457200"/>
          </a:xfrm>
          <a:prstGeom prst="rect">
            <a:avLst>
              <a:gd name="adj" fmla="val 12000"/>
            </a:avLst>
          </a:prstGeom>
          <a:solidFill>
            <a:srgbClr val="000000"/>
          </a:solidFill>
          <a:ln w="9525">
            <a:solidFill>
              <a:srgbClr val="2A7D5A"/>
            </a:solidFill>
            <a:prstDash val="solid"/>
          </a:ln>
        </p:spPr>
      </p:sp>
      <p:sp>
        <p:nvSpPr>
          <p:cNvPr id="9" name="Text 7"/>
          <p:cNvSpPr/>
          <p:nvPr/>
        </p:nvSpPr>
        <p:spPr>
          <a:xfrm>
            <a:off x="1188720" y="3246120"/>
            <a:ext cx="2194560" cy="457200"/>
          </a:xfrm>
          <a:prstGeom prst="rect">
            <a:avLst/>
          </a:prstGeom>
          <a:noFill/>
          <a:ln/>
        </p:spPr>
        <p:txBody>
          <a:bodyPr wrap="square" rtlCol="0" anchor="ctr"/>
          <a:lstStyle/>
          <a:p>
            <a:pPr algn="ctr" indent="0" marL="0">
              <a:buNone/>
            </a:pPr>
            <a:r>
              <a:rPr lang="en-US" sz="1400" b="1" dirty="0">
                <a:solidFill>
                  <a:srgbClr val="64D2A0"/>
                </a:solidFill>
                <a:latin typeface="Calibri" pitchFamily="34" charset="0"/>
                <a:ea typeface="Calibri" pitchFamily="34" charset="-122"/>
                <a:cs typeface="Calibri" pitchFamily="34" charset="-120"/>
              </a:rPr>
              <a:t>Stable</a:t>
            </a:r>
            <a:endParaRPr lang="en-US" sz="1400" dirty="0"/>
          </a:p>
        </p:txBody>
      </p:sp>
      <p:sp>
        <p:nvSpPr>
          <p:cNvPr id="10" name="Text 8"/>
          <p:cNvSpPr/>
          <p:nvPr/>
        </p:nvSpPr>
        <p:spPr>
          <a:xfrm>
            <a:off x="457200" y="3822192"/>
            <a:ext cx="3657600" cy="320040"/>
          </a:xfrm>
          <a:prstGeom prst="rect">
            <a:avLst/>
          </a:prstGeom>
          <a:noFill/>
          <a:ln/>
        </p:spPr>
        <p:txBody>
          <a:bodyPr wrap="square" rtlCol="0" anchor="ctr"/>
          <a:lstStyle/>
          <a:p>
            <a:pPr algn="ctr" indent="0" marL="0">
              <a:buNone/>
            </a:pPr>
            <a:r>
              <a:rPr lang="en-US" sz="1100" i="1" dirty="0">
                <a:solidFill>
                  <a:srgbClr val="667D79"/>
                </a:solidFill>
                <a:latin typeface="Calibri" pitchFamily="34" charset="0"/>
                <a:ea typeface="Calibri" pitchFamily="34" charset="-122"/>
                <a:cs typeface="Calibri" pitchFamily="34" charset="-120"/>
              </a:rPr>
              <a:t>Affirmed Oct 2025</a:t>
            </a:r>
            <a:endParaRPr lang="en-US" sz="1100" dirty="0"/>
          </a:p>
        </p:txBody>
      </p:sp>
      <p:sp>
        <p:nvSpPr>
          <p:cNvPr id="11" name="Shape 9"/>
          <p:cNvSpPr/>
          <p:nvPr/>
        </p:nvSpPr>
        <p:spPr>
          <a:xfrm>
            <a:off x="4389120" y="1188720"/>
            <a:ext cx="3657600" cy="3840480"/>
          </a:xfrm>
          <a:prstGeom prst="rect">
            <a:avLst>
              <a:gd name="adj" fmla="val 3000"/>
            </a:avLst>
          </a:prstGeom>
          <a:solidFill>
            <a:srgbClr val="0E4D44"/>
          </a:solidFill>
          <a:ln w="19050">
            <a:solidFill>
              <a:srgbClr val="E8485A"/>
            </a:solidFill>
            <a:prstDash val="solid"/>
          </a:ln>
        </p:spPr>
      </p:sp>
      <p:sp>
        <p:nvSpPr>
          <p:cNvPr id="12" name="Text 10"/>
          <p:cNvSpPr/>
          <p:nvPr/>
        </p:nvSpPr>
        <p:spPr>
          <a:xfrm>
            <a:off x="4389120" y="1325880"/>
            <a:ext cx="3657600" cy="411480"/>
          </a:xfrm>
          <a:prstGeom prst="rect">
            <a:avLst/>
          </a:prstGeom>
          <a:noFill/>
          <a:ln/>
        </p:spPr>
        <p:txBody>
          <a:bodyPr wrap="square" rtlCol="0" anchor="ctr"/>
          <a:lstStyle/>
          <a:p>
            <a:pPr algn="ctr" indent="0" marL="0">
              <a:buNone/>
            </a:pPr>
            <a:r>
              <a:rPr lang="en-US" sz="1600" b="1" dirty="0">
                <a:solidFill>
                  <a:srgbClr val="E8485A"/>
                </a:solidFill>
                <a:latin typeface="Cambria" pitchFamily="34" charset="0"/>
                <a:ea typeface="Cambria" pitchFamily="34" charset="-122"/>
                <a:cs typeface="Cambria" pitchFamily="34" charset="-120"/>
              </a:rPr>
              <a:t>S&amp;P Global</a:t>
            </a:r>
            <a:endParaRPr lang="en-US" sz="1600" dirty="0"/>
          </a:p>
        </p:txBody>
      </p:sp>
      <p:sp>
        <p:nvSpPr>
          <p:cNvPr id="13" name="Text 11"/>
          <p:cNvSpPr/>
          <p:nvPr/>
        </p:nvSpPr>
        <p:spPr>
          <a:xfrm>
            <a:off x="4389120" y="1874520"/>
            <a:ext cx="3657600" cy="1280160"/>
          </a:xfrm>
          <a:prstGeom prst="rect">
            <a:avLst/>
          </a:prstGeom>
          <a:noFill/>
          <a:ln/>
        </p:spPr>
        <p:txBody>
          <a:bodyPr wrap="square" rtlCol="0" anchor="ctr"/>
          <a:lstStyle/>
          <a:p>
            <a:pPr algn="ctr" indent="0" marL="0">
              <a:buNone/>
            </a:pPr>
            <a:r>
              <a:rPr lang="en-US" sz="7200" b="1" dirty="0">
                <a:solidFill>
                  <a:srgbClr val="FFFFFF"/>
                </a:solidFill>
                <a:latin typeface="Cambria" pitchFamily="34" charset="0"/>
                <a:ea typeface="Cambria" pitchFamily="34" charset="-122"/>
                <a:cs typeface="Cambria" pitchFamily="34" charset="-120"/>
              </a:rPr>
              <a:t>BBB−</a:t>
            </a:r>
            <a:endParaRPr lang="en-US" sz="7200" dirty="0"/>
          </a:p>
        </p:txBody>
      </p:sp>
      <p:sp>
        <p:nvSpPr>
          <p:cNvPr id="14" name="Shape 12"/>
          <p:cNvSpPr/>
          <p:nvPr/>
        </p:nvSpPr>
        <p:spPr>
          <a:xfrm>
            <a:off x="5120640" y="3246120"/>
            <a:ext cx="2194560" cy="457200"/>
          </a:xfrm>
          <a:prstGeom prst="rect">
            <a:avLst>
              <a:gd name="adj" fmla="val 12000"/>
            </a:avLst>
          </a:prstGeom>
          <a:solidFill>
            <a:srgbClr val="000000"/>
          </a:solidFill>
          <a:ln w="9525">
            <a:solidFill>
              <a:srgbClr val="2A7D5A"/>
            </a:solidFill>
            <a:prstDash val="solid"/>
          </a:ln>
        </p:spPr>
      </p:sp>
      <p:sp>
        <p:nvSpPr>
          <p:cNvPr id="15" name="Text 13"/>
          <p:cNvSpPr/>
          <p:nvPr/>
        </p:nvSpPr>
        <p:spPr>
          <a:xfrm>
            <a:off x="5120640" y="3246120"/>
            <a:ext cx="2194560" cy="457200"/>
          </a:xfrm>
          <a:prstGeom prst="rect">
            <a:avLst/>
          </a:prstGeom>
          <a:noFill/>
          <a:ln/>
        </p:spPr>
        <p:txBody>
          <a:bodyPr wrap="square" rtlCol="0" anchor="ctr"/>
          <a:lstStyle/>
          <a:p>
            <a:pPr algn="ctr" indent="0" marL="0">
              <a:buNone/>
            </a:pPr>
            <a:r>
              <a:rPr lang="en-US" sz="1400" b="1" dirty="0">
                <a:solidFill>
                  <a:srgbClr val="64D2A0"/>
                </a:solidFill>
                <a:latin typeface="Calibri" pitchFamily="34" charset="0"/>
                <a:ea typeface="Calibri" pitchFamily="34" charset="-122"/>
                <a:cs typeface="Calibri" pitchFamily="34" charset="-120"/>
              </a:rPr>
              <a:t>Stable</a:t>
            </a:r>
            <a:endParaRPr lang="en-US" sz="1400" dirty="0"/>
          </a:p>
        </p:txBody>
      </p:sp>
      <p:sp>
        <p:nvSpPr>
          <p:cNvPr id="16" name="Text 14"/>
          <p:cNvSpPr/>
          <p:nvPr/>
        </p:nvSpPr>
        <p:spPr>
          <a:xfrm>
            <a:off x="4389120" y="3822192"/>
            <a:ext cx="3657600" cy="320040"/>
          </a:xfrm>
          <a:prstGeom prst="rect">
            <a:avLst/>
          </a:prstGeom>
          <a:noFill/>
          <a:ln/>
        </p:spPr>
        <p:txBody>
          <a:bodyPr wrap="square" rtlCol="0" anchor="ctr"/>
          <a:lstStyle/>
          <a:p>
            <a:pPr algn="ctr" indent="0" marL="0">
              <a:buNone/>
            </a:pPr>
            <a:r>
              <a:rPr lang="en-US" sz="1100" i="1" dirty="0">
                <a:solidFill>
                  <a:srgbClr val="667D79"/>
                </a:solidFill>
                <a:latin typeface="Calibri" pitchFamily="34" charset="0"/>
                <a:ea typeface="Calibri" pitchFamily="34" charset="-122"/>
                <a:cs typeface="Calibri" pitchFamily="34" charset="-120"/>
              </a:rPr>
              <a:t>Affirmed Nov 2025</a:t>
            </a:r>
            <a:endParaRPr lang="en-US" sz="1100" dirty="0"/>
          </a:p>
        </p:txBody>
      </p:sp>
      <p:sp>
        <p:nvSpPr>
          <p:cNvPr id="17" name="Shape 15"/>
          <p:cNvSpPr/>
          <p:nvPr/>
        </p:nvSpPr>
        <p:spPr>
          <a:xfrm>
            <a:off x="8321040" y="1188720"/>
            <a:ext cx="3657600" cy="3840480"/>
          </a:xfrm>
          <a:prstGeom prst="rect">
            <a:avLst>
              <a:gd name="adj" fmla="val 3000"/>
            </a:avLst>
          </a:prstGeom>
          <a:solidFill>
            <a:srgbClr val="0E4D44"/>
          </a:solidFill>
          <a:ln w="19050">
            <a:solidFill>
              <a:srgbClr val="F5A623"/>
            </a:solidFill>
            <a:prstDash val="solid"/>
          </a:ln>
        </p:spPr>
      </p:sp>
      <p:sp>
        <p:nvSpPr>
          <p:cNvPr id="18" name="Text 16"/>
          <p:cNvSpPr/>
          <p:nvPr/>
        </p:nvSpPr>
        <p:spPr>
          <a:xfrm>
            <a:off x="8321040" y="1325880"/>
            <a:ext cx="3657600" cy="411480"/>
          </a:xfrm>
          <a:prstGeom prst="rect">
            <a:avLst/>
          </a:prstGeom>
          <a:noFill/>
          <a:ln/>
        </p:spPr>
        <p:txBody>
          <a:bodyPr wrap="square" rtlCol="0" anchor="ctr"/>
          <a:lstStyle/>
          <a:p>
            <a:pPr algn="ctr" indent="0" marL="0">
              <a:buNone/>
            </a:pPr>
            <a:r>
              <a:rPr lang="en-US" sz="1600" b="1" dirty="0">
                <a:solidFill>
                  <a:srgbClr val="F5A623"/>
                </a:solidFill>
                <a:latin typeface="Cambria" pitchFamily="34" charset="0"/>
                <a:ea typeface="Cambria" pitchFamily="34" charset="-122"/>
                <a:cs typeface="Cambria" pitchFamily="34" charset="-120"/>
              </a:rPr>
              <a:t>Fitch Ratings</a:t>
            </a:r>
            <a:endParaRPr lang="en-US" sz="1600" dirty="0"/>
          </a:p>
        </p:txBody>
      </p:sp>
      <p:sp>
        <p:nvSpPr>
          <p:cNvPr id="19" name="Text 17"/>
          <p:cNvSpPr/>
          <p:nvPr/>
        </p:nvSpPr>
        <p:spPr>
          <a:xfrm>
            <a:off x="8321040" y="1874520"/>
            <a:ext cx="3657600" cy="1280160"/>
          </a:xfrm>
          <a:prstGeom prst="rect">
            <a:avLst/>
          </a:prstGeom>
          <a:noFill/>
          <a:ln/>
        </p:spPr>
        <p:txBody>
          <a:bodyPr wrap="square" rtlCol="0" anchor="ctr"/>
          <a:lstStyle/>
          <a:p>
            <a:pPr algn="ctr" indent="0" marL="0">
              <a:buNone/>
            </a:pPr>
            <a:r>
              <a:rPr lang="en-US" sz="7200" b="1" dirty="0">
                <a:solidFill>
                  <a:srgbClr val="FFFFFF"/>
                </a:solidFill>
                <a:latin typeface="Cambria" pitchFamily="34" charset="0"/>
                <a:ea typeface="Cambria" pitchFamily="34" charset="-122"/>
                <a:cs typeface="Cambria" pitchFamily="34" charset="-120"/>
              </a:rPr>
              <a:t>BBB</a:t>
            </a:r>
            <a:endParaRPr lang="en-US" sz="7200" dirty="0"/>
          </a:p>
        </p:txBody>
      </p:sp>
      <p:sp>
        <p:nvSpPr>
          <p:cNvPr id="20" name="Shape 18"/>
          <p:cNvSpPr/>
          <p:nvPr/>
        </p:nvSpPr>
        <p:spPr>
          <a:xfrm>
            <a:off x="9052560" y="3246120"/>
            <a:ext cx="2194560" cy="457200"/>
          </a:xfrm>
          <a:prstGeom prst="rect">
            <a:avLst>
              <a:gd name="adj" fmla="val 12000"/>
            </a:avLst>
          </a:prstGeom>
          <a:solidFill>
            <a:srgbClr val="000000"/>
          </a:solidFill>
          <a:ln w="9525">
            <a:solidFill>
              <a:srgbClr val="2A7D5A"/>
            </a:solidFill>
            <a:prstDash val="solid"/>
          </a:ln>
        </p:spPr>
      </p:sp>
      <p:sp>
        <p:nvSpPr>
          <p:cNvPr id="21" name="Text 19"/>
          <p:cNvSpPr/>
          <p:nvPr/>
        </p:nvSpPr>
        <p:spPr>
          <a:xfrm>
            <a:off x="9052560" y="3246120"/>
            <a:ext cx="2194560" cy="457200"/>
          </a:xfrm>
          <a:prstGeom prst="rect">
            <a:avLst/>
          </a:prstGeom>
          <a:noFill/>
          <a:ln/>
        </p:spPr>
        <p:txBody>
          <a:bodyPr wrap="square" rtlCol="0" anchor="ctr"/>
          <a:lstStyle/>
          <a:p>
            <a:pPr algn="ctr" indent="0" marL="0">
              <a:buNone/>
            </a:pPr>
            <a:r>
              <a:rPr lang="en-US" sz="1400" b="1" dirty="0">
                <a:solidFill>
                  <a:srgbClr val="64D2A0"/>
                </a:solidFill>
                <a:latin typeface="Calibri" pitchFamily="34" charset="0"/>
                <a:ea typeface="Calibri" pitchFamily="34" charset="-122"/>
                <a:cs typeface="Calibri" pitchFamily="34" charset="-120"/>
              </a:rPr>
              <a:t>Stable</a:t>
            </a:r>
            <a:endParaRPr lang="en-US" sz="1400" dirty="0"/>
          </a:p>
        </p:txBody>
      </p:sp>
      <p:sp>
        <p:nvSpPr>
          <p:cNvPr id="22" name="Text 20"/>
          <p:cNvSpPr/>
          <p:nvPr/>
        </p:nvSpPr>
        <p:spPr>
          <a:xfrm>
            <a:off x="8321040" y="3822192"/>
            <a:ext cx="3657600" cy="320040"/>
          </a:xfrm>
          <a:prstGeom prst="rect">
            <a:avLst/>
          </a:prstGeom>
          <a:noFill/>
          <a:ln/>
        </p:spPr>
        <p:txBody>
          <a:bodyPr wrap="square" rtlCol="0" anchor="ctr"/>
          <a:lstStyle/>
          <a:p>
            <a:pPr algn="ctr" indent="0" marL="0">
              <a:buNone/>
            </a:pPr>
            <a:r>
              <a:rPr lang="en-US" sz="1100" i="1" dirty="0">
                <a:solidFill>
                  <a:srgbClr val="667D79"/>
                </a:solidFill>
                <a:latin typeface="Calibri" pitchFamily="34" charset="0"/>
                <a:ea typeface="Calibri" pitchFamily="34" charset="-122"/>
                <a:cs typeface="Calibri" pitchFamily="34" charset="-120"/>
              </a:rPr>
              <a:t>Affirmed Dec 2025</a:t>
            </a:r>
            <a:endParaRPr lang="en-US" sz="1100" dirty="0"/>
          </a:p>
        </p:txBody>
      </p:sp>
      <p:sp>
        <p:nvSpPr>
          <p:cNvPr id="23" name="Text 21"/>
          <p:cNvSpPr/>
          <p:nvPr/>
        </p:nvSpPr>
        <p:spPr>
          <a:xfrm>
            <a:off x="457200" y="5303520"/>
            <a:ext cx="11274552" cy="548640"/>
          </a:xfrm>
          <a:prstGeom prst="rect">
            <a:avLst/>
          </a:prstGeom>
          <a:noFill/>
          <a:ln/>
        </p:spPr>
        <p:txBody>
          <a:bodyPr wrap="square" rtlCol="0" anchor="ctr"/>
          <a:lstStyle/>
          <a:p>
            <a:pPr algn="ctr" indent="0" marL="0">
              <a:buNone/>
            </a:pPr>
            <a:r>
              <a:rPr lang="en-US" sz="1300" dirty="0">
                <a:solidFill>
                  <a:srgbClr val="AACCC5"/>
                </a:solidFill>
                <a:latin typeface="Calibri" pitchFamily="34" charset="0"/>
                <a:ea typeface="Calibri" pitchFamily="34" charset="-122"/>
                <a:cs typeface="Calibri" pitchFamily="34" charset="-120"/>
              </a:rPr>
              <a:t>All three major rating agencies have affirmed KMG's investment grade ratings with Stable outlook, reflecting the company's strong financial position and sovereign support.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E4D44"/>
          </a:solidFill>
          <a:ln/>
        </p:spPr>
      </p:sp>
      <p:sp>
        <p:nvSpPr>
          <p:cNvPr id="3" name="Text 1"/>
          <p:cNvSpPr/>
          <p:nvPr/>
        </p:nvSpPr>
        <p:spPr>
          <a:xfrm>
            <a:off x="457200" y="320040"/>
            <a:ext cx="11274552" cy="548640"/>
          </a:xfrm>
          <a:prstGeom prst="rect">
            <a:avLst/>
          </a:prstGeom>
          <a:noFill/>
          <a:ln/>
        </p:spPr>
        <p:txBody>
          <a:bodyPr wrap="square" rtlCol="0" anchor="ctr"/>
          <a:lstStyle/>
          <a:p>
            <a:pPr indent="0" marL="0">
              <a:buNone/>
            </a:pPr>
            <a:r>
              <a:rPr lang="en-US" sz="2800" b="1" dirty="0">
                <a:solidFill>
                  <a:srgbClr val="E4CD8B"/>
                </a:solidFill>
                <a:latin typeface="Cambria" pitchFamily="34" charset="0"/>
                <a:ea typeface="Cambria" pitchFamily="34" charset="-122"/>
                <a:cs typeface="Cambria" pitchFamily="34" charset="-120"/>
              </a:rPr>
              <a:t>Capital Returns in a Global Context</a:t>
            </a:r>
            <a:endParaRPr lang="en-US" sz="2800" dirty="0"/>
          </a:p>
        </p:txBody>
      </p:sp>
      <p:sp>
        <p:nvSpPr>
          <p:cNvPr id="4" name="Shape 2"/>
          <p:cNvSpPr/>
          <p:nvPr/>
        </p:nvSpPr>
        <p:spPr>
          <a:xfrm>
            <a:off x="457200" y="960120"/>
            <a:ext cx="11274552" cy="36576"/>
          </a:xfrm>
          <a:prstGeom prst="rect">
            <a:avLst/>
          </a:prstGeom>
          <a:solidFill>
            <a:srgbClr val="C9A24B"/>
          </a:solidFill>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254910"/>
                <a:gridCol w="2254910"/>
                <a:gridCol w="2254910"/>
                <a:gridCol w="2254910"/>
                <a:gridCol w="2254910"/>
              </a:tblGrid>
              <a:tr h="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Company</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Dividend Yield</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Buyback</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Total Shareholder Return</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Rating</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3A33"/>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KMG (2025)</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N/A (state-owned)</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Baa1/BBB−/BBB</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Shell plc</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3.8%</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$3.5 bln buyback</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Aa3/A+/AA−</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Saudi Aramco</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4.2%</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~4.2%</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A1/A+/A+</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Equinor</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3.1%</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$1.2 bln buyback</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Aa2/AA−/A+</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TotalEnergies</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$2.0 bln buyback</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Aa3/A+/AA−</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7F6F2"/>
                    </a:solidFill>
                  </a:tcPr>
                </a:tc>
              </a:tr>
              <a:tr h="0">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Lukoil (pre-sanct.)</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Suspended</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421"/>
                          </a:solidFill>
                          <a:latin typeface="Calibri" pitchFamily="34" charset="0"/>
                          <a:ea typeface="Calibri" pitchFamily="34" charset="-122"/>
                          <a:cs typeface="Calibri" pitchFamily="34" charset="-120"/>
                        </a:rPr>
                        <a:t>N/R (sanctioned)</a:t>
                      </a:r>
                      <a:endParaRPr lang="en-US" sz="1200" dirty="0">
                        <a:latin typeface="Calibri" charset="0"/>
                        <a:ea typeface="Calibri" charset="0"/>
                        <a:cs typeface="Calibri"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5760720"/>
            <a:ext cx="11274552" cy="457200"/>
          </a:xfrm>
          <a:prstGeom prst="rect">
            <a:avLst/>
          </a:prstGeom>
          <a:noFill/>
          <a:ln/>
        </p:spPr>
        <p:txBody>
          <a:bodyPr wrap="square" rtlCol="0" anchor="ctr"/>
          <a:lstStyle/>
          <a:p>
            <a:pPr indent="0" marL="0">
              <a:buNone/>
            </a:pPr>
            <a:r>
              <a:rPr lang="en-US" sz="1200" i="1" dirty="0">
                <a:solidFill>
                  <a:srgbClr val="E4CD8B"/>
                </a:solidFill>
                <a:latin typeface="Calibri" pitchFamily="34" charset="0"/>
                <a:ea typeface="Calibri" pitchFamily="34" charset="-122"/>
                <a:cs typeface="Calibri" pitchFamily="34" charset="-120"/>
              </a:rPr>
              <a:t>KMG dividend is paid to Samruk-Kazyna (100% shareholder). Dividend policy targets ~30% of consolidated net income.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A3A33"/>
          </a:solidFill>
          <a:ln/>
        </p:spPr>
      </p:sp>
      <p:sp>
        <p:nvSpPr>
          <p:cNvPr id="3" name="Text 1"/>
          <p:cNvSpPr/>
          <p:nvPr/>
        </p:nvSpPr>
        <p:spPr>
          <a:xfrm>
            <a:off x="457200" y="320040"/>
            <a:ext cx="11274552" cy="548640"/>
          </a:xfrm>
          <a:prstGeom prst="rect">
            <a:avLst/>
          </a:prstGeom>
          <a:noFill/>
          <a:ln/>
        </p:spPr>
        <p:txBody>
          <a:bodyPr wrap="square" rtlCol="0" anchor="ctr"/>
          <a:lstStyle/>
          <a:p>
            <a:pPr indent="0" marL="0">
              <a:buNone/>
            </a:pPr>
            <a:r>
              <a:rPr lang="en-US" sz="2800" b="1" dirty="0">
                <a:solidFill>
                  <a:srgbClr val="E4CD8B"/>
                </a:solidFill>
                <a:latin typeface="Cambria" pitchFamily="34" charset="0"/>
                <a:ea typeface="Cambria" pitchFamily="34" charset="-122"/>
                <a:cs typeface="Cambria" pitchFamily="34" charset="-120"/>
              </a:rPr>
              <a:t>Capital Allocation &amp; Dividend Policy</a:t>
            </a:r>
            <a:endParaRPr lang="en-US" sz="2800" dirty="0"/>
          </a:p>
        </p:txBody>
      </p:sp>
      <p:sp>
        <p:nvSpPr>
          <p:cNvPr id="4" name="Shape 2"/>
          <p:cNvSpPr/>
          <p:nvPr/>
        </p:nvSpPr>
        <p:spPr>
          <a:xfrm>
            <a:off x="457200" y="960120"/>
            <a:ext cx="11274552" cy="36576"/>
          </a:xfrm>
          <a:prstGeom prst="rect">
            <a:avLst/>
          </a:prstGeom>
          <a:solidFill>
            <a:srgbClr val="C9A24B"/>
          </a:solidFill>
          <a:ln/>
        </p:spPr>
      </p:sp>
      <p:sp>
        <p:nvSpPr>
          <p:cNvPr id="5" name="Shape 3"/>
          <p:cNvSpPr/>
          <p:nvPr/>
        </p:nvSpPr>
        <p:spPr>
          <a:xfrm>
            <a:off x="457200" y="1188720"/>
            <a:ext cx="2286000" cy="1463040"/>
          </a:xfrm>
          <a:prstGeom prst="rect">
            <a:avLst>
              <a:gd name="adj" fmla="val 6250"/>
            </a:avLst>
          </a:prstGeom>
          <a:solidFill>
            <a:srgbClr val="1A6558"/>
          </a:solidFill>
          <a:ln w="12700">
            <a:solidFill>
              <a:srgbClr val="C9A24B"/>
            </a:solidFill>
            <a:prstDash val="solid"/>
          </a:ln>
        </p:spPr>
      </p:sp>
      <p:sp>
        <p:nvSpPr>
          <p:cNvPr id="6" name="Text 4"/>
          <p:cNvSpPr/>
          <p:nvPr/>
        </p:nvSpPr>
        <p:spPr>
          <a:xfrm>
            <a:off x="594360" y="1298448"/>
            <a:ext cx="2011680" cy="274320"/>
          </a:xfrm>
          <a:prstGeom prst="rect">
            <a:avLst/>
          </a:prstGeom>
          <a:noFill/>
          <a:ln/>
        </p:spPr>
        <p:txBody>
          <a:bodyPr wrap="square" rtlCol="0" anchor="ctr"/>
          <a:lstStyle/>
          <a:p>
            <a:pPr indent="0" marL="0">
              <a:buNone/>
            </a:pPr>
            <a:r>
              <a:rPr lang="en-US" sz="1000" b="1" dirty="0">
                <a:solidFill>
                  <a:srgbClr val="E4CD8B"/>
                </a:solidFill>
                <a:latin typeface="Calibri" pitchFamily="34" charset="0"/>
                <a:ea typeface="Calibri" pitchFamily="34" charset="-122"/>
                <a:cs typeface="Calibri" pitchFamily="34" charset="-120"/>
              </a:rPr>
              <a:t>Dividend FY2025</a:t>
            </a:r>
            <a:endParaRPr lang="en-US" sz="1000" dirty="0"/>
          </a:p>
        </p:txBody>
      </p:sp>
      <p:sp>
        <p:nvSpPr>
          <p:cNvPr id="7" name="Text 5"/>
          <p:cNvSpPr/>
          <p:nvPr/>
        </p:nvSpPr>
        <p:spPr>
          <a:xfrm>
            <a:off x="594360" y="1572768"/>
            <a:ext cx="201168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KZT 312 bln</a:t>
            </a:r>
            <a:endParaRPr lang="en-US" sz="2000" dirty="0"/>
          </a:p>
        </p:txBody>
      </p:sp>
      <p:sp>
        <p:nvSpPr>
          <p:cNvPr id="8" name="Text 6"/>
          <p:cNvSpPr/>
          <p:nvPr/>
        </p:nvSpPr>
        <p:spPr>
          <a:xfrm>
            <a:off x="594360" y="2057400"/>
            <a:ext cx="2011680" cy="457200"/>
          </a:xfrm>
          <a:prstGeom prst="rect">
            <a:avLst/>
          </a:prstGeom>
          <a:noFill/>
          <a:ln/>
        </p:spPr>
        <p:txBody>
          <a:bodyPr wrap="square" rtlCol="0" anchor="ctr"/>
          <a:lstStyle/>
          <a:p>
            <a:pPr indent="0" marL="0">
              <a:buNone/>
            </a:pPr>
            <a:r>
              <a:rPr lang="en-US" sz="1000" dirty="0">
                <a:solidFill>
                  <a:srgbClr val="AACCC5"/>
                </a:solidFill>
                <a:latin typeface="Calibri" pitchFamily="34" charset="0"/>
                <a:ea typeface="Calibri" pitchFamily="34" charset="-122"/>
                <a:cs typeface="Calibri" pitchFamily="34" charset="-120"/>
              </a:rPr>
              <a:t>~28% of Net Income</a:t>
            </a:r>
            <a:endParaRPr lang="en-US" sz="1000" dirty="0"/>
          </a:p>
        </p:txBody>
      </p:sp>
      <p:sp>
        <p:nvSpPr>
          <p:cNvPr id="9" name="Shape 7"/>
          <p:cNvSpPr/>
          <p:nvPr/>
        </p:nvSpPr>
        <p:spPr>
          <a:xfrm>
            <a:off x="2880360" y="1188720"/>
            <a:ext cx="2286000" cy="1463040"/>
          </a:xfrm>
          <a:prstGeom prst="rect">
            <a:avLst>
              <a:gd name="adj" fmla="val 6250"/>
            </a:avLst>
          </a:prstGeom>
          <a:solidFill>
            <a:srgbClr val="1A6558"/>
          </a:solidFill>
          <a:ln w="12700">
            <a:solidFill>
              <a:srgbClr val="C9A24B"/>
            </a:solidFill>
            <a:prstDash val="solid"/>
          </a:ln>
        </p:spPr>
      </p:sp>
      <p:sp>
        <p:nvSpPr>
          <p:cNvPr id="10" name="Text 8"/>
          <p:cNvSpPr/>
          <p:nvPr/>
        </p:nvSpPr>
        <p:spPr>
          <a:xfrm>
            <a:off x="3017520" y="1298448"/>
            <a:ext cx="2011680" cy="274320"/>
          </a:xfrm>
          <a:prstGeom prst="rect">
            <a:avLst/>
          </a:prstGeom>
          <a:noFill/>
          <a:ln/>
        </p:spPr>
        <p:txBody>
          <a:bodyPr wrap="square" rtlCol="0" anchor="ctr"/>
          <a:lstStyle/>
          <a:p>
            <a:pPr indent="0" marL="0">
              <a:buNone/>
            </a:pPr>
            <a:r>
              <a:rPr lang="en-US" sz="1000" b="1" dirty="0">
                <a:solidFill>
                  <a:srgbClr val="E4CD8B"/>
                </a:solidFill>
                <a:latin typeface="Calibri" pitchFamily="34" charset="0"/>
                <a:ea typeface="Calibri" pitchFamily="34" charset="-122"/>
                <a:cs typeface="Calibri" pitchFamily="34" charset="-120"/>
              </a:rPr>
              <a:t>Capex FY2025</a:t>
            </a:r>
            <a:endParaRPr lang="en-US" sz="1000" dirty="0"/>
          </a:p>
        </p:txBody>
      </p:sp>
      <p:sp>
        <p:nvSpPr>
          <p:cNvPr id="11" name="Text 9"/>
          <p:cNvSpPr/>
          <p:nvPr/>
        </p:nvSpPr>
        <p:spPr>
          <a:xfrm>
            <a:off x="3017520" y="1572768"/>
            <a:ext cx="201168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KZT 1,247 bln</a:t>
            </a:r>
            <a:endParaRPr lang="en-US" sz="2000" dirty="0"/>
          </a:p>
        </p:txBody>
      </p:sp>
      <p:sp>
        <p:nvSpPr>
          <p:cNvPr id="12" name="Text 10"/>
          <p:cNvSpPr/>
          <p:nvPr/>
        </p:nvSpPr>
        <p:spPr>
          <a:xfrm>
            <a:off x="3017520" y="2057400"/>
            <a:ext cx="2011680" cy="457200"/>
          </a:xfrm>
          <a:prstGeom prst="rect">
            <a:avLst/>
          </a:prstGeom>
          <a:noFill/>
          <a:ln/>
        </p:spPr>
        <p:txBody>
          <a:bodyPr wrap="square" rtlCol="0" anchor="ctr"/>
          <a:lstStyle/>
          <a:p>
            <a:pPr indent="0" marL="0">
              <a:buNone/>
            </a:pPr>
            <a:r>
              <a:rPr lang="en-US" sz="1000" dirty="0">
                <a:solidFill>
                  <a:srgbClr val="AACCC5"/>
                </a:solidFill>
                <a:latin typeface="Calibri" pitchFamily="34" charset="0"/>
                <a:ea typeface="Calibri" pitchFamily="34" charset="-122"/>
                <a:cs typeface="Calibri" pitchFamily="34" charset="-120"/>
              </a:rPr>
              <a:t>Growth + Maintenance</a:t>
            </a:r>
            <a:endParaRPr lang="en-US" sz="1000" dirty="0"/>
          </a:p>
        </p:txBody>
      </p:sp>
      <p:sp>
        <p:nvSpPr>
          <p:cNvPr id="13" name="Shape 11"/>
          <p:cNvSpPr/>
          <p:nvPr/>
        </p:nvSpPr>
        <p:spPr>
          <a:xfrm>
            <a:off x="5303520" y="1188720"/>
            <a:ext cx="2286000" cy="1463040"/>
          </a:xfrm>
          <a:prstGeom prst="rect">
            <a:avLst>
              <a:gd name="adj" fmla="val 6250"/>
            </a:avLst>
          </a:prstGeom>
          <a:solidFill>
            <a:srgbClr val="1A6558"/>
          </a:solidFill>
          <a:ln w="12700">
            <a:solidFill>
              <a:srgbClr val="C9A24B"/>
            </a:solidFill>
            <a:prstDash val="solid"/>
          </a:ln>
        </p:spPr>
      </p:sp>
      <p:sp>
        <p:nvSpPr>
          <p:cNvPr id="14" name="Text 12"/>
          <p:cNvSpPr/>
          <p:nvPr/>
        </p:nvSpPr>
        <p:spPr>
          <a:xfrm>
            <a:off x="5440680" y="1298448"/>
            <a:ext cx="2011680" cy="274320"/>
          </a:xfrm>
          <a:prstGeom prst="rect">
            <a:avLst/>
          </a:prstGeom>
          <a:noFill/>
          <a:ln/>
        </p:spPr>
        <p:txBody>
          <a:bodyPr wrap="square" rtlCol="0" anchor="ctr"/>
          <a:lstStyle/>
          <a:p>
            <a:pPr indent="0" marL="0">
              <a:buNone/>
            </a:pPr>
            <a:r>
              <a:rPr lang="en-US" sz="1000" b="1" dirty="0">
                <a:solidFill>
                  <a:srgbClr val="E4CD8B"/>
                </a:solidFill>
                <a:latin typeface="Calibri" pitchFamily="34" charset="0"/>
                <a:ea typeface="Calibri" pitchFamily="34" charset="-122"/>
                <a:cs typeface="Calibri" pitchFamily="34" charset="-120"/>
              </a:rPr>
              <a:t>Debt Repaid FY25</a:t>
            </a:r>
            <a:endParaRPr lang="en-US" sz="1000" dirty="0"/>
          </a:p>
        </p:txBody>
      </p:sp>
      <p:sp>
        <p:nvSpPr>
          <p:cNvPr id="15" name="Text 13"/>
          <p:cNvSpPr/>
          <p:nvPr/>
        </p:nvSpPr>
        <p:spPr>
          <a:xfrm>
            <a:off x="5440680" y="1572768"/>
            <a:ext cx="201168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~USD 400 mln</a:t>
            </a:r>
            <a:endParaRPr lang="en-US" sz="2000" dirty="0"/>
          </a:p>
        </p:txBody>
      </p:sp>
      <p:sp>
        <p:nvSpPr>
          <p:cNvPr id="16" name="Text 14"/>
          <p:cNvSpPr/>
          <p:nvPr/>
        </p:nvSpPr>
        <p:spPr>
          <a:xfrm>
            <a:off x="5440680" y="2057400"/>
            <a:ext cx="2011680" cy="457200"/>
          </a:xfrm>
          <a:prstGeom prst="rect">
            <a:avLst/>
          </a:prstGeom>
          <a:noFill/>
          <a:ln/>
        </p:spPr>
        <p:txBody>
          <a:bodyPr wrap="square" rtlCol="0" anchor="ctr"/>
          <a:lstStyle/>
          <a:p>
            <a:pPr indent="0" marL="0">
              <a:buNone/>
            </a:pPr>
            <a:r>
              <a:rPr lang="en-US" sz="1000" dirty="0">
                <a:solidFill>
                  <a:srgbClr val="AACCC5"/>
                </a:solidFill>
                <a:latin typeface="Calibri" pitchFamily="34" charset="0"/>
                <a:ea typeface="Calibri" pitchFamily="34" charset="-122"/>
                <a:cs typeface="Calibri" pitchFamily="34" charset="-120"/>
              </a:rPr>
              <a:t>Voluntary prepayments</a:t>
            </a:r>
            <a:endParaRPr lang="en-US" sz="1000" dirty="0"/>
          </a:p>
        </p:txBody>
      </p:sp>
      <p:sp>
        <p:nvSpPr>
          <p:cNvPr id="17" name="Shape 15"/>
          <p:cNvSpPr/>
          <p:nvPr/>
        </p:nvSpPr>
        <p:spPr>
          <a:xfrm>
            <a:off x="7726680" y="1188720"/>
            <a:ext cx="2286000" cy="1463040"/>
          </a:xfrm>
          <a:prstGeom prst="rect">
            <a:avLst>
              <a:gd name="adj" fmla="val 6250"/>
            </a:avLst>
          </a:prstGeom>
          <a:solidFill>
            <a:srgbClr val="1A6558"/>
          </a:solidFill>
          <a:ln w="12700">
            <a:solidFill>
              <a:srgbClr val="C9A24B"/>
            </a:solidFill>
            <a:prstDash val="solid"/>
          </a:ln>
        </p:spPr>
      </p:sp>
      <p:sp>
        <p:nvSpPr>
          <p:cNvPr id="18" name="Text 16"/>
          <p:cNvSpPr/>
          <p:nvPr/>
        </p:nvSpPr>
        <p:spPr>
          <a:xfrm>
            <a:off x="7863840" y="1298448"/>
            <a:ext cx="2011680" cy="274320"/>
          </a:xfrm>
          <a:prstGeom prst="rect">
            <a:avLst/>
          </a:prstGeom>
          <a:noFill/>
          <a:ln/>
        </p:spPr>
        <p:txBody>
          <a:bodyPr wrap="square" rtlCol="0" anchor="ctr"/>
          <a:lstStyle/>
          <a:p>
            <a:pPr indent="0" marL="0">
              <a:buNone/>
            </a:pPr>
            <a:r>
              <a:rPr lang="en-US" sz="1000" b="1" dirty="0">
                <a:solidFill>
                  <a:srgbClr val="E4CD8B"/>
                </a:solidFill>
                <a:latin typeface="Calibri" pitchFamily="34" charset="0"/>
                <a:ea typeface="Calibri" pitchFamily="34" charset="-122"/>
                <a:cs typeface="Calibri" pitchFamily="34" charset="-120"/>
              </a:rPr>
              <a:t>FCF FY2025</a:t>
            </a:r>
            <a:endParaRPr lang="en-US" sz="1000" dirty="0"/>
          </a:p>
        </p:txBody>
      </p:sp>
      <p:sp>
        <p:nvSpPr>
          <p:cNvPr id="19" name="Text 17"/>
          <p:cNvSpPr/>
          <p:nvPr/>
        </p:nvSpPr>
        <p:spPr>
          <a:xfrm>
            <a:off x="7863840" y="1572768"/>
            <a:ext cx="201168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KZT 1,146 bln</a:t>
            </a:r>
            <a:endParaRPr lang="en-US" sz="2000" dirty="0"/>
          </a:p>
        </p:txBody>
      </p:sp>
      <p:sp>
        <p:nvSpPr>
          <p:cNvPr id="20" name="Text 18"/>
          <p:cNvSpPr/>
          <p:nvPr/>
        </p:nvSpPr>
        <p:spPr>
          <a:xfrm>
            <a:off x="7863840" y="2057400"/>
            <a:ext cx="2011680" cy="457200"/>
          </a:xfrm>
          <a:prstGeom prst="rect">
            <a:avLst/>
          </a:prstGeom>
          <a:noFill/>
          <a:ln/>
        </p:spPr>
        <p:txBody>
          <a:bodyPr wrap="square" rtlCol="0" anchor="ctr"/>
          <a:lstStyle/>
          <a:p>
            <a:pPr indent="0" marL="0">
              <a:buNone/>
            </a:pPr>
            <a:r>
              <a:rPr lang="en-US" sz="1000" dirty="0">
                <a:solidFill>
                  <a:srgbClr val="AACCC5"/>
                </a:solidFill>
                <a:latin typeface="Calibri" pitchFamily="34" charset="0"/>
                <a:ea typeface="Calibri" pitchFamily="34" charset="-122"/>
                <a:cs typeface="Calibri" pitchFamily="34" charset="-120"/>
              </a:rPr>
              <a:t>After Capex &amp; Tax</a:t>
            </a:r>
            <a:endParaRPr lang="en-US" sz="1000" dirty="0"/>
          </a:p>
        </p:txBody>
      </p:sp>
      <p:sp>
        <p:nvSpPr>
          <p:cNvPr id="21" name="Text 19"/>
          <p:cNvSpPr/>
          <p:nvPr/>
        </p:nvSpPr>
        <p:spPr>
          <a:xfrm>
            <a:off x="457200" y="2880360"/>
            <a:ext cx="11274552" cy="365760"/>
          </a:xfrm>
          <a:prstGeom prst="rect">
            <a:avLst/>
          </a:prstGeom>
          <a:noFill/>
          <a:ln/>
        </p:spPr>
        <p:txBody>
          <a:bodyPr wrap="square" rtlCol="0" anchor="ctr"/>
          <a:lstStyle/>
          <a:p>
            <a:pPr indent="0" marL="0">
              <a:buNone/>
            </a:pPr>
            <a:r>
              <a:rPr lang="en-US" sz="1500" b="1" dirty="0">
                <a:solidFill>
                  <a:srgbClr val="E4CD8B"/>
                </a:solidFill>
                <a:latin typeface="Cambria" pitchFamily="34" charset="0"/>
                <a:ea typeface="Cambria" pitchFamily="34" charset="-122"/>
                <a:cs typeface="Cambria" pitchFamily="34" charset="-120"/>
              </a:rPr>
              <a:t>Capital Allocation Priorities</a:t>
            </a:r>
            <a:endParaRPr lang="en-US" sz="1500" dirty="0"/>
          </a:p>
        </p:txBody>
      </p:sp>
      <p:sp>
        <p:nvSpPr>
          <p:cNvPr id="22" name="Shape 20"/>
          <p:cNvSpPr/>
          <p:nvPr/>
        </p:nvSpPr>
        <p:spPr>
          <a:xfrm>
            <a:off x="457200" y="3337560"/>
            <a:ext cx="11274552" cy="594360"/>
          </a:xfrm>
          <a:prstGeom prst="rect">
            <a:avLst>
              <a:gd name="adj" fmla="val 7692"/>
            </a:avLst>
          </a:prstGeom>
          <a:solidFill>
            <a:srgbClr val="0E4D44"/>
          </a:solidFill>
          <a:ln/>
        </p:spPr>
      </p:sp>
      <p:sp>
        <p:nvSpPr>
          <p:cNvPr id="23" name="Shape 21"/>
          <p:cNvSpPr/>
          <p:nvPr/>
        </p:nvSpPr>
        <p:spPr>
          <a:xfrm>
            <a:off x="457200" y="3337560"/>
            <a:ext cx="640080" cy="594360"/>
          </a:xfrm>
          <a:prstGeom prst="rect">
            <a:avLst>
              <a:gd name="adj" fmla="val 7692"/>
            </a:avLst>
          </a:prstGeom>
          <a:solidFill>
            <a:srgbClr val="C9A24B"/>
          </a:solidFill>
          <a:ln/>
        </p:spPr>
      </p:sp>
      <p:sp>
        <p:nvSpPr>
          <p:cNvPr id="24" name="Text 22"/>
          <p:cNvSpPr/>
          <p:nvPr/>
        </p:nvSpPr>
        <p:spPr>
          <a:xfrm>
            <a:off x="457200" y="3337560"/>
            <a:ext cx="640080" cy="594360"/>
          </a:xfrm>
          <a:prstGeom prst="rect">
            <a:avLst/>
          </a:prstGeom>
          <a:noFill/>
          <a:ln/>
        </p:spPr>
        <p:txBody>
          <a:bodyPr wrap="square" rtlCol="0" anchor="ctr"/>
          <a:lstStyle/>
          <a:p>
            <a:pPr algn="ctr" indent="0" marL="0">
              <a:buNone/>
            </a:pPr>
            <a:r>
              <a:rPr lang="en-US" sz="1300" b="1" dirty="0">
                <a:solidFill>
                  <a:srgbClr val="0A3A33"/>
                </a:solidFill>
                <a:latin typeface="Cambria" pitchFamily="34" charset="0"/>
                <a:ea typeface="Cambria" pitchFamily="34" charset="-122"/>
                <a:cs typeface="Cambria" pitchFamily="34" charset="-120"/>
              </a:rPr>
              <a:t>1st</a:t>
            </a:r>
            <a:endParaRPr lang="en-US" sz="1300" dirty="0"/>
          </a:p>
        </p:txBody>
      </p:sp>
      <p:sp>
        <p:nvSpPr>
          <p:cNvPr id="25" name="Text 23"/>
          <p:cNvSpPr/>
          <p:nvPr/>
        </p:nvSpPr>
        <p:spPr>
          <a:xfrm>
            <a:off x="1234440" y="3374136"/>
            <a:ext cx="3200400" cy="27432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Maintain Investment Grade</a:t>
            </a:r>
            <a:endParaRPr lang="en-US" sz="1300" dirty="0"/>
          </a:p>
        </p:txBody>
      </p:sp>
      <p:sp>
        <p:nvSpPr>
          <p:cNvPr id="26" name="Text 24"/>
          <p:cNvSpPr/>
          <p:nvPr/>
        </p:nvSpPr>
        <p:spPr>
          <a:xfrm>
            <a:off x="1234440" y="3648456"/>
            <a:ext cx="10332720" cy="237744"/>
          </a:xfrm>
          <a:prstGeom prst="rect">
            <a:avLst/>
          </a:prstGeom>
          <a:noFill/>
          <a:ln/>
        </p:spPr>
        <p:txBody>
          <a:bodyPr wrap="square" rtlCol="0" anchor="ctr"/>
          <a:lstStyle/>
          <a:p>
            <a:pPr indent="0" marL="0">
              <a:buNone/>
            </a:pPr>
            <a:r>
              <a:rPr lang="en-US" sz="1100" dirty="0">
                <a:solidFill>
                  <a:srgbClr val="AACCC5"/>
                </a:solidFill>
                <a:latin typeface="Calibri" pitchFamily="34" charset="0"/>
                <a:ea typeface="Calibri" pitchFamily="34" charset="-122"/>
                <a:cs typeface="Calibri" pitchFamily="34" charset="-120"/>
              </a:rPr>
              <a:t>Net Debt/EBITDA target: below 2.0x under any oil price scenario</a:t>
            </a:r>
            <a:endParaRPr lang="en-US" sz="1100" dirty="0"/>
          </a:p>
        </p:txBody>
      </p:sp>
      <p:sp>
        <p:nvSpPr>
          <p:cNvPr id="27" name="Shape 25"/>
          <p:cNvSpPr/>
          <p:nvPr/>
        </p:nvSpPr>
        <p:spPr>
          <a:xfrm>
            <a:off x="457200" y="4050792"/>
            <a:ext cx="11274552" cy="594360"/>
          </a:xfrm>
          <a:prstGeom prst="rect">
            <a:avLst>
              <a:gd name="adj" fmla="val 7692"/>
            </a:avLst>
          </a:prstGeom>
          <a:solidFill>
            <a:srgbClr val="16695C"/>
          </a:solidFill>
          <a:ln/>
        </p:spPr>
      </p:sp>
      <p:sp>
        <p:nvSpPr>
          <p:cNvPr id="28" name="Shape 26"/>
          <p:cNvSpPr/>
          <p:nvPr/>
        </p:nvSpPr>
        <p:spPr>
          <a:xfrm>
            <a:off x="457200" y="4050792"/>
            <a:ext cx="640080" cy="594360"/>
          </a:xfrm>
          <a:prstGeom prst="rect">
            <a:avLst>
              <a:gd name="adj" fmla="val 7692"/>
            </a:avLst>
          </a:prstGeom>
          <a:solidFill>
            <a:srgbClr val="C9A24B"/>
          </a:solidFill>
          <a:ln/>
        </p:spPr>
      </p:sp>
      <p:sp>
        <p:nvSpPr>
          <p:cNvPr id="29" name="Text 27"/>
          <p:cNvSpPr/>
          <p:nvPr/>
        </p:nvSpPr>
        <p:spPr>
          <a:xfrm>
            <a:off x="457200" y="4050792"/>
            <a:ext cx="640080" cy="594360"/>
          </a:xfrm>
          <a:prstGeom prst="rect">
            <a:avLst/>
          </a:prstGeom>
          <a:noFill/>
          <a:ln/>
        </p:spPr>
        <p:txBody>
          <a:bodyPr wrap="square" rtlCol="0" anchor="ctr"/>
          <a:lstStyle/>
          <a:p>
            <a:pPr algn="ctr" indent="0" marL="0">
              <a:buNone/>
            </a:pPr>
            <a:r>
              <a:rPr lang="en-US" sz="1300" b="1" dirty="0">
                <a:solidFill>
                  <a:srgbClr val="0A3A33"/>
                </a:solidFill>
                <a:latin typeface="Cambria" pitchFamily="34" charset="0"/>
                <a:ea typeface="Cambria" pitchFamily="34" charset="-122"/>
                <a:cs typeface="Cambria" pitchFamily="34" charset="-120"/>
              </a:rPr>
              <a:t>2nd</a:t>
            </a:r>
            <a:endParaRPr lang="en-US" sz="1300" dirty="0"/>
          </a:p>
        </p:txBody>
      </p:sp>
      <p:sp>
        <p:nvSpPr>
          <p:cNvPr id="30" name="Text 28"/>
          <p:cNvSpPr/>
          <p:nvPr/>
        </p:nvSpPr>
        <p:spPr>
          <a:xfrm>
            <a:off x="1234440" y="4087368"/>
            <a:ext cx="3200400" cy="27432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Fund Growth Capex</a:t>
            </a:r>
            <a:endParaRPr lang="en-US" sz="1300" dirty="0"/>
          </a:p>
        </p:txBody>
      </p:sp>
      <p:sp>
        <p:nvSpPr>
          <p:cNvPr id="31" name="Text 29"/>
          <p:cNvSpPr/>
          <p:nvPr/>
        </p:nvSpPr>
        <p:spPr>
          <a:xfrm>
            <a:off x="1234440" y="4361688"/>
            <a:ext cx="10332720" cy="237744"/>
          </a:xfrm>
          <a:prstGeom prst="rect">
            <a:avLst/>
          </a:prstGeom>
          <a:noFill/>
          <a:ln/>
        </p:spPr>
        <p:txBody>
          <a:bodyPr wrap="square" rtlCol="0" anchor="ctr"/>
          <a:lstStyle/>
          <a:p>
            <a:pPr indent="0" marL="0">
              <a:buNone/>
            </a:pPr>
            <a:r>
              <a:rPr lang="en-US" sz="1100" dirty="0">
                <a:solidFill>
                  <a:srgbClr val="AACCC5"/>
                </a:solidFill>
                <a:latin typeface="Calibri" pitchFamily="34" charset="0"/>
                <a:ea typeface="Calibri" pitchFamily="34" charset="-122"/>
                <a:cs typeface="Calibri" pitchFamily="34" charset="-120"/>
              </a:rPr>
              <a:t>TCO FGP ramp-up, Kashagan sustaining, Renewables, Petrochemicals</a:t>
            </a:r>
            <a:endParaRPr lang="en-US" sz="1100" dirty="0"/>
          </a:p>
        </p:txBody>
      </p:sp>
      <p:sp>
        <p:nvSpPr>
          <p:cNvPr id="32" name="Shape 30"/>
          <p:cNvSpPr/>
          <p:nvPr/>
        </p:nvSpPr>
        <p:spPr>
          <a:xfrm>
            <a:off x="457200" y="4764024"/>
            <a:ext cx="11274552" cy="594360"/>
          </a:xfrm>
          <a:prstGeom prst="rect">
            <a:avLst>
              <a:gd name="adj" fmla="val 7692"/>
            </a:avLst>
          </a:prstGeom>
          <a:solidFill>
            <a:srgbClr val="0E4D44"/>
          </a:solidFill>
          <a:ln/>
        </p:spPr>
      </p:sp>
      <p:sp>
        <p:nvSpPr>
          <p:cNvPr id="33" name="Shape 31"/>
          <p:cNvSpPr/>
          <p:nvPr/>
        </p:nvSpPr>
        <p:spPr>
          <a:xfrm>
            <a:off x="457200" y="4764024"/>
            <a:ext cx="640080" cy="594360"/>
          </a:xfrm>
          <a:prstGeom prst="rect">
            <a:avLst>
              <a:gd name="adj" fmla="val 7692"/>
            </a:avLst>
          </a:prstGeom>
          <a:solidFill>
            <a:srgbClr val="C9A24B"/>
          </a:solidFill>
          <a:ln/>
        </p:spPr>
      </p:sp>
      <p:sp>
        <p:nvSpPr>
          <p:cNvPr id="34" name="Text 32"/>
          <p:cNvSpPr/>
          <p:nvPr/>
        </p:nvSpPr>
        <p:spPr>
          <a:xfrm>
            <a:off x="457200" y="4764024"/>
            <a:ext cx="640080" cy="594360"/>
          </a:xfrm>
          <a:prstGeom prst="rect">
            <a:avLst/>
          </a:prstGeom>
          <a:noFill/>
          <a:ln/>
        </p:spPr>
        <p:txBody>
          <a:bodyPr wrap="square" rtlCol="0" anchor="ctr"/>
          <a:lstStyle/>
          <a:p>
            <a:pPr algn="ctr" indent="0" marL="0">
              <a:buNone/>
            </a:pPr>
            <a:r>
              <a:rPr lang="en-US" sz="1300" b="1" dirty="0">
                <a:solidFill>
                  <a:srgbClr val="0A3A33"/>
                </a:solidFill>
                <a:latin typeface="Cambria" pitchFamily="34" charset="0"/>
                <a:ea typeface="Cambria" pitchFamily="34" charset="-122"/>
                <a:cs typeface="Cambria" pitchFamily="34" charset="-120"/>
              </a:rPr>
              <a:t>3rd</a:t>
            </a:r>
            <a:endParaRPr lang="en-US" sz="1300" dirty="0"/>
          </a:p>
        </p:txBody>
      </p:sp>
      <p:sp>
        <p:nvSpPr>
          <p:cNvPr id="35" name="Text 33"/>
          <p:cNvSpPr/>
          <p:nvPr/>
        </p:nvSpPr>
        <p:spPr>
          <a:xfrm>
            <a:off x="1234440" y="4800600"/>
            <a:ext cx="3200400" cy="27432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Dividend to Samruk-Kazyna</a:t>
            </a:r>
            <a:endParaRPr lang="en-US" sz="1300" dirty="0"/>
          </a:p>
        </p:txBody>
      </p:sp>
      <p:sp>
        <p:nvSpPr>
          <p:cNvPr id="36" name="Text 34"/>
          <p:cNvSpPr/>
          <p:nvPr/>
        </p:nvSpPr>
        <p:spPr>
          <a:xfrm>
            <a:off x="1234440" y="5074920"/>
            <a:ext cx="10332720" cy="237744"/>
          </a:xfrm>
          <a:prstGeom prst="rect">
            <a:avLst/>
          </a:prstGeom>
          <a:noFill/>
          <a:ln/>
        </p:spPr>
        <p:txBody>
          <a:bodyPr wrap="square" rtlCol="0" anchor="ctr"/>
          <a:lstStyle/>
          <a:p>
            <a:pPr indent="0" marL="0">
              <a:buNone/>
            </a:pPr>
            <a:r>
              <a:rPr lang="en-US" sz="1100" dirty="0">
                <a:solidFill>
                  <a:srgbClr val="AACCC5"/>
                </a:solidFill>
                <a:latin typeface="Calibri" pitchFamily="34" charset="0"/>
                <a:ea typeface="Calibri" pitchFamily="34" charset="-122"/>
                <a:cs typeface="Calibri" pitchFamily="34" charset="-120"/>
              </a:rPr>
              <a:t>Minimum 25% of net income; target ~30%; flexible in downturn</a:t>
            </a:r>
            <a:endParaRPr lang="en-US" sz="1100" dirty="0"/>
          </a:p>
        </p:txBody>
      </p:sp>
      <p:sp>
        <p:nvSpPr>
          <p:cNvPr id="37" name="Shape 35"/>
          <p:cNvSpPr/>
          <p:nvPr/>
        </p:nvSpPr>
        <p:spPr>
          <a:xfrm>
            <a:off x="457200" y="5477256"/>
            <a:ext cx="11274552" cy="594360"/>
          </a:xfrm>
          <a:prstGeom prst="rect">
            <a:avLst>
              <a:gd name="adj" fmla="val 7692"/>
            </a:avLst>
          </a:prstGeom>
          <a:solidFill>
            <a:srgbClr val="16695C"/>
          </a:solidFill>
          <a:ln/>
        </p:spPr>
      </p:sp>
      <p:sp>
        <p:nvSpPr>
          <p:cNvPr id="38" name="Shape 36"/>
          <p:cNvSpPr/>
          <p:nvPr/>
        </p:nvSpPr>
        <p:spPr>
          <a:xfrm>
            <a:off x="457200" y="5477256"/>
            <a:ext cx="640080" cy="594360"/>
          </a:xfrm>
          <a:prstGeom prst="rect">
            <a:avLst>
              <a:gd name="adj" fmla="val 7692"/>
            </a:avLst>
          </a:prstGeom>
          <a:solidFill>
            <a:srgbClr val="C9A24B"/>
          </a:solidFill>
          <a:ln/>
        </p:spPr>
      </p:sp>
      <p:sp>
        <p:nvSpPr>
          <p:cNvPr id="39" name="Text 37"/>
          <p:cNvSpPr/>
          <p:nvPr/>
        </p:nvSpPr>
        <p:spPr>
          <a:xfrm>
            <a:off x="457200" y="5477256"/>
            <a:ext cx="640080" cy="594360"/>
          </a:xfrm>
          <a:prstGeom prst="rect">
            <a:avLst/>
          </a:prstGeom>
          <a:noFill/>
          <a:ln/>
        </p:spPr>
        <p:txBody>
          <a:bodyPr wrap="square" rtlCol="0" anchor="ctr"/>
          <a:lstStyle/>
          <a:p>
            <a:pPr algn="ctr" indent="0" marL="0">
              <a:buNone/>
            </a:pPr>
            <a:r>
              <a:rPr lang="en-US" sz="1300" b="1" dirty="0">
                <a:solidFill>
                  <a:srgbClr val="0A3A33"/>
                </a:solidFill>
                <a:latin typeface="Cambria" pitchFamily="34" charset="0"/>
                <a:ea typeface="Cambria" pitchFamily="34" charset="-122"/>
                <a:cs typeface="Cambria" pitchFamily="34" charset="-120"/>
              </a:rPr>
              <a:t>4th</a:t>
            </a:r>
            <a:endParaRPr lang="en-US" sz="1300" dirty="0"/>
          </a:p>
        </p:txBody>
      </p:sp>
      <p:sp>
        <p:nvSpPr>
          <p:cNvPr id="40" name="Text 38"/>
          <p:cNvSpPr/>
          <p:nvPr/>
        </p:nvSpPr>
        <p:spPr>
          <a:xfrm>
            <a:off x="1234440" y="5513832"/>
            <a:ext cx="3200400" cy="27432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Balance Sheet Optimisation</a:t>
            </a:r>
            <a:endParaRPr lang="en-US" sz="1300" dirty="0"/>
          </a:p>
        </p:txBody>
      </p:sp>
      <p:sp>
        <p:nvSpPr>
          <p:cNvPr id="41" name="Text 39"/>
          <p:cNvSpPr/>
          <p:nvPr/>
        </p:nvSpPr>
        <p:spPr>
          <a:xfrm>
            <a:off x="1234440" y="5788152"/>
            <a:ext cx="10332720" cy="237744"/>
          </a:xfrm>
          <a:prstGeom prst="rect">
            <a:avLst/>
          </a:prstGeom>
          <a:noFill/>
          <a:ln/>
        </p:spPr>
        <p:txBody>
          <a:bodyPr wrap="square" rtlCol="0" anchor="ctr"/>
          <a:lstStyle/>
          <a:p>
            <a:pPr indent="0" marL="0">
              <a:buNone/>
            </a:pPr>
            <a:r>
              <a:rPr lang="en-US" sz="1100" dirty="0">
                <a:solidFill>
                  <a:srgbClr val="AACCC5"/>
                </a:solidFill>
                <a:latin typeface="Calibri" pitchFamily="34" charset="0"/>
                <a:ea typeface="Calibri" pitchFamily="34" charset="-122"/>
                <a:cs typeface="Calibri" pitchFamily="34" charset="-120"/>
              </a:rPr>
              <a:t>Opportunistic debt buybacks, maturity extension, currency diversification</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E4D44"/>
          </a:solidFill>
          <a:ln/>
        </p:spPr>
      </p:sp>
      <p:sp>
        <p:nvSpPr>
          <p:cNvPr id="3" name="Text 1"/>
          <p:cNvSpPr/>
          <p:nvPr/>
        </p:nvSpPr>
        <p:spPr>
          <a:xfrm>
            <a:off x="457200" y="320040"/>
            <a:ext cx="11274552" cy="548640"/>
          </a:xfrm>
          <a:prstGeom prst="rect">
            <a:avLst/>
          </a:prstGeom>
          <a:noFill/>
          <a:ln/>
        </p:spPr>
        <p:txBody>
          <a:bodyPr wrap="square" rtlCol="0" anchor="ctr"/>
          <a:lstStyle/>
          <a:p>
            <a:pPr indent="0" marL="0">
              <a:buNone/>
            </a:pPr>
            <a:r>
              <a:rPr lang="en-US" sz="2800" b="1" dirty="0">
                <a:solidFill>
                  <a:srgbClr val="E4CD8B"/>
                </a:solidFill>
                <a:latin typeface="Cambria" pitchFamily="34" charset="0"/>
                <a:ea typeface="Cambria" pitchFamily="34" charset="-122"/>
                <a:cs typeface="Cambria" pitchFamily="34" charset="-120"/>
              </a:rPr>
              <a:t>ESG &amp; Sustainability</a:t>
            </a:r>
            <a:endParaRPr lang="en-US" sz="2800" dirty="0"/>
          </a:p>
        </p:txBody>
      </p:sp>
      <p:sp>
        <p:nvSpPr>
          <p:cNvPr id="4" name="Shape 2"/>
          <p:cNvSpPr/>
          <p:nvPr/>
        </p:nvSpPr>
        <p:spPr>
          <a:xfrm>
            <a:off x="457200" y="960120"/>
            <a:ext cx="11274552" cy="36576"/>
          </a:xfrm>
          <a:prstGeom prst="rect">
            <a:avLst/>
          </a:prstGeom>
          <a:solidFill>
            <a:srgbClr val="C9A24B"/>
          </a:solidFill>
          <a:ln/>
        </p:spPr>
      </p:sp>
      <p:sp>
        <p:nvSpPr>
          <p:cNvPr id="5" name="Shape 3"/>
          <p:cNvSpPr/>
          <p:nvPr/>
        </p:nvSpPr>
        <p:spPr>
          <a:xfrm>
            <a:off x="457200" y="1143000"/>
            <a:ext cx="3657600" cy="5212080"/>
          </a:xfrm>
          <a:prstGeom prst="rect">
            <a:avLst>
              <a:gd name="adj" fmla="val 2500"/>
            </a:avLst>
          </a:prstGeom>
          <a:solidFill>
            <a:srgbClr val="0A3A33"/>
          </a:solidFill>
          <a:ln w="12700">
            <a:solidFill>
              <a:srgbClr val="2A9D6E"/>
            </a:solidFill>
            <a:prstDash val="solid"/>
          </a:ln>
        </p:spPr>
      </p:sp>
      <p:sp>
        <p:nvSpPr>
          <p:cNvPr id="6" name="Shape 4"/>
          <p:cNvSpPr/>
          <p:nvPr/>
        </p:nvSpPr>
        <p:spPr>
          <a:xfrm>
            <a:off x="640080" y="1261872"/>
            <a:ext cx="502920" cy="502920"/>
          </a:xfrm>
          <a:prstGeom prst="rect">
            <a:avLst>
              <a:gd name="adj" fmla="val 10909"/>
            </a:avLst>
          </a:prstGeom>
          <a:solidFill>
            <a:srgbClr val="2A9D6E"/>
          </a:solidFill>
          <a:ln/>
        </p:spPr>
      </p:sp>
      <p:sp>
        <p:nvSpPr>
          <p:cNvPr id="7" name="Text 5"/>
          <p:cNvSpPr/>
          <p:nvPr/>
        </p:nvSpPr>
        <p:spPr>
          <a:xfrm>
            <a:off x="640080" y="1261872"/>
            <a:ext cx="502920" cy="502920"/>
          </a:xfrm>
          <a:prstGeom prst="rect">
            <a:avLst/>
          </a:prstGeom>
          <a:noFill/>
          <a:ln/>
        </p:spPr>
        <p:txBody>
          <a:bodyPr wrap="square" rtlCol="0" anchor="ctr"/>
          <a:lstStyle/>
          <a:p>
            <a:pPr algn="ctr" indent="0" marL="0">
              <a:buNone/>
            </a:pPr>
            <a:r>
              <a:rPr lang="en-US" sz="2000" b="1" dirty="0">
                <a:solidFill>
                  <a:srgbClr val="0A3A33"/>
                </a:solidFill>
                <a:latin typeface="Cambria" pitchFamily="34" charset="0"/>
                <a:ea typeface="Cambria" pitchFamily="34" charset="-122"/>
                <a:cs typeface="Cambria" pitchFamily="34" charset="-120"/>
              </a:rPr>
              <a:t>E</a:t>
            </a:r>
            <a:endParaRPr lang="en-US" sz="2000" dirty="0"/>
          </a:p>
        </p:txBody>
      </p:sp>
      <p:sp>
        <p:nvSpPr>
          <p:cNvPr id="8" name="Text 6"/>
          <p:cNvSpPr/>
          <p:nvPr/>
        </p:nvSpPr>
        <p:spPr>
          <a:xfrm>
            <a:off x="1261872" y="1316736"/>
            <a:ext cx="2743200" cy="402336"/>
          </a:xfrm>
          <a:prstGeom prst="rect">
            <a:avLst/>
          </a:prstGeom>
          <a:noFill/>
          <a:ln/>
        </p:spPr>
        <p:txBody>
          <a:bodyPr wrap="square" rtlCol="0" anchor="ctr"/>
          <a:lstStyle/>
          <a:p>
            <a:pPr indent="0" marL="0">
              <a:buNone/>
            </a:pPr>
            <a:r>
              <a:rPr lang="en-US" sz="1500" b="1" dirty="0">
                <a:solidFill>
                  <a:srgbClr val="2A9D6E"/>
                </a:solidFill>
                <a:latin typeface="Cambria" pitchFamily="34" charset="0"/>
                <a:ea typeface="Cambria" pitchFamily="34" charset="-122"/>
                <a:cs typeface="Cambria" pitchFamily="34" charset="-120"/>
              </a:rPr>
              <a:t>Environmental</a:t>
            </a:r>
            <a:endParaRPr lang="en-US" sz="1500" dirty="0"/>
          </a:p>
        </p:txBody>
      </p:sp>
      <p:sp>
        <p:nvSpPr>
          <p:cNvPr id="9" name="Shape 7"/>
          <p:cNvSpPr/>
          <p:nvPr/>
        </p:nvSpPr>
        <p:spPr>
          <a:xfrm>
            <a:off x="713232" y="1938528"/>
            <a:ext cx="118872" cy="118872"/>
          </a:xfrm>
          <a:prstGeom prst="rect">
            <a:avLst>
              <a:gd name="adj" fmla="val 15385"/>
            </a:avLst>
          </a:prstGeom>
          <a:solidFill>
            <a:srgbClr val="2A9D6E"/>
          </a:solidFill>
          <a:ln/>
        </p:spPr>
      </p:sp>
      <p:sp>
        <p:nvSpPr>
          <p:cNvPr id="10" name="Text 8"/>
          <p:cNvSpPr/>
          <p:nvPr/>
        </p:nvSpPr>
        <p:spPr>
          <a:xfrm>
            <a:off x="932688" y="1865376"/>
            <a:ext cx="3063240" cy="658368"/>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Flaring intensity reduced 29% since 2022</a:t>
            </a:r>
            <a:endParaRPr lang="en-US" sz="1150" dirty="0"/>
          </a:p>
        </p:txBody>
      </p:sp>
      <p:sp>
        <p:nvSpPr>
          <p:cNvPr id="11" name="Shape 9"/>
          <p:cNvSpPr/>
          <p:nvPr/>
        </p:nvSpPr>
        <p:spPr>
          <a:xfrm>
            <a:off x="713232" y="2706624"/>
            <a:ext cx="118872" cy="118872"/>
          </a:xfrm>
          <a:prstGeom prst="rect">
            <a:avLst>
              <a:gd name="adj" fmla="val 15385"/>
            </a:avLst>
          </a:prstGeom>
          <a:solidFill>
            <a:srgbClr val="2A9D6E"/>
          </a:solidFill>
          <a:ln/>
        </p:spPr>
      </p:sp>
      <p:sp>
        <p:nvSpPr>
          <p:cNvPr id="12" name="Text 10"/>
          <p:cNvSpPr/>
          <p:nvPr/>
        </p:nvSpPr>
        <p:spPr>
          <a:xfrm>
            <a:off x="932688" y="2633472"/>
            <a:ext cx="3063240" cy="658368"/>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100 MW renewable energy under construction</a:t>
            </a:r>
            <a:endParaRPr lang="en-US" sz="1150" dirty="0"/>
          </a:p>
        </p:txBody>
      </p:sp>
      <p:sp>
        <p:nvSpPr>
          <p:cNvPr id="13" name="Shape 11"/>
          <p:cNvSpPr/>
          <p:nvPr/>
        </p:nvSpPr>
        <p:spPr>
          <a:xfrm>
            <a:off x="713232" y="3474720"/>
            <a:ext cx="118872" cy="118872"/>
          </a:xfrm>
          <a:prstGeom prst="rect">
            <a:avLst>
              <a:gd name="adj" fmla="val 15385"/>
            </a:avLst>
          </a:prstGeom>
          <a:solidFill>
            <a:srgbClr val="2A9D6E"/>
          </a:solidFill>
          <a:ln/>
        </p:spPr>
      </p:sp>
      <p:sp>
        <p:nvSpPr>
          <p:cNvPr id="14" name="Text 12"/>
          <p:cNvSpPr/>
          <p:nvPr/>
        </p:nvSpPr>
        <p:spPr>
          <a:xfrm>
            <a:off x="932688" y="3401568"/>
            <a:ext cx="3063240" cy="658368"/>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Carbon neutrality roadmap by 2060 (aligned with RK NDC)</a:t>
            </a:r>
            <a:endParaRPr lang="en-US" sz="1150" dirty="0"/>
          </a:p>
        </p:txBody>
      </p:sp>
      <p:sp>
        <p:nvSpPr>
          <p:cNvPr id="15" name="Shape 13"/>
          <p:cNvSpPr/>
          <p:nvPr/>
        </p:nvSpPr>
        <p:spPr>
          <a:xfrm>
            <a:off x="713232" y="4242816"/>
            <a:ext cx="118872" cy="118872"/>
          </a:xfrm>
          <a:prstGeom prst="rect">
            <a:avLst>
              <a:gd name="adj" fmla="val 15385"/>
            </a:avLst>
          </a:prstGeom>
          <a:solidFill>
            <a:srgbClr val="2A9D6E"/>
          </a:solidFill>
          <a:ln/>
        </p:spPr>
      </p:sp>
      <p:sp>
        <p:nvSpPr>
          <p:cNvPr id="16" name="Text 14"/>
          <p:cNvSpPr/>
          <p:nvPr/>
        </p:nvSpPr>
        <p:spPr>
          <a:xfrm>
            <a:off x="932688" y="4169664"/>
            <a:ext cx="3063240" cy="658368"/>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Zero significant oil spills target by 2027</a:t>
            </a:r>
            <a:endParaRPr lang="en-US" sz="1150" dirty="0"/>
          </a:p>
        </p:txBody>
      </p:sp>
      <p:sp>
        <p:nvSpPr>
          <p:cNvPr id="17" name="Shape 15"/>
          <p:cNvSpPr/>
          <p:nvPr/>
        </p:nvSpPr>
        <p:spPr>
          <a:xfrm>
            <a:off x="713232" y="5010912"/>
            <a:ext cx="118872" cy="118872"/>
          </a:xfrm>
          <a:prstGeom prst="rect">
            <a:avLst>
              <a:gd name="adj" fmla="val 15385"/>
            </a:avLst>
          </a:prstGeom>
          <a:solidFill>
            <a:srgbClr val="2A9D6E"/>
          </a:solidFill>
          <a:ln/>
        </p:spPr>
      </p:sp>
      <p:sp>
        <p:nvSpPr>
          <p:cNvPr id="18" name="Text 16"/>
          <p:cNvSpPr/>
          <p:nvPr/>
        </p:nvSpPr>
        <p:spPr>
          <a:xfrm>
            <a:off x="932688" y="4937760"/>
            <a:ext cx="3063240" cy="658368"/>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Methane emissions monitoring across all upstream assets</a:t>
            </a:r>
            <a:endParaRPr lang="en-US" sz="1150" dirty="0"/>
          </a:p>
        </p:txBody>
      </p:sp>
      <p:sp>
        <p:nvSpPr>
          <p:cNvPr id="19" name="Shape 17"/>
          <p:cNvSpPr/>
          <p:nvPr/>
        </p:nvSpPr>
        <p:spPr>
          <a:xfrm>
            <a:off x="4389120" y="1143000"/>
            <a:ext cx="3657600" cy="5212080"/>
          </a:xfrm>
          <a:prstGeom prst="rect">
            <a:avLst>
              <a:gd name="adj" fmla="val 2500"/>
            </a:avLst>
          </a:prstGeom>
          <a:solidFill>
            <a:srgbClr val="0A3A33"/>
          </a:solidFill>
          <a:ln w="12700">
            <a:solidFill>
              <a:srgbClr val="3A9BD5"/>
            </a:solidFill>
            <a:prstDash val="solid"/>
          </a:ln>
        </p:spPr>
      </p:sp>
      <p:sp>
        <p:nvSpPr>
          <p:cNvPr id="20" name="Shape 18"/>
          <p:cNvSpPr/>
          <p:nvPr/>
        </p:nvSpPr>
        <p:spPr>
          <a:xfrm>
            <a:off x="4572000" y="1261872"/>
            <a:ext cx="502920" cy="502920"/>
          </a:xfrm>
          <a:prstGeom prst="rect">
            <a:avLst>
              <a:gd name="adj" fmla="val 10909"/>
            </a:avLst>
          </a:prstGeom>
          <a:solidFill>
            <a:srgbClr val="3A9BD5"/>
          </a:solidFill>
          <a:ln/>
        </p:spPr>
      </p:sp>
      <p:sp>
        <p:nvSpPr>
          <p:cNvPr id="21" name="Text 19"/>
          <p:cNvSpPr/>
          <p:nvPr/>
        </p:nvSpPr>
        <p:spPr>
          <a:xfrm>
            <a:off x="4572000" y="1261872"/>
            <a:ext cx="502920" cy="502920"/>
          </a:xfrm>
          <a:prstGeom prst="rect">
            <a:avLst/>
          </a:prstGeom>
          <a:noFill/>
          <a:ln/>
        </p:spPr>
        <p:txBody>
          <a:bodyPr wrap="square" rtlCol="0" anchor="ctr"/>
          <a:lstStyle/>
          <a:p>
            <a:pPr algn="ctr" indent="0" marL="0">
              <a:buNone/>
            </a:pPr>
            <a:r>
              <a:rPr lang="en-US" sz="2000" b="1" dirty="0">
                <a:solidFill>
                  <a:srgbClr val="0A3A33"/>
                </a:solidFill>
                <a:latin typeface="Cambria" pitchFamily="34" charset="0"/>
                <a:ea typeface="Cambria" pitchFamily="34" charset="-122"/>
                <a:cs typeface="Cambria" pitchFamily="34" charset="-120"/>
              </a:rPr>
              <a:t>S</a:t>
            </a:r>
            <a:endParaRPr lang="en-US" sz="2000" dirty="0"/>
          </a:p>
        </p:txBody>
      </p:sp>
      <p:sp>
        <p:nvSpPr>
          <p:cNvPr id="22" name="Text 20"/>
          <p:cNvSpPr/>
          <p:nvPr/>
        </p:nvSpPr>
        <p:spPr>
          <a:xfrm>
            <a:off x="5193792" y="1316736"/>
            <a:ext cx="2743200" cy="402336"/>
          </a:xfrm>
          <a:prstGeom prst="rect">
            <a:avLst/>
          </a:prstGeom>
          <a:noFill/>
          <a:ln/>
        </p:spPr>
        <p:txBody>
          <a:bodyPr wrap="square" rtlCol="0" anchor="ctr"/>
          <a:lstStyle/>
          <a:p>
            <a:pPr indent="0" marL="0">
              <a:buNone/>
            </a:pPr>
            <a:r>
              <a:rPr lang="en-US" sz="1500" b="1" dirty="0">
                <a:solidFill>
                  <a:srgbClr val="3A9BD5"/>
                </a:solidFill>
                <a:latin typeface="Cambria" pitchFamily="34" charset="0"/>
                <a:ea typeface="Cambria" pitchFamily="34" charset="-122"/>
                <a:cs typeface="Cambria" pitchFamily="34" charset="-120"/>
              </a:rPr>
              <a:t>Social</a:t>
            </a:r>
            <a:endParaRPr lang="en-US" sz="1500" dirty="0"/>
          </a:p>
        </p:txBody>
      </p:sp>
      <p:sp>
        <p:nvSpPr>
          <p:cNvPr id="23" name="Shape 21"/>
          <p:cNvSpPr/>
          <p:nvPr/>
        </p:nvSpPr>
        <p:spPr>
          <a:xfrm>
            <a:off x="4645152" y="1938528"/>
            <a:ext cx="118872" cy="118872"/>
          </a:xfrm>
          <a:prstGeom prst="rect">
            <a:avLst>
              <a:gd name="adj" fmla="val 15385"/>
            </a:avLst>
          </a:prstGeom>
          <a:solidFill>
            <a:srgbClr val="3A9BD5"/>
          </a:solidFill>
          <a:ln/>
        </p:spPr>
      </p:sp>
      <p:sp>
        <p:nvSpPr>
          <p:cNvPr id="24" name="Text 22"/>
          <p:cNvSpPr/>
          <p:nvPr/>
        </p:nvSpPr>
        <p:spPr>
          <a:xfrm>
            <a:off x="4864608" y="1865376"/>
            <a:ext cx="3063240" cy="658368"/>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LTIF rate 0.21 (best-ever, FY2025)</a:t>
            </a:r>
            <a:endParaRPr lang="en-US" sz="1150" dirty="0"/>
          </a:p>
        </p:txBody>
      </p:sp>
      <p:sp>
        <p:nvSpPr>
          <p:cNvPr id="25" name="Shape 23"/>
          <p:cNvSpPr/>
          <p:nvPr/>
        </p:nvSpPr>
        <p:spPr>
          <a:xfrm>
            <a:off x="4645152" y="2706624"/>
            <a:ext cx="118872" cy="118872"/>
          </a:xfrm>
          <a:prstGeom prst="rect">
            <a:avLst>
              <a:gd name="adj" fmla="val 15385"/>
            </a:avLst>
          </a:prstGeom>
          <a:solidFill>
            <a:srgbClr val="3A9BD5"/>
          </a:solidFill>
          <a:ln/>
        </p:spPr>
      </p:sp>
      <p:sp>
        <p:nvSpPr>
          <p:cNvPr id="26" name="Text 24"/>
          <p:cNvSpPr/>
          <p:nvPr/>
        </p:nvSpPr>
        <p:spPr>
          <a:xfrm>
            <a:off x="4864608" y="2633472"/>
            <a:ext cx="3063240" cy="658368"/>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72,000+ employees, 95% local workforce</a:t>
            </a:r>
            <a:endParaRPr lang="en-US" sz="1150" dirty="0"/>
          </a:p>
        </p:txBody>
      </p:sp>
      <p:sp>
        <p:nvSpPr>
          <p:cNvPr id="27" name="Shape 25"/>
          <p:cNvSpPr/>
          <p:nvPr/>
        </p:nvSpPr>
        <p:spPr>
          <a:xfrm>
            <a:off x="4645152" y="3474720"/>
            <a:ext cx="118872" cy="118872"/>
          </a:xfrm>
          <a:prstGeom prst="rect">
            <a:avLst>
              <a:gd name="adj" fmla="val 15385"/>
            </a:avLst>
          </a:prstGeom>
          <a:solidFill>
            <a:srgbClr val="3A9BD5"/>
          </a:solidFill>
          <a:ln/>
        </p:spPr>
      </p:sp>
      <p:sp>
        <p:nvSpPr>
          <p:cNvPr id="28" name="Text 26"/>
          <p:cNvSpPr/>
          <p:nvPr/>
        </p:nvSpPr>
        <p:spPr>
          <a:xfrm>
            <a:off x="4864608" y="3401568"/>
            <a:ext cx="3063240" cy="658368"/>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KZT 48 bln community investment FY2025</a:t>
            </a:r>
            <a:endParaRPr lang="en-US" sz="1150" dirty="0"/>
          </a:p>
        </p:txBody>
      </p:sp>
      <p:sp>
        <p:nvSpPr>
          <p:cNvPr id="29" name="Shape 27"/>
          <p:cNvSpPr/>
          <p:nvPr/>
        </p:nvSpPr>
        <p:spPr>
          <a:xfrm>
            <a:off x="4645152" y="4242816"/>
            <a:ext cx="118872" cy="118872"/>
          </a:xfrm>
          <a:prstGeom prst="rect">
            <a:avLst>
              <a:gd name="adj" fmla="val 15385"/>
            </a:avLst>
          </a:prstGeom>
          <a:solidFill>
            <a:srgbClr val="3A9BD5"/>
          </a:solidFill>
          <a:ln/>
        </p:spPr>
      </p:sp>
      <p:sp>
        <p:nvSpPr>
          <p:cNvPr id="30" name="Text 28"/>
          <p:cNvSpPr/>
          <p:nvPr/>
        </p:nvSpPr>
        <p:spPr>
          <a:xfrm>
            <a:off x="4864608" y="4169664"/>
            <a:ext cx="3063240" cy="658368"/>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Vendor localisation: 68% domestic content in procurement</a:t>
            </a:r>
            <a:endParaRPr lang="en-US" sz="1150" dirty="0"/>
          </a:p>
        </p:txBody>
      </p:sp>
      <p:sp>
        <p:nvSpPr>
          <p:cNvPr id="31" name="Shape 29"/>
          <p:cNvSpPr/>
          <p:nvPr/>
        </p:nvSpPr>
        <p:spPr>
          <a:xfrm>
            <a:off x="4645152" y="5010912"/>
            <a:ext cx="118872" cy="118872"/>
          </a:xfrm>
          <a:prstGeom prst="rect">
            <a:avLst>
              <a:gd name="adj" fmla="val 15385"/>
            </a:avLst>
          </a:prstGeom>
          <a:solidFill>
            <a:srgbClr val="3A9BD5"/>
          </a:solidFill>
          <a:ln/>
        </p:spPr>
      </p:sp>
      <p:sp>
        <p:nvSpPr>
          <p:cNvPr id="32" name="Text 30"/>
          <p:cNvSpPr/>
          <p:nvPr/>
        </p:nvSpPr>
        <p:spPr>
          <a:xfrm>
            <a:off x="4864608" y="4937760"/>
            <a:ext cx="3063240" cy="658368"/>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Women in leadership: 31% (up from 24% in 2022)</a:t>
            </a:r>
            <a:endParaRPr lang="en-US" sz="1150" dirty="0"/>
          </a:p>
        </p:txBody>
      </p:sp>
      <p:sp>
        <p:nvSpPr>
          <p:cNvPr id="33" name="Shape 31"/>
          <p:cNvSpPr/>
          <p:nvPr/>
        </p:nvSpPr>
        <p:spPr>
          <a:xfrm>
            <a:off x="8321040" y="1143000"/>
            <a:ext cx="3657600" cy="5212080"/>
          </a:xfrm>
          <a:prstGeom prst="rect">
            <a:avLst>
              <a:gd name="adj" fmla="val 2500"/>
            </a:avLst>
          </a:prstGeom>
          <a:solidFill>
            <a:srgbClr val="0A3A33"/>
          </a:solidFill>
          <a:ln w="12700">
            <a:solidFill>
              <a:srgbClr val="C9A24B"/>
            </a:solidFill>
            <a:prstDash val="solid"/>
          </a:ln>
        </p:spPr>
      </p:sp>
      <p:sp>
        <p:nvSpPr>
          <p:cNvPr id="34" name="Shape 32"/>
          <p:cNvSpPr/>
          <p:nvPr/>
        </p:nvSpPr>
        <p:spPr>
          <a:xfrm>
            <a:off x="8503920" y="1261872"/>
            <a:ext cx="502920" cy="502920"/>
          </a:xfrm>
          <a:prstGeom prst="rect">
            <a:avLst>
              <a:gd name="adj" fmla="val 10909"/>
            </a:avLst>
          </a:prstGeom>
          <a:solidFill>
            <a:srgbClr val="C9A24B"/>
          </a:solidFill>
          <a:ln/>
        </p:spPr>
      </p:sp>
      <p:sp>
        <p:nvSpPr>
          <p:cNvPr id="35" name="Text 33"/>
          <p:cNvSpPr/>
          <p:nvPr/>
        </p:nvSpPr>
        <p:spPr>
          <a:xfrm>
            <a:off x="8503920" y="1261872"/>
            <a:ext cx="502920" cy="502920"/>
          </a:xfrm>
          <a:prstGeom prst="rect">
            <a:avLst/>
          </a:prstGeom>
          <a:noFill/>
          <a:ln/>
        </p:spPr>
        <p:txBody>
          <a:bodyPr wrap="square" rtlCol="0" anchor="ctr"/>
          <a:lstStyle/>
          <a:p>
            <a:pPr algn="ctr" indent="0" marL="0">
              <a:buNone/>
            </a:pPr>
            <a:r>
              <a:rPr lang="en-US" sz="2000" b="1" dirty="0">
                <a:solidFill>
                  <a:srgbClr val="0A3A33"/>
                </a:solidFill>
                <a:latin typeface="Cambria" pitchFamily="34" charset="0"/>
                <a:ea typeface="Cambria" pitchFamily="34" charset="-122"/>
                <a:cs typeface="Cambria" pitchFamily="34" charset="-120"/>
              </a:rPr>
              <a:t>G</a:t>
            </a:r>
            <a:endParaRPr lang="en-US" sz="2000" dirty="0"/>
          </a:p>
        </p:txBody>
      </p:sp>
      <p:sp>
        <p:nvSpPr>
          <p:cNvPr id="36" name="Text 34"/>
          <p:cNvSpPr/>
          <p:nvPr/>
        </p:nvSpPr>
        <p:spPr>
          <a:xfrm>
            <a:off x="9125712" y="1316736"/>
            <a:ext cx="2743200" cy="402336"/>
          </a:xfrm>
          <a:prstGeom prst="rect">
            <a:avLst/>
          </a:prstGeom>
          <a:noFill/>
          <a:ln/>
        </p:spPr>
        <p:txBody>
          <a:bodyPr wrap="square" rtlCol="0" anchor="ctr"/>
          <a:lstStyle/>
          <a:p>
            <a:pPr indent="0" marL="0">
              <a:buNone/>
            </a:pPr>
            <a:r>
              <a:rPr lang="en-US" sz="1500" b="1" dirty="0">
                <a:solidFill>
                  <a:srgbClr val="C9A24B"/>
                </a:solidFill>
                <a:latin typeface="Cambria" pitchFamily="34" charset="0"/>
                <a:ea typeface="Cambria" pitchFamily="34" charset="-122"/>
                <a:cs typeface="Cambria" pitchFamily="34" charset="-120"/>
              </a:rPr>
              <a:t>Governance</a:t>
            </a:r>
            <a:endParaRPr lang="en-US" sz="1500" dirty="0"/>
          </a:p>
        </p:txBody>
      </p:sp>
      <p:sp>
        <p:nvSpPr>
          <p:cNvPr id="37" name="Shape 35"/>
          <p:cNvSpPr/>
          <p:nvPr/>
        </p:nvSpPr>
        <p:spPr>
          <a:xfrm>
            <a:off x="8577072" y="1938528"/>
            <a:ext cx="118872" cy="118872"/>
          </a:xfrm>
          <a:prstGeom prst="rect">
            <a:avLst>
              <a:gd name="adj" fmla="val 15385"/>
            </a:avLst>
          </a:prstGeom>
          <a:solidFill>
            <a:srgbClr val="C9A24B"/>
          </a:solidFill>
          <a:ln/>
        </p:spPr>
      </p:sp>
      <p:sp>
        <p:nvSpPr>
          <p:cNvPr id="38" name="Text 36"/>
          <p:cNvSpPr/>
          <p:nvPr/>
        </p:nvSpPr>
        <p:spPr>
          <a:xfrm>
            <a:off x="8796528" y="1865376"/>
            <a:ext cx="3063240" cy="658368"/>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Supervisory Board: 9 members, 4 independent directors</a:t>
            </a:r>
            <a:endParaRPr lang="en-US" sz="1150" dirty="0"/>
          </a:p>
        </p:txBody>
      </p:sp>
      <p:sp>
        <p:nvSpPr>
          <p:cNvPr id="39" name="Shape 37"/>
          <p:cNvSpPr/>
          <p:nvPr/>
        </p:nvSpPr>
        <p:spPr>
          <a:xfrm>
            <a:off x="8577072" y="2706624"/>
            <a:ext cx="118872" cy="118872"/>
          </a:xfrm>
          <a:prstGeom prst="rect">
            <a:avLst>
              <a:gd name="adj" fmla="val 15385"/>
            </a:avLst>
          </a:prstGeom>
          <a:solidFill>
            <a:srgbClr val="C9A24B"/>
          </a:solidFill>
          <a:ln/>
        </p:spPr>
      </p:sp>
      <p:sp>
        <p:nvSpPr>
          <p:cNvPr id="40" name="Text 38"/>
          <p:cNvSpPr/>
          <p:nvPr/>
        </p:nvSpPr>
        <p:spPr>
          <a:xfrm>
            <a:off x="8796528" y="2633472"/>
            <a:ext cx="3063240" cy="658368"/>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Annual IFRS audit by Big-4 firm</a:t>
            </a:r>
            <a:endParaRPr lang="en-US" sz="1150" dirty="0"/>
          </a:p>
        </p:txBody>
      </p:sp>
      <p:sp>
        <p:nvSpPr>
          <p:cNvPr id="41" name="Shape 39"/>
          <p:cNvSpPr/>
          <p:nvPr/>
        </p:nvSpPr>
        <p:spPr>
          <a:xfrm>
            <a:off x="8577072" y="3474720"/>
            <a:ext cx="118872" cy="118872"/>
          </a:xfrm>
          <a:prstGeom prst="rect">
            <a:avLst>
              <a:gd name="adj" fmla="val 15385"/>
            </a:avLst>
          </a:prstGeom>
          <a:solidFill>
            <a:srgbClr val="C9A24B"/>
          </a:solidFill>
          <a:ln/>
        </p:spPr>
      </p:sp>
      <p:sp>
        <p:nvSpPr>
          <p:cNvPr id="42" name="Text 40"/>
          <p:cNvSpPr/>
          <p:nvPr/>
        </p:nvSpPr>
        <p:spPr>
          <a:xfrm>
            <a:off x="8796528" y="3401568"/>
            <a:ext cx="3063240" cy="658368"/>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Anti-corruption programme aligned with ISO 37001</a:t>
            </a:r>
            <a:endParaRPr lang="en-US" sz="1150" dirty="0"/>
          </a:p>
        </p:txBody>
      </p:sp>
      <p:sp>
        <p:nvSpPr>
          <p:cNvPr id="43" name="Shape 41"/>
          <p:cNvSpPr/>
          <p:nvPr/>
        </p:nvSpPr>
        <p:spPr>
          <a:xfrm>
            <a:off x="8577072" y="4242816"/>
            <a:ext cx="118872" cy="118872"/>
          </a:xfrm>
          <a:prstGeom prst="rect">
            <a:avLst>
              <a:gd name="adj" fmla="val 15385"/>
            </a:avLst>
          </a:prstGeom>
          <a:solidFill>
            <a:srgbClr val="C9A24B"/>
          </a:solidFill>
          <a:ln/>
        </p:spPr>
      </p:sp>
      <p:sp>
        <p:nvSpPr>
          <p:cNvPr id="44" name="Text 42"/>
          <p:cNvSpPr/>
          <p:nvPr/>
        </p:nvSpPr>
        <p:spPr>
          <a:xfrm>
            <a:off x="8796528" y="4169664"/>
            <a:ext cx="3063240" cy="658368"/>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Annual sustainability report (GRI Standards)</a:t>
            </a:r>
            <a:endParaRPr lang="en-US" sz="1150" dirty="0"/>
          </a:p>
        </p:txBody>
      </p:sp>
      <p:sp>
        <p:nvSpPr>
          <p:cNvPr id="45" name="Shape 43"/>
          <p:cNvSpPr/>
          <p:nvPr/>
        </p:nvSpPr>
        <p:spPr>
          <a:xfrm>
            <a:off x="8577072" y="5010912"/>
            <a:ext cx="118872" cy="118872"/>
          </a:xfrm>
          <a:prstGeom prst="rect">
            <a:avLst>
              <a:gd name="adj" fmla="val 15385"/>
            </a:avLst>
          </a:prstGeom>
          <a:solidFill>
            <a:srgbClr val="C9A24B"/>
          </a:solidFill>
          <a:ln/>
        </p:spPr>
      </p:sp>
      <p:sp>
        <p:nvSpPr>
          <p:cNvPr id="46" name="Text 44"/>
          <p:cNvSpPr/>
          <p:nvPr/>
        </p:nvSpPr>
        <p:spPr>
          <a:xfrm>
            <a:off x="8796528" y="4937760"/>
            <a:ext cx="3063240" cy="658368"/>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Board ESG Committee established 2023</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A3A33"/>
          </a:solidFill>
          <a:ln/>
        </p:spPr>
      </p:sp>
      <p:sp>
        <p:nvSpPr>
          <p:cNvPr id="3" name="Text 1"/>
          <p:cNvSpPr/>
          <p:nvPr/>
        </p:nvSpPr>
        <p:spPr>
          <a:xfrm>
            <a:off x="457200" y="320040"/>
            <a:ext cx="11274552" cy="548640"/>
          </a:xfrm>
          <a:prstGeom prst="rect">
            <a:avLst/>
          </a:prstGeom>
          <a:noFill/>
          <a:ln/>
        </p:spPr>
        <p:txBody>
          <a:bodyPr wrap="square" rtlCol="0" anchor="ctr"/>
          <a:lstStyle/>
          <a:p>
            <a:pPr indent="0" marL="0">
              <a:buNone/>
            </a:pPr>
            <a:r>
              <a:rPr lang="en-US" sz="2800" b="1" dirty="0">
                <a:solidFill>
                  <a:srgbClr val="E4CD8B"/>
                </a:solidFill>
                <a:latin typeface="Cambria" pitchFamily="34" charset="0"/>
                <a:ea typeface="Cambria" pitchFamily="34" charset="-122"/>
                <a:cs typeface="Cambria" pitchFamily="34" charset="-120"/>
              </a:rPr>
              <a:t>Risk Factors</a:t>
            </a:r>
            <a:endParaRPr lang="en-US" sz="2800" dirty="0"/>
          </a:p>
        </p:txBody>
      </p:sp>
      <p:sp>
        <p:nvSpPr>
          <p:cNvPr id="4" name="Shape 2"/>
          <p:cNvSpPr/>
          <p:nvPr/>
        </p:nvSpPr>
        <p:spPr>
          <a:xfrm>
            <a:off x="457200" y="960120"/>
            <a:ext cx="11274552" cy="36576"/>
          </a:xfrm>
          <a:prstGeom prst="rect">
            <a:avLst/>
          </a:prstGeom>
          <a:solidFill>
            <a:srgbClr val="C9A24B"/>
          </a:solidFill>
          <a:ln/>
        </p:spPr>
      </p:sp>
      <p:sp>
        <p:nvSpPr>
          <p:cNvPr id="5" name="Shape 3"/>
          <p:cNvSpPr/>
          <p:nvPr/>
        </p:nvSpPr>
        <p:spPr>
          <a:xfrm>
            <a:off x="457200" y="1143000"/>
            <a:ext cx="5394960" cy="1463040"/>
          </a:xfrm>
          <a:prstGeom prst="rect">
            <a:avLst>
              <a:gd name="adj" fmla="val 5000"/>
            </a:avLst>
          </a:prstGeom>
          <a:solidFill>
            <a:srgbClr val="0E4D44"/>
          </a:solidFill>
          <a:ln w="9525">
            <a:solidFill>
              <a:srgbClr val="000000"/>
            </a:solidFill>
            <a:prstDash val="solid"/>
          </a:ln>
        </p:spPr>
      </p:sp>
      <p:sp>
        <p:nvSpPr>
          <p:cNvPr id="6" name="Shape 4"/>
          <p:cNvSpPr/>
          <p:nvPr/>
        </p:nvSpPr>
        <p:spPr>
          <a:xfrm>
            <a:off x="621792" y="1280160"/>
            <a:ext cx="685800" cy="256032"/>
          </a:xfrm>
          <a:prstGeom prst="rect">
            <a:avLst>
              <a:gd name="adj" fmla="val 14286"/>
            </a:avLst>
          </a:prstGeom>
          <a:solidFill>
            <a:srgbClr val="000000"/>
          </a:solidFill>
          <a:ln w="6350">
            <a:solidFill>
              <a:srgbClr val="E8485A"/>
            </a:solidFill>
            <a:prstDash val="solid"/>
          </a:ln>
        </p:spPr>
      </p:sp>
      <p:sp>
        <p:nvSpPr>
          <p:cNvPr id="7" name="Text 5"/>
          <p:cNvSpPr/>
          <p:nvPr/>
        </p:nvSpPr>
        <p:spPr>
          <a:xfrm>
            <a:off x="621792" y="1280160"/>
            <a:ext cx="685800" cy="256032"/>
          </a:xfrm>
          <a:prstGeom prst="rect">
            <a:avLst/>
          </a:prstGeom>
          <a:noFill/>
          <a:ln/>
        </p:spPr>
        <p:txBody>
          <a:bodyPr wrap="square" rtlCol="0" anchor="ctr"/>
          <a:lstStyle/>
          <a:p>
            <a:pPr algn="ctr" indent="0" marL="0">
              <a:buNone/>
            </a:pPr>
            <a:r>
              <a:rPr lang="en-US" sz="900" b="1" dirty="0">
                <a:solidFill>
                  <a:srgbClr val="E8485A"/>
                </a:solidFill>
                <a:latin typeface="Calibri" pitchFamily="34" charset="0"/>
                <a:ea typeface="Calibri" pitchFamily="34" charset="-122"/>
                <a:cs typeface="Calibri" pitchFamily="34" charset="-120"/>
              </a:rPr>
              <a:t>Market</a:t>
            </a:r>
            <a:endParaRPr lang="en-US" sz="900" dirty="0"/>
          </a:p>
        </p:txBody>
      </p:sp>
      <p:sp>
        <p:nvSpPr>
          <p:cNvPr id="8" name="Text 6"/>
          <p:cNvSpPr/>
          <p:nvPr/>
        </p:nvSpPr>
        <p:spPr>
          <a:xfrm>
            <a:off x="1426464" y="1252728"/>
            <a:ext cx="4251960" cy="32004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Oil Price Volatility</a:t>
            </a:r>
            <a:endParaRPr lang="en-US" sz="1300" dirty="0"/>
          </a:p>
        </p:txBody>
      </p:sp>
      <p:sp>
        <p:nvSpPr>
          <p:cNvPr id="9" name="Text 7"/>
          <p:cNvSpPr/>
          <p:nvPr/>
        </p:nvSpPr>
        <p:spPr>
          <a:xfrm>
            <a:off x="621792" y="1673352"/>
            <a:ext cx="5074920" cy="822960"/>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Revenue and cashflows are sensitive to Brent crude prices. A $10/bbl decline reduces EBITDA by ~KZT 180 bln.</a:t>
            </a:r>
            <a:endParaRPr lang="en-US" sz="1150" dirty="0"/>
          </a:p>
        </p:txBody>
      </p:sp>
      <p:sp>
        <p:nvSpPr>
          <p:cNvPr id="10" name="Shape 8"/>
          <p:cNvSpPr/>
          <p:nvPr/>
        </p:nvSpPr>
        <p:spPr>
          <a:xfrm>
            <a:off x="6217920" y="1143000"/>
            <a:ext cx="5394960" cy="1463040"/>
          </a:xfrm>
          <a:prstGeom prst="rect">
            <a:avLst>
              <a:gd name="adj" fmla="val 5000"/>
            </a:avLst>
          </a:prstGeom>
          <a:solidFill>
            <a:srgbClr val="0E4D44"/>
          </a:solidFill>
          <a:ln w="9525">
            <a:solidFill>
              <a:srgbClr val="000000"/>
            </a:solidFill>
            <a:prstDash val="solid"/>
          </a:ln>
        </p:spPr>
      </p:sp>
      <p:sp>
        <p:nvSpPr>
          <p:cNvPr id="11" name="Shape 9"/>
          <p:cNvSpPr/>
          <p:nvPr/>
        </p:nvSpPr>
        <p:spPr>
          <a:xfrm>
            <a:off x="6382512" y="1280160"/>
            <a:ext cx="685800" cy="256032"/>
          </a:xfrm>
          <a:prstGeom prst="rect">
            <a:avLst>
              <a:gd name="adj" fmla="val 14286"/>
            </a:avLst>
          </a:prstGeom>
          <a:solidFill>
            <a:srgbClr val="000000"/>
          </a:solidFill>
          <a:ln w="6350">
            <a:solidFill>
              <a:srgbClr val="F5A623"/>
            </a:solidFill>
            <a:prstDash val="solid"/>
          </a:ln>
        </p:spPr>
      </p:sp>
      <p:sp>
        <p:nvSpPr>
          <p:cNvPr id="12" name="Text 10"/>
          <p:cNvSpPr/>
          <p:nvPr/>
        </p:nvSpPr>
        <p:spPr>
          <a:xfrm>
            <a:off x="6382512" y="1280160"/>
            <a:ext cx="685800" cy="256032"/>
          </a:xfrm>
          <a:prstGeom prst="rect">
            <a:avLst/>
          </a:prstGeom>
          <a:noFill/>
          <a:ln/>
        </p:spPr>
        <p:txBody>
          <a:bodyPr wrap="square" rtlCol="0" anchor="ctr"/>
          <a:lstStyle/>
          <a:p>
            <a:pPr algn="ctr" indent="0" marL="0">
              <a:buNone/>
            </a:pPr>
            <a:r>
              <a:rPr lang="en-US" sz="900" b="1" dirty="0">
                <a:solidFill>
                  <a:srgbClr val="F5A623"/>
                </a:solidFill>
                <a:latin typeface="Calibri" pitchFamily="34" charset="0"/>
                <a:ea typeface="Calibri" pitchFamily="34" charset="-122"/>
                <a:cs typeface="Calibri" pitchFamily="34" charset="-120"/>
              </a:rPr>
              <a:t>FX</a:t>
            </a:r>
            <a:endParaRPr lang="en-US" sz="900" dirty="0"/>
          </a:p>
        </p:txBody>
      </p:sp>
      <p:sp>
        <p:nvSpPr>
          <p:cNvPr id="13" name="Text 11"/>
          <p:cNvSpPr/>
          <p:nvPr/>
        </p:nvSpPr>
        <p:spPr>
          <a:xfrm>
            <a:off x="7187184" y="1252728"/>
            <a:ext cx="4251960" cy="32004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Tenge / USD Fluctuation</a:t>
            </a:r>
            <a:endParaRPr lang="en-US" sz="1300" dirty="0"/>
          </a:p>
        </p:txBody>
      </p:sp>
      <p:sp>
        <p:nvSpPr>
          <p:cNvPr id="14" name="Text 12"/>
          <p:cNvSpPr/>
          <p:nvPr/>
        </p:nvSpPr>
        <p:spPr>
          <a:xfrm>
            <a:off x="6382512" y="1673352"/>
            <a:ext cx="5074920" cy="822960"/>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KZT-denominated costs vs. USD revenues. Depreciation benefits exports but inflates KZT-reported debt.</a:t>
            </a:r>
            <a:endParaRPr lang="en-US" sz="1150" dirty="0"/>
          </a:p>
        </p:txBody>
      </p:sp>
      <p:sp>
        <p:nvSpPr>
          <p:cNvPr id="15" name="Shape 13"/>
          <p:cNvSpPr/>
          <p:nvPr/>
        </p:nvSpPr>
        <p:spPr>
          <a:xfrm>
            <a:off x="457200" y="2788920"/>
            <a:ext cx="5394960" cy="1463040"/>
          </a:xfrm>
          <a:prstGeom prst="rect">
            <a:avLst>
              <a:gd name="adj" fmla="val 5000"/>
            </a:avLst>
          </a:prstGeom>
          <a:solidFill>
            <a:srgbClr val="0E4D44"/>
          </a:solidFill>
          <a:ln w="9525">
            <a:solidFill>
              <a:srgbClr val="000000"/>
            </a:solidFill>
            <a:prstDash val="solid"/>
          </a:ln>
        </p:spPr>
      </p:sp>
      <p:sp>
        <p:nvSpPr>
          <p:cNvPr id="16" name="Shape 14"/>
          <p:cNvSpPr/>
          <p:nvPr/>
        </p:nvSpPr>
        <p:spPr>
          <a:xfrm>
            <a:off x="621792" y="2926080"/>
            <a:ext cx="685800" cy="256032"/>
          </a:xfrm>
          <a:prstGeom prst="rect">
            <a:avLst>
              <a:gd name="adj" fmla="val 14286"/>
            </a:avLst>
          </a:prstGeom>
          <a:solidFill>
            <a:srgbClr val="000000"/>
          </a:solidFill>
          <a:ln w="6350">
            <a:solidFill>
              <a:srgbClr val="3A9BD5"/>
            </a:solidFill>
            <a:prstDash val="solid"/>
          </a:ln>
        </p:spPr>
      </p:sp>
      <p:sp>
        <p:nvSpPr>
          <p:cNvPr id="17" name="Text 15"/>
          <p:cNvSpPr/>
          <p:nvPr/>
        </p:nvSpPr>
        <p:spPr>
          <a:xfrm>
            <a:off x="621792" y="2926080"/>
            <a:ext cx="685800" cy="256032"/>
          </a:xfrm>
          <a:prstGeom prst="rect">
            <a:avLst/>
          </a:prstGeom>
          <a:noFill/>
          <a:ln/>
        </p:spPr>
        <p:txBody>
          <a:bodyPr wrap="square" rtlCol="0" anchor="ctr"/>
          <a:lstStyle/>
          <a:p>
            <a:pPr algn="ctr" indent="0" marL="0">
              <a:buNone/>
            </a:pPr>
            <a:r>
              <a:rPr lang="en-US" sz="900" b="1" dirty="0">
                <a:solidFill>
                  <a:srgbClr val="3A9BD5"/>
                </a:solidFill>
                <a:latin typeface="Calibri" pitchFamily="34" charset="0"/>
                <a:ea typeface="Calibri" pitchFamily="34" charset="-122"/>
                <a:cs typeface="Calibri" pitchFamily="34" charset="-120"/>
              </a:rPr>
              <a:t>Operational</a:t>
            </a:r>
            <a:endParaRPr lang="en-US" sz="900" dirty="0"/>
          </a:p>
        </p:txBody>
      </p:sp>
      <p:sp>
        <p:nvSpPr>
          <p:cNvPr id="18" name="Text 16"/>
          <p:cNvSpPr/>
          <p:nvPr/>
        </p:nvSpPr>
        <p:spPr>
          <a:xfrm>
            <a:off x="1426464" y="2898648"/>
            <a:ext cx="4251960" cy="32004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Asset Concentration</a:t>
            </a:r>
            <a:endParaRPr lang="en-US" sz="1300" dirty="0"/>
          </a:p>
        </p:txBody>
      </p:sp>
      <p:sp>
        <p:nvSpPr>
          <p:cNvPr id="19" name="Text 17"/>
          <p:cNvSpPr/>
          <p:nvPr/>
        </p:nvSpPr>
        <p:spPr>
          <a:xfrm>
            <a:off x="621792" y="3319272"/>
            <a:ext cx="5074920" cy="822960"/>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TCO and Kashagan represent ~60% of production. Technical outages (as in 2019–2020) can materially affect volumes.</a:t>
            </a:r>
            <a:endParaRPr lang="en-US" sz="1150" dirty="0"/>
          </a:p>
        </p:txBody>
      </p:sp>
      <p:sp>
        <p:nvSpPr>
          <p:cNvPr id="20" name="Shape 18"/>
          <p:cNvSpPr/>
          <p:nvPr/>
        </p:nvSpPr>
        <p:spPr>
          <a:xfrm>
            <a:off x="6217920" y="2788920"/>
            <a:ext cx="5394960" cy="1463040"/>
          </a:xfrm>
          <a:prstGeom prst="rect">
            <a:avLst>
              <a:gd name="adj" fmla="val 5000"/>
            </a:avLst>
          </a:prstGeom>
          <a:solidFill>
            <a:srgbClr val="0E4D44"/>
          </a:solidFill>
          <a:ln w="9525">
            <a:solidFill>
              <a:srgbClr val="000000"/>
            </a:solidFill>
            <a:prstDash val="solid"/>
          </a:ln>
        </p:spPr>
      </p:sp>
      <p:sp>
        <p:nvSpPr>
          <p:cNvPr id="21" name="Shape 19"/>
          <p:cNvSpPr/>
          <p:nvPr/>
        </p:nvSpPr>
        <p:spPr>
          <a:xfrm>
            <a:off x="6382512" y="2926080"/>
            <a:ext cx="685800" cy="256032"/>
          </a:xfrm>
          <a:prstGeom prst="rect">
            <a:avLst>
              <a:gd name="adj" fmla="val 14286"/>
            </a:avLst>
          </a:prstGeom>
          <a:solidFill>
            <a:srgbClr val="000000"/>
          </a:solidFill>
          <a:ln w="6350">
            <a:solidFill>
              <a:srgbClr val="9B59B6"/>
            </a:solidFill>
            <a:prstDash val="solid"/>
          </a:ln>
        </p:spPr>
      </p:sp>
      <p:sp>
        <p:nvSpPr>
          <p:cNvPr id="22" name="Text 20"/>
          <p:cNvSpPr/>
          <p:nvPr/>
        </p:nvSpPr>
        <p:spPr>
          <a:xfrm>
            <a:off x="6382512" y="2926080"/>
            <a:ext cx="685800" cy="256032"/>
          </a:xfrm>
          <a:prstGeom prst="rect">
            <a:avLst/>
          </a:prstGeom>
          <a:noFill/>
          <a:ln/>
        </p:spPr>
        <p:txBody>
          <a:bodyPr wrap="square" rtlCol="0" anchor="ctr"/>
          <a:lstStyle/>
          <a:p>
            <a:pPr algn="ctr" indent="0" marL="0">
              <a:buNone/>
            </a:pPr>
            <a:r>
              <a:rPr lang="en-US" sz="900" b="1" dirty="0">
                <a:solidFill>
                  <a:srgbClr val="9B59B6"/>
                </a:solidFill>
                <a:latin typeface="Calibri" pitchFamily="34" charset="0"/>
                <a:ea typeface="Calibri" pitchFamily="34" charset="-122"/>
                <a:cs typeface="Calibri" pitchFamily="34" charset="-120"/>
              </a:rPr>
              <a:t>Regulatory</a:t>
            </a:r>
            <a:endParaRPr lang="en-US" sz="900" dirty="0"/>
          </a:p>
        </p:txBody>
      </p:sp>
      <p:sp>
        <p:nvSpPr>
          <p:cNvPr id="23" name="Text 21"/>
          <p:cNvSpPr/>
          <p:nvPr/>
        </p:nvSpPr>
        <p:spPr>
          <a:xfrm>
            <a:off x="7187184" y="2898648"/>
            <a:ext cx="4251960" cy="32004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Production Sharing Agreements</a:t>
            </a:r>
            <a:endParaRPr lang="en-US" sz="1300" dirty="0"/>
          </a:p>
        </p:txBody>
      </p:sp>
      <p:sp>
        <p:nvSpPr>
          <p:cNvPr id="24" name="Text 22"/>
          <p:cNvSpPr/>
          <p:nvPr/>
        </p:nvSpPr>
        <p:spPr>
          <a:xfrm>
            <a:off x="6382512" y="3319272"/>
            <a:ext cx="5074920" cy="822960"/>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PSA terms are long-dated but subject to renegotiation risk. Changes in fiscal regime or royalties could impact profitability.</a:t>
            </a:r>
            <a:endParaRPr lang="en-US" sz="1150" dirty="0"/>
          </a:p>
        </p:txBody>
      </p:sp>
      <p:sp>
        <p:nvSpPr>
          <p:cNvPr id="25" name="Shape 23"/>
          <p:cNvSpPr/>
          <p:nvPr/>
        </p:nvSpPr>
        <p:spPr>
          <a:xfrm>
            <a:off x="457200" y="4434840"/>
            <a:ext cx="5394960" cy="1463040"/>
          </a:xfrm>
          <a:prstGeom prst="rect">
            <a:avLst>
              <a:gd name="adj" fmla="val 5000"/>
            </a:avLst>
          </a:prstGeom>
          <a:solidFill>
            <a:srgbClr val="0E4D44"/>
          </a:solidFill>
          <a:ln w="9525">
            <a:solidFill>
              <a:srgbClr val="000000"/>
            </a:solidFill>
            <a:prstDash val="solid"/>
          </a:ln>
        </p:spPr>
      </p:sp>
      <p:sp>
        <p:nvSpPr>
          <p:cNvPr id="26" name="Shape 24"/>
          <p:cNvSpPr/>
          <p:nvPr/>
        </p:nvSpPr>
        <p:spPr>
          <a:xfrm>
            <a:off x="621792" y="4572000"/>
            <a:ext cx="685800" cy="256032"/>
          </a:xfrm>
          <a:prstGeom prst="rect">
            <a:avLst>
              <a:gd name="adj" fmla="val 14286"/>
            </a:avLst>
          </a:prstGeom>
          <a:solidFill>
            <a:srgbClr val="000000"/>
          </a:solidFill>
          <a:ln w="6350">
            <a:solidFill>
              <a:srgbClr val="E67E22"/>
            </a:solidFill>
            <a:prstDash val="solid"/>
          </a:ln>
        </p:spPr>
      </p:sp>
      <p:sp>
        <p:nvSpPr>
          <p:cNvPr id="27" name="Text 25"/>
          <p:cNvSpPr/>
          <p:nvPr/>
        </p:nvSpPr>
        <p:spPr>
          <a:xfrm>
            <a:off x="621792" y="4572000"/>
            <a:ext cx="685800" cy="256032"/>
          </a:xfrm>
          <a:prstGeom prst="rect">
            <a:avLst/>
          </a:prstGeom>
          <a:noFill/>
          <a:ln/>
        </p:spPr>
        <p:txBody>
          <a:bodyPr wrap="square" rtlCol="0" anchor="ctr"/>
          <a:lstStyle/>
          <a:p>
            <a:pPr algn="ctr" indent="0" marL="0">
              <a:buNone/>
            </a:pPr>
            <a:r>
              <a:rPr lang="en-US" sz="900" b="1" dirty="0">
                <a:solidFill>
                  <a:srgbClr val="E67E22"/>
                </a:solidFill>
                <a:latin typeface="Calibri" pitchFamily="34" charset="0"/>
                <a:ea typeface="Calibri" pitchFamily="34" charset="-122"/>
                <a:cs typeface="Calibri" pitchFamily="34" charset="-120"/>
              </a:rPr>
              <a:t>Geopolitical</a:t>
            </a:r>
            <a:endParaRPr lang="en-US" sz="900" dirty="0"/>
          </a:p>
        </p:txBody>
      </p:sp>
      <p:sp>
        <p:nvSpPr>
          <p:cNvPr id="28" name="Text 26"/>
          <p:cNvSpPr/>
          <p:nvPr/>
        </p:nvSpPr>
        <p:spPr>
          <a:xfrm>
            <a:off x="1426464" y="4544568"/>
            <a:ext cx="4251960" cy="32004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CPC Pipeline Route Risk</a:t>
            </a:r>
            <a:endParaRPr lang="en-US" sz="1300" dirty="0"/>
          </a:p>
        </p:txBody>
      </p:sp>
      <p:sp>
        <p:nvSpPr>
          <p:cNvPr id="29" name="Text 27"/>
          <p:cNvSpPr/>
          <p:nvPr/>
        </p:nvSpPr>
        <p:spPr>
          <a:xfrm>
            <a:off x="621792" y="4965192"/>
            <a:ext cx="5074920" cy="822960"/>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Approximately 80% of crude exports transit Russia via CPC. Disruptions (as in 2022) can temporarily restrict export capacity.</a:t>
            </a:r>
            <a:endParaRPr lang="en-US" sz="1150" dirty="0"/>
          </a:p>
        </p:txBody>
      </p:sp>
      <p:sp>
        <p:nvSpPr>
          <p:cNvPr id="30" name="Shape 28"/>
          <p:cNvSpPr/>
          <p:nvPr/>
        </p:nvSpPr>
        <p:spPr>
          <a:xfrm>
            <a:off x="6217920" y="4434840"/>
            <a:ext cx="5394960" cy="1463040"/>
          </a:xfrm>
          <a:prstGeom prst="rect">
            <a:avLst>
              <a:gd name="adj" fmla="val 5000"/>
            </a:avLst>
          </a:prstGeom>
          <a:solidFill>
            <a:srgbClr val="0E4D44"/>
          </a:solidFill>
          <a:ln w="9525">
            <a:solidFill>
              <a:srgbClr val="000000"/>
            </a:solidFill>
            <a:prstDash val="solid"/>
          </a:ln>
        </p:spPr>
      </p:sp>
      <p:sp>
        <p:nvSpPr>
          <p:cNvPr id="31" name="Shape 29"/>
          <p:cNvSpPr/>
          <p:nvPr/>
        </p:nvSpPr>
        <p:spPr>
          <a:xfrm>
            <a:off x="6382512" y="4572000"/>
            <a:ext cx="685800" cy="256032"/>
          </a:xfrm>
          <a:prstGeom prst="rect">
            <a:avLst>
              <a:gd name="adj" fmla="val 14286"/>
            </a:avLst>
          </a:prstGeom>
          <a:solidFill>
            <a:srgbClr val="000000"/>
          </a:solidFill>
          <a:ln w="6350">
            <a:solidFill>
              <a:srgbClr val="2A9D6E"/>
            </a:solidFill>
            <a:prstDash val="solid"/>
          </a:ln>
        </p:spPr>
      </p:sp>
      <p:sp>
        <p:nvSpPr>
          <p:cNvPr id="32" name="Text 30"/>
          <p:cNvSpPr/>
          <p:nvPr/>
        </p:nvSpPr>
        <p:spPr>
          <a:xfrm>
            <a:off x="6382512" y="4572000"/>
            <a:ext cx="685800" cy="256032"/>
          </a:xfrm>
          <a:prstGeom prst="rect">
            <a:avLst/>
          </a:prstGeom>
          <a:noFill/>
          <a:ln/>
        </p:spPr>
        <p:txBody>
          <a:bodyPr wrap="square" rtlCol="0" anchor="ctr"/>
          <a:lstStyle/>
          <a:p>
            <a:pPr algn="ctr" indent="0" marL="0">
              <a:buNone/>
            </a:pPr>
            <a:r>
              <a:rPr lang="en-US" sz="900" b="1" dirty="0">
                <a:solidFill>
                  <a:srgbClr val="2A9D6E"/>
                </a:solidFill>
                <a:latin typeface="Calibri" pitchFamily="34" charset="0"/>
                <a:ea typeface="Calibri" pitchFamily="34" charset="-122"/>
                <a:cs typeface="Calibri" pitchFamily="34" charset="-120"/>
              </a:rPr>
              <a:t>ESG</a:t>
            </a:r>
            <a:endParaRPr lang="en-US" sz="900" dirty="0"/>
          </a:p>
        </p:txBody>
      </p:sp>
      <p:sp>
        <p:nvSpPr>
          <p:cNvPr id="33" name="Text 31"/>
          <p:cNvSpPr/>
          <p:nvPr/>
        </p:nvSpPr>
        <p:spPr>
          <a:xfrm>
            <a:off x="7187184" y="4544568"/>
            <a:ext cx="4251960" cy="32004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Climate Transition Risk</a:t>
            </a:r>
            <a:endParaRPr lang="en-US" sz="1300" dirty="0"/>
          </a:p>
        </p:txBody>
      </p:sp>
      <p:sp>
        <p:nvSpPr>
          <p:cNvPr id="34" name="Text 32"/>
          <p:cNvSpPr/>
          <p:nvPr/>
        </p:nvSpPr>
        <p:spPr>
          <a:xfrm>
            <a:off x="6382512" y="4965192"/>
            <a:ext cx="5074920" cy="822960"/>
          </a:xfrm>
          <a:prstGeom prst="rect">
            <a:avLst/>
          </a:prstGeom>
          <a:noFill/>
          <a:ln/>
        </p:spPr>
        <p:txBody>
          <a:bodyPr wrap="square" rtlCol="0" anchor="ctr"/>
          <a:lstStyle/>
          <a:p>
            <a:pPr indent="0" marL="0">
              <a:buNone/>
            </a:pPr>
            <a:r>
              <a:rPr lang="en-US" sz="1150" dirty="0">
                <a:solidFill>
                  <a:srgbClr val="AACCC5"/>
                </a:solidFill>
                <a:latin typeface="Calibri" pitchFamily="34" charset="0"/>
                <a:ea typeface="Calibri" pitchFamily="34" charset="-122"/>
                <a:cs typeface="Calibri" pitchFamily="34" charset="-120"/>
              </a:rPr>
              <a:t>Long-term demand for fossil fuels faces structural uncertainty. KMG's renewable and diversification strategy partially mitigates this.</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A3A33"/>
          </a:solidFill>
          <a:ln/>
        </p:spPr>
      </p:sp>
      <p:sp>
        <p:nvSpPr>
          <p:cNvPr id="3" name="Shape 1"/>
          <p:cNvSpPr/>
          <p:nvPr/>
        </p:nvSpPr>
        <p:spPr>
          <a:xfrm>
            <a:off x="0" y="0"/>
            <a:ext cx="12192000" cy="109728"/>
          </a:xfrm>
          <a:prstGeom prst="rect">
            <a:avLst/>
          </a:prstGeom>
          <a:solidFill>
            <a:srgbClr val="C9A24B"/>
          </a:solidFill>
          <a:ln/>
        </p:spPr>
      </p:sp>
      <p:sp>
        <p:nvSpPr>
          <p:cNvPr id="4" name="Shape 2"/>
          <p:cNvSpPr/>
          <p:nvPr/>
        </p:nvSpPr>
        <p:spPr>
          <a:xfrm>
            <a:off x="0" y="6748272"/>
            <a:ext cx="12192000" cy="109728"/>
          </a:xfrm>
          <a:prstGeom prst="rect">
            <a:avLst/>
          </a:prstGeom>
          <a:solidFill>
            <a:srgbClr val="C9A24B"/>
          </a:solidFill>
          <a:ln/>
        </p:spPr>
      </p:sp>
      <p:sp>
        <p:nvSpPr>
          <p:cNvPr id="5" name="Text 3"/>
          <p:cNvSpPr/>
          <p:nvPr/>
        </p:nvSpPr>
        <p:spPr>
          <a:xfrm>
            <a:off x="457200" y="274320"/>
            <a:ext cx="11274552" cy="548640"/>
          </a:xfrm>
          <a:prstGeom prst="rect">
            <a:avLst/>
          </a:prstGeom>
          <a:noFill/>
          <a:ln/>
        </p:spPr>
        <p:txBody>
          <a:bodyPr wrap="square" rtlCol="0" anchor="ctr"/>
          <a:lstStyle/>
          <a:p>
            <a:pPr indent="0" marL="0">
              <a:buNone/>
            </a:pPr>
            <a:r>
              <a:rPr lang="en-US" sz="3000" b="1" dirty="0">
                <a:solidFill>
                  <a:srgbClr val="E4CD8B"/>
                </a:solidFill>
                <a:latin typeface="Cambria" pitchFamily="34" charset="0"/>
                <a:ea typeface="Cambria" pitchFamily="34" charset="-122"/>
                <a:cs typeface="Cambria" pitchFamily="34" charset="-120"/>
              </a:rPr>
              <a:t>Summary Investment Case</a:t>
            </a:r>
            <a:endParaRPr lang="en-US" sz="3000" dirty="0"/>
          </a:p>
        </p:txBody>
      </p:sp>
      <p:sp>
        <p:nvSpPr>
          <p:cNvPr id="6" name="Shape 4"/>
          <p:cNvSpPr/>
          <p:nvPr/>
        </p:nvSpPr>
        <p:spPr>
          <a:xfrm>
            <a:off x="457200" y="914400"/>
            <a:ext cx="11274552" cy="36576"/>
          </a:xfrm>
          <a:prstGeom prst="rect">
            <a:avLst/>
          </a:prstGeom>
          <a:solidFill>
            <a:srgbClr val="C9A24B"/>
          </a:solidFill>
          <a:ln/>
        </p:spPr>
      </p:sp>
      <p:sp>
        <p:nvSpPr>
          <p:cNvPr id="7" name="Shape 5"/>
          <p:cNvSpPr/>
          <p:nvPr/>
        </p:nvSpPr>
        <p:spPr>
          <a:xfrm>
            <a:off x="457200" y="1051560"/>
            <a:ext cx="5394960" cy="1508760"/>
          </a:xfrm>
          <a:prstGeom prst="rect">
            <a:avLst>
              <a:gd name="adj" fmla="val 6061"/>
            </a:avLst>
          </a:prstGeom>
          <a:solidFill>
            <a:srgbClr val="0E4D44"/>
          </a:solidFill>
          <a:ln w="9525">
            <a:solidFill>
              <a:srgbClr val="C9A24B"/>
            </a:solidFill>
            <a:prstDash val="solid"/>
          </a:ln>
        </p:spPr>
      </p:sp>
      <p:sp>
        <p:nvSpPr>
          <p:cNvPr id="8" name="Shape 6"/>
          <p:cNvSpPr/>
          <p:nvPr/>
        </p:nvSpPr>
        <p:spPr>
          <a:xfrm>
            <a:off x="621792" y="1188720"/>
            <a:ext cx="347472" cy="347472"/>
          </a:xfrm>
          <a:prstGeom prst="rect">
            <a:avLst>
              <a:gd name="adj" fmla="val 13158"/>
            </a:avLst>
          </a:prstGeom>
          <a:solidFill>
            <a:srgbClr val="C9A24B"/>
          </a:solidFill>
          <a:ln/>
        </p:spPr>
      </p:sp>
      <p:sp>
        <p:nvSpPr>
          <p:cNvPr id="9" name="Text 7"/>
          <p:cNvSpPr/>
          <p:nvPr/>
        </p:nvSpPr>
        <p:spPr>
          <a:xfrm>
            <a:off x="621792" y="1188720"/>
            <a:ext cx="347472" cy="347472"/>
          </a:xfrm>
          <a:prstGeom prst="rect">
            <a:avLst/>
          </a:prstGeom>
          <a:noFill/>
          <a:ln/>
        </p:spPr>
        <p:txBody>
          <a:bodyPr wrap="square" rtlCol="0" anchor="ctr"/>
          <a:lstStyle/>
          <a:p>
            <a:pPr algn="ctr" indent="0" marL="0">
              <a:buNone/>
            </a:pPr>
            <a:r>
              <a:rPr lang="en-US" sz="1600" b="1" dirty="0">
                <a:solidFill>
                  <a:srgbClr val="0A3A33"/>
                </a:solidFill>
                <a:latin typeface="Calibri" pitchFamily="34" charset="0"/>
                <a:ea typeface="Calibri" pitchFamily="34" charset="-122"/>
                <a:cs typeface="Calibri" pitchFamily="34" charset="-120"/>
              </a:rPr>
              <a:t>✓</a:t>
            </a:r>
            <a:endParaRPr lang="en-US" sz="1600" dirty="0"/>
          </a:p>
        </p:txBody>
      </p:sp>
      <p:sp>
        <p:nvSpPr>
          <p:cNvPr id="10" name="Text 8"/>
          <p:cNvSpPr/>
          <p:nvPr/>
        </p:nvSpPr>
        <p:spPr>
          <a:xfrm>
            <a:off x="1097280" y="1188720"/>
            <a:ext cx="4572000" cy="365760"/>
          </a:xfrm>
          <a:prstGeom prst="rect">
            <a:avLst/>
          </a:prstGeom>
          <a:noFill/>
          <a:ln/>
        </p:spPr>
        <p:txBody>
          <a:bodyPr wrap="square" rtlCol="0" anchor="ctr"/>
          <a:lstStyle/>
          <a:p>
            <a:pPr indent="0" marL="0">
              <a:buNone/>
            </a:pPr>
            <a:r>
              <a:rPr lang="en-US" sz="1250" b="1" dirty="0">
                <a:solidFill>
                  <a:srgbClr val="E4CD8B"/>
                </a:solidFill>
                <a:latin typeface="Cambria" pitchFamily="34" charset="0"/>
                <a:ea typeface="Cambria" pitchFamily="34" charset="-122"/>
                <a:cs typeface="Cambria" pitchFamily="34" charset="-120"/>
              </a:rPr>
              <a:t>National Champion with Sovereign Backing</a:t>
            </a:r>
            <a:endParaRPr lang="en-US" sz="1250" dirty="0"/>
          </a:p>
        </p:txBody>
      </p:sp>
      <p:sp>
        <p:nvSpPr>
          <p:cNvPr id="11" name="Text 9"/>
          <p:cNvSpPr/>
          <p:nvPr/>
        </p:nvSpPr>
        <p:spPr>
          <a:xfrm>
            <a:off x="621792" y="1618488"/>
            <a:ext cx="5074920" cy="822960"/>
          </a:xfrm>
          <a:prstGeom prst="rect">
            <a:avLst/>
          </a:prstGeom>
          <a:noFill/>
          <a:ln/>
        </p:spPr>
        <p:txBody>
          <a:bodyPr wrap="square" rtlCol="0" anchor="ctr"/>
          <a:lstStyle/>
          <a:p>
            <a:pPr indent="0" marL="0">
              <a:buNone/>
            </a:pPr>
            <a:r>
              <a:rPr lang="en-US" sz="1100" dirty="0">
                <a:solidFill>
                  <a:srgbClr val="AACCC5"/>
                </a:solidFill>
                <a:latin typeface="Calibri" pitchFamily="34" charset="0"/>
                <a:ea typeface="Calibri" pitchFamily="34" charset="-122"/>
                <a:cs typeface="Calibri" pitchFamily="34" charset="-120"/>
              </a:rPr>
              <a:t>Sole national oil &amp; gas company; 100% owned by Samruk-Kazyna sovereign wealth fund. Strong implied and explicit state support underpins credit quality.</a:t>
            </a:r>
            <a:endParaRPr lang="en-US" sz="1100" dirty="0"/>
          </a:p>
        </p:txBody>
      </p:sp>
      <p:sp>
        <p:nvSpPr>
          <p:cNvPr id="12" name="Shape 10"/>
          <p:cNvSpPr/>
          <p:nvPr/>
        </p:nvSpPr>
        <p:spPr>
          <a:xfrm>
            <a:off x="6217920" y="1051560"/>
            <a:ext cx="5394960" cy="1508760"/>
          </a:xfrm>
          <a:prstGeom prst="rect">
            <a:avLst>
              <a:gd name="adj" fmla="val 6061"/>
            </a:avLst>
          </a:prstGeom>
          <a:solidFill>
            <a:srgbClr val="0E4D44"/>
          </a:solidFill>
          <a:ln w="9525">
            <a:solidFill>
              <a:srgbClr val="C9A24B"/>
            </a:solidFill>
            <a:prstDash val="solid"/>
          </a:ln>
        </p:spPr>
      </p:sp>
      <p:sp>
        <p:nvSpPr>
          <p:cNvPr id="13" name="Shape 11"/>
          <p:cNvSpPr/>
          <p:nvPr/>
        </p:nvSpPr>
        <p:spPr>
          <a:xfrm>
            <a:off x="6382512" y="1188720"/>
            <a:ext cx="347472" cy="347472"/>
          </a:xfrm>
          <a:prstGeom prst="rect">
            <a:avLst>
              <a:gd name="adj" fmla="val 13158"/>
            </a:avLst>
          </a:prstGeom>
          <a:solidFill>
            <a:srgbClr val="C9A24B"/>
          </a:solidFill>
          <a:ln/>
        </p:spPr>
      </p:sp>
      <p:sp>
        <p:nvSpPr>
          <p:cNvPr id="14" name="Text 12"/>
          <p:cNvSpPr/>
          <p:nvPr/>
        </p:nvSpPr>
        <p:spPr>
          <a:xfrm>
            <a:off x="6382512" y="1188720"/>
            <a:ext cx="347472" cy="347472"/>
          </a:xfrm>
          <a:prstGeom prst="rect">
            <a:avLst/>
          </a:prstGeom>
          <a:noFill/>
          <a:ln/>
        </p:spPr>
        <p:txBody>
          <a:bodyPr wrap="square" rtlCol="0" anchor="ctr"/>
          <a:lstStyle/>
          <a:p>
            <a:pPr algn="ctr" indent="0" marL="0">
              <a:buNone/>
            </a:pPr>
            <a:r>
              <a:rPr lang="en-US" sz="1600" b="1" dirty="0">
                <a:solidFill>
                  <a:srgbClr val="0A3A33"/>
                </a:solidFill>
                <a:latin typeface="Calibri" pitchFamily="34" charset="0"/>
                <a:ea typeface="Calibri" pitchFamily="34" charset="-122"/>
                <a:cs typeface="Calibri" pitchFamily="34" charset="-120"/>
              </a:rPr>
              <a:t>✓</a:t>
            </a:r>
            <a:endParaRPr lang="en-US" sz="1600" dirty="0"/>
          </a:p>
        </p:txBody>
      </p:sp>
      <p:sp>
        <p:nvSpPr>
          <p:cNvPr id="15" name="Text 13"/>
          <p:cNvSpPr/>
          <p:nvPr/>
        </p:nvSpPr>
        <p:spPr>
          <a:xfrm>
            <a:off x="6858000" y="1188720"/>
            <a:ext cx="4572000" cy="365760"/>
          </a:xfrm>
          <a:prstGeom prst="rect">
            <a:avLst/>
          </a:prstGeom>
          <a:noFill/>
          <a:ln/>
        </p:spPr>
        <p:txBody>
          <a:bodyPr wrap="square" rtlCol="0" anchor="ctr"/>
          <a:lstStyle/>
          <a:p>
            <a:pPr indent="0" marL="0">
              <a:buNone/>
            </a:pPr>
            <a:r>
              <a:rPr lang="en-US" sz="1250" b="1" dirty="0">
                <a:solidFill>
                  <a:srgbClr val="E4CD8B"/>
                </a:solidFill>
                <a:latin typeface="Cambria" pitchFamily="34" charset="0"/>
                <a:ea typeface="Cambria" pitchFamily="34" charset="-122"/>
                <a:cs typeface="Cambria" pitchFamily="34" charset="-120"/>
              </a:rPr>
              <a:t>Investment Grade Across All Three Agencies</a:t>
            </a:r>
            <a:endParaRPr lang="en-US" sz="1250" dirty="0"/>
          </a:p>
        </p:txBody>
      </p:sp>
      <p:sp>
        <p:nvSpPr>
          <p:cNvPr id="16" name="Text 14"/>
          <p:cNvSpPr/>
          <p:nvPr/>
        </p:nvSpPr>
        <p:spPr>
          <a:xfrm>
            <a:off x="6382512" y="1618488"/>
            <a:ext cx="5074920" cy="822960"/>
          </a:xfrm>
          <a:prstGeom prst="rect">
            <a:avLst/>
          </a:prstGeom>
          <a:noFill/>
          <a:ln/>
        </p:spPr>
        <p:txBody>
          <a:bodyPr wrap="square" rtlCol="0" anchor="ctr"/>
          <a:lstStyle/>
          <a:p>
            <a:pPr indent="0" marL="0">
              <a:buNone/>
            </a:pPr>
            <a:r>
              <a:rPr lang="en-US" sz="1100" dirty="0">
                <a:solidFill>
                  <a:srgbClr val="AACCC5"/>
                </a:solidFill>
                <a:latin typeface="Calibri" pitchFamily="34" charset="0"/>
                <a:ea typeface="Calibri" pitchFamily="34" charset="-122"/>
                <a:cs typeface="Calibri" pitchFamily="34" charset="-120"/>
              </a:rPr>
              <a:t>Baa1 / BBB− / BBB (all Stable) — the only Central Asian energy company rated investment grade by Moody's, S&amp;P and Fitch simultaneously.</a:t>
            </a:r>
            <a:endParaRPr lang="en-US" sz="1100" dirty="0"/>
          </a:p>
        </p:txBody>
      </p:sp>
      <p:sp>
        <p:nvSpPr>
          <p:cNvPr id="17" name="Shape 15"/>
          <p:cNvSpPr/>
          <p:nvPr/>
        </p:nvSpPr>
        <p:spPr>
          <a:xfrm>
            <a:off x="457200" y="2743200"/>
            <a:ext cx="5394960" cy="1508760"/>
          </a:xfrm>
          <a:prstGeom prst="rect">
            <a:avLst>
              <a:gd name="adj" fmla="val 6061"/>
            </a:avLst>
          </a:prstGeom>
          <a:solidFill>
            <a:srgbClr val="0E4D44"/>
          </a:solidFill>
          <a:ln w="9525">
            <a:solidFill>
              <a:srgbClr val="C9A24B"/>
            </a:solidFill>
            <a:prstDash val="solid"/>
          </a:ln>
        </p:spPr>
      </p:sp>
      <p:sp>
        <p:nvSpPr>
          <p:cNvPr id="18" name="Shape 16"/>
          <p:cNvSpPr/>
          <p:nvPr/>
        </p:nvSpPr>
        <p:spPr>
          <a:xfrm>
            <a:off x="621792" y="2880360"/>
            <a:ext cx="347472" cy="347472"/>
          </a:xfrm>
          <a:prstGeom prst="rect">
            <a:avLst>
              <a:gd name="adj" fmla="val 13158"/>
            </a:avLst>
          </a:prstGeom>
          <a:solidFill>
            <a:srgbClr val="C9A24B"/>
          </a:solidFill>
          <a:ln/>
        </p:spPr>
      </p:sp>
      <p:sp>
        <p:nvSpPr>
          <p:cNvPr id="19" name="Text 17"/>
          <p:cNvSpPr/>
          <p:nvPr/>
        </p:nvSpPr>
        <p:spPr>
          <a:xfrm>
            <a:off x="621792" y="2880360"/>
            <a:ext cx="347472" cy="347472"/>
          </a:xfrm>
          <a:prstGeom prst="rect">
            <a:avLst/>
          </a:prstGeom>
          <a:noFill/>
          <a:ln/>
        </p:spPr>
        <p:txBody>
          <a:bodyPr wrap="square" rtlCol="0" anchor="ctr"/>
          <a:lstStyle/>
          <a:p>
            <a:pPr algn="ctr" indent="0" marL="0">
              <a:buNone/>
            </a:pPr>
            <a:r>
              <a:rPr lang="en-US" sz="1600" b="1" dirty="0">
                <a:solidFill>
                  <a:srgbClr val="0A3A33"/>
                </a:solidFill>
                <a:latin typeface="Calibri" pitchFamily="34" charset="0"/>
                <a:ea typeface="Calibri" pitchFamily="34" charset="-122"/>
                <a:cs typeface="Calibri" pitchFamily="34" charset="-120"/>
              </a:rPr>
              <a:t>✓</a:t>
            </a:r>
            <a:endParaRPr lang="en-US" sz="1600" dirty="0"/>
          </a:p>
        </p:txBody>
      </p:sp>
      <p:sp>
        <p:nvSpPr>
          <p:cNvPr id="20" name="Text 18"/>
          <p:cNvSpPr/>
          <p:nvPr/>
        </p:nvSpPr>
        <p:spPr>
          <a:xfrm>
            <a:off x="1097280" y="2880360"/>
            <a:ext cx="4572000" cy="365760"/>
          </a:xfrm>
          <a:prstGeom prst="rect">
            <a:avLst/>
          </a:prstGeom>
          <a:noFill/>
          <a:ln/>
        </p:spPr>
        <p:txBody>
          <a:bodyPr wrap="square" rtlCol="0" anchor="ctr"/>
          <a:lstStyle/>
          <a:p>
            <a:pPr indent="0" marL="0">
              <a:buNone/>
            </a:pPr>
            <a:r>
              <a:rPr lang="en-US" sz="1250" b="1" dirty="0">
                <a:solidFill>
                  <a:srgbClr val="E4CD8B"/>
                </a:solidFill>
                <a:latin typeface="Cambria" pitchFamily="34" charset="0"/>
                <a:ea typeface="Cambria" pitchFamily="34" charset="-122"/>
                <a:cs typeface="Cambria" pitchFamily="34" charset="-120"/>
              </a:rPr>
              <a:t>Exceptional Deleveraging Trajectory</a:t>
            </a:r>
            <a:endParaRPr lang="en-US" sz="1250" dirty="0"/>
          </a:p>
        </p:txBody>
      </p:sp>
      <p:sp>
        <p:nvSpPr>
          <p:cNvPr id="21" name="Text 19"/>
          <p:cNvSpPr/>
          <p:nvPr/>
        </p:nvSpPr>
        <p:spPr>
          <a:xfrm>
            <a:off x="621792" y="3310128"/>
            <a:ext cx="5074920" cy="822960"/>
          </a:xfrm>
          <a:prstGeom prst="rect">
            <a:avLst/>
          </a:prstGeom>
          <a:noFill/>
          <a:ln/>
        </p:spPr>
        <p:txBody>
          <a:bodyPr wrap="square" rtlCol="0" anchor="ctr"/>
          <a:lstStyle/>
          <a:p>
            <a:pPr indent="0" marL="0">
              <a:buNone/>
            </a:pPr>
            <a:r>
              <a:rPr lang="en-US" sz="1100" dirty="0">
                <a:solidFill>
                  <a:srgbClr val="AACCC5"/>
                </a:solidFill>
                <a:latin typeface="Calibri" pitchFamily="34" charset="0"/>
                <a:ea typeface="Calibri" pitchFamily="34" charset="-122"/>
                <a:cs typeface="Calibri" pitchFamily="34" charset="-120"/>
              </a:rPr>
              <a:t>Net Debt/EBITDA compressed from 1.42x (2022) to 0.16x (2025) — driven by record free cash flow and disciplined capital management.</a:t>
            </a:r>
            <a:endParaRPr lang="en-US" sz="1100" dirty="0"/>
          </a:p>
        </p:txBody>
      </p:sp>
      <p:sp>
        <p:nvSpPr>
          <p:cNvPr id="22" name="Shape 20"/>
          <p:cNvSpPr/>
          <p:nvPr/>
        </p:nvSpPr>
        <p:spPr>
          <a:xfrm>
            <a:off x="6217920" y="2743200"/>
            <a:ext cx="5394960" cy="1508760"/>
          </a:xfrm>
          <a:prstGeom prst="rect">
            <a:avLst>
              <a:gd name="adj" fmla="val 6061"/>
            </a:avLst>
          </a:prstGeom>
          <a:solidFill>
            <a:srgbClr val="0E4D44"/>
          </a:solidFill>
          <a:ln w="9525">
            <a:solidFill>
              <a:srgbClr val="C9A24B"/>
            </a:solidFill>
            <a:prstDash val="solid"/>
          </a:ln>
        </p:spPr>
      </p:sp>
      <p:sp>
        <p:nvSpPr>
          <p:cNvPr id="23" name="Shape 21"/>
          <p:cNvSpPr/>
          <p:nvPr/>
        </p:nvSpPr>
        <p:spPr>
          <a:xfrm>
            <a:off x="6382512" y="2880360"/>
            <a:ext cx="347472" cy="347472"/>
          </a:xfrm>
          <a:prstGeom prst="rect">
            <a:avLst>
              <a:gd name="adj" fmla="val 13158"/>
            </a:avLst>
          </a:prstGeom>
          <a:solidFill>
            <a:srgbClr val="C9A24B"/>
          </a:solidFill>
          <a:ln/>
        </p:spPr>
      </p:sp>
      <p:sp>
        <p:nvSpPr>
          <p:cNvPr id="24" name="Text 22"/>
          <p:cNvSpPr/>
          <p:nvPr/>
        </p:nvSpPr>
        <p:spPr>
          <a:xfrm>
            <a:off x="6382512" y="2880360"/>
            <a:ext cx="347472" cy="347472"/>
          </a:xfrm>
          <a:prstGeom prst="rect">
            <a:avLst/>
          </a:prstGeom>
          <a:noFill/>
          <a:ln/>
        </p:spPr>
        <p:txBody>
          <a:bodyPr wrap="square" rtlCol="0" anchor="ctr"/>
          <a:lstStyle/>
          <a:p>
            <a:pPr algn="ctr" indent="0" marL="0">
              <a:buNone/>
            </a:pPr>
            <a:r>
              <a:rPr lang="en-US" sz="1600" b="1" dirty="0">
                <a:solidFill>
                  <a:srgbClr val="0A3A33"/>
                </a:solidFill>
                <a:latin typeface="Calibri" pitchFamily="34" charset="0"/>
                <a:ea typeface="Calibri" pitchFamily="34" charset="-122"/>
                <a:cs typeface="Calibri" pitchFamily="34" charset="-120"/>
              </a:rPr>
              <a:t>✓</a:t>
            </a:r>
            <a:endParaRPr lang="en-US" sz="1600" dirty="0"/>
          </a:p>
        </p:txBody>
      </p:sp>
      <p:sp>
        <p:nvSpPr>
          <p:cNvPr id="25" name="Text 23"/>
          <p:cNvSpPr/>
          <p:nvPr/>
        </p:nvSpPr>
        <p:spPr>
          <a:xfrm>
            <a:off x="6858000" y="2880360"/>
            <a:ext cx="4572000" cy="365760"/>
          </a:xfrm>
          <a:prstGeom prst="rect">
            <a:avLst/>
          </a:prstGeom>
          <a:noFill/>
          <a:ln/>
        </p:spPr>
        <p:txBody>
          <a:bodyPr wrap="square" rtlCol="0" anchor="ctr"/>
          <a:lstStyle/>
          <a:p>
            <a:pPr indent="0" marL="0">
              <a:buNone/>
            </a:pPr>
            <a:r>
              <a:rPr lang="en-US" sz="1250" b="1" dirty="0">
                <a:solidFill>
                  <a:srgbClr val="E4CD8B"/>
                </a:solidFill>
                <a:latin typeface="Cambria" pitchFamily="34" charset="0"/>
                <a:ea typeface="Cambria" pitchFamily="34" charset="-122"/>
                <a:cs typeface="Cambria" pitchFamily="34" charset="-120"/>
              </a:rPr>
              <a:t>World-Class Asset Base</a:t>
            </a:r>
            <a:endParaRPr lang="en-US" sz="1250" dirty="0"/>
          </a:p>
        </p:txBody>
      </p:sp>
      <p:sp>
        <p:nvSpPr>
          <p:cNvPr id="26" name="Text 24"/>
          <p:cNvSpPr/>
          <p:nvPr/>
        </p:nvSpPr>
        <p:spPr>
          <a:xfrm>
            <a:off x="6382512" y="3310128"/>
            <a:ext cx="5074920" cy="822960"/>
          </a:xfrm>
          <a:prstGeom prst="rect">
            <a:avLst/>
          </a:prstGeom>
          <a:noFill/>
          <a:ln/>
        </p:spPr>
        <p:txBody>
          <a:bodyPr wrap="square" rtlCol="0" anchor="ctr"/>
          <a:lstStyle/>
          <a:p>
            <a:pPr indent="0" marL="0">
              <a:buNone/>
            </a:pPr>
            <a:r>
              <a:rPr lang="en-US" sz="1100" dirty="0">
                <a:solidFill>
                  <a:srgbClr val="AACCC5"/>
                </a:solidFill>
                <a:latin typeface="Calibri" pitchFamily="34" charset="0"/>
                <a:ea typeface="Calibri" pitchFamily="34" charset="-122"/>
                <a:cs typeface="Calibri" pitchFamily="34" charset="-120"/>
              </a:rPr>
              <a:t>Equity interests in Tengizchevroil and Kashagan — two of the largest oil fields globally — provide long reserve life and production visibility.</a:t>
            </a:r>
            <a:endParaRPr lang="en-US" sz="1100" dirty="0"/>
          </a:p>
        </p:txBody>
      </p:sp>
      <p:sp>
        <p:nvSpPr>
          <p:cNvPr id="27" name="Shape 25"/>
          <p:cNvSpPr/>
          <p:nvPr/>
        </p:nvSpPr>
        <p:spPr>
          <a:xfrm>
            <a:off x="457200" y="4434840"/>
            <a:ext cx="5394960" cy="1508760"/>
          </a:xfrm>
          <a:prstGeom prst="rect">
            <a:avLst>
              <a:gd name="adj" fmla="val 6061"/>
            </a:avLst>
          </a:prstGeom>
          <a:solidFill>
            <a:srgbClr val="0E4D44"/>
          </a:solidFill>
          <a:ln w="9525">
            <a:solidFill>
              <a:srgbClr val="C9A24B"/>
            </a:solidFill>
            <a:prstDash val="solid"/>
          </a:ln>
        </p:spPr>
      </p:sp>
      <p:sp>
        <p:nvSpPr>
          <p:cNvPr id="28" name="Shape 26"/>
          <p:cNvSpPr/>
          <p:nvPr/>
        </p:nvSpPr>
        <p:spPr>
          <a:xfrm>
            <a:off x="621792" y="4572000"/>
            <a:ext cx="347472" cy="347472"/>
          </a:xfrm>
          <a:prstGeom prst="rect">
            <a:avLst>
              <a:gd name="adj" fmla="val 13158"/>
            </a:avLst>
          </a:prstGeom>
          <a:solidFill>
            <a:srgbClr val="C9A24B"/>
          </a:solidFill>
          <a:ln/>
        </p:spPr>
      </p:sp>
      <p:sp>
        <p:nvSpPr>
          <p:cNvPr id="29" name="Text 27"/>
          <p:cNvSpPr/>
          <p:nvPr/>
        </p:nvSpPr>
        <p:spPr>
          <a:xfrm>
            <a:off x="621792" y="4572000"/>
            <a:ext cx="347472" cy="347472"/>
          </a:xfrm>
          <a:prstGeom prst="rect">
            <a:avLst/>
          </a:prstGeom>
          <a:noFill/>
          <a:ln/>
        </p:spPr>
        <p:txBody>
          <a:bodyPr wrap="square" rtlCol="0" anchor="ctr"/>
          <a:lstStyle/>
          <a:p>
            <a:pPr algn="ctr" indent="0" marL="0">
              <a:buNone/>
            </a:pPr>
            <a:r>
              <a:rPr lang="en-US" sz="1600" b="1" dirty="0">
                <a:solidFill>
                  <a:srgbClr val="0A3A33"/>
                </a:solidFill>
                <a:latin typeface="Calibri" pitchFamily="34" charset="0"/>
                <a:ea typeface="Calibri" pitchFamily="34" charset="-122"/>
                <a:cs typeface="Calibri" pitchFamily="34" charset="-120"/>
              </a:rPr>
              <a:t>✓</a:t>
            </a:r>
            <a:endParaRPr lang="en-US" sz="1600" dirty="0"/>
          </a:p>
        </p:txBody>
      </p:sp>
      <p:sp>
        <p:nvSpPr>
          <p:cNvPr id="30" name="Text 28"/>
          <p:cNvSpPr/>
          <p:nvPr/>
        </p:nvSpPr>
        <p:spPr>
          <a:xfrm>
            <a:off x="1097280" y="4572000"/>
            <a:ext cx="4572000" cy="365760"/>
          </a:xfrm>
          <a:prstGeom prst="rect">
            <a:avLst/>
          </a:prstGeom>
          <a:noFill/>
          <a:ln/>
        </p:spPr>
        <p:txBody>
          <a:bodyPr wrap="square" rtlCol="0" anchor="ctr"/>
          <a:lstStyle/>
          <a:p>
            <a:pPr indent="0" marL="0">
              <a:buNone/>
            </a:pPr>
            <a:r>
              <a:rPr lang="en-US" sz="1250" b="1" dirty="0">
                <a:solidFill>
                  <a:srgbClr val="E4CD8B"/>
                </a:solidFill>
                <a:latin typeface="Cambria" pitchFamily="34" charset="0"/>
                <a:ea typeface="Cambria" pitchFamily="34" charset="-122"/>
                <a:cs typeface="Cambria" pitchFamily="34" charset="-120"/>
              </a:rPr>
              <a:t>Diversified Business Model</a:t>
            </a:r>
            <a:endParaRPr lang="en-US" sz="1250" dirty="0"/>
          </a:p>
        </p:txBody>
      </p:sp>
      <p:sp>
        <p:nvSpPr>
          <p:cNvPr id="31" name="Text 29"/>
          <p:cNvSpPr/>
          <p:nvPr/>
        </p:nvSpPr>
        <p:spPr>
          <a:xfrm>
            <a:off x="621792" y="5001768"/>
            <a:ext cx="5074920" cy="822960"/>
          </a:xfrm>
          <a:prstGeom prst="rect">
            <a:avLst/>
          </a:prstGeom>
          <a:noFill/>
          <a:ln/>
        </p:spPr>
        <p:txBody>
          <a:bodyPr wrap="square" rtlCol="0" anchor="ctr"/>
          <a:lstStyle/>
          <a:p>
            <a:pPr indent="0" marL="0">
              <a:buNone/>
            </a:pPr>
            <a:r>
              <a:rPr lang="en-US" sz="1100" dirty="0">
                <a:solidFill>
                  <a:srgbClr val="AACCC5"/>
                </a:solidFill>
                <a:latin typeface="Calibri" pitchFamily="34" charset="0"/>
                <a:ea typeface="Calibri" pitchFamily="34" charset="-122"/>
                <a:cs typeface="Calibri" pitchFamily="34" charset="-120"/>
              </a:rPr>
              <a:t>Vertically integrated across E&amp;P, midstream, refining and retail, with international exposure through Romania and the Netherlands.</a:t>
            </a:r>
            <a:endParaRPr lang="en-US" sz="1100" dirty="0"/>
          </a:p>
        </p:txBody>
      </p:sp>
      <p:sp>
        <p:nvSpPr>
          <p:cNvPr id="32" name="Shape 30"/>
          <p:cNvSpPr/>
          <p:nvPr/>
        </p:nvSpPr>
        <p:spPr>
          <a:xfrm>
            <a:off x="6217920" y="4434840"/>
            <a:ext cx="5394960" cy="1508760"/>
          </a:xfrm>
          <a:prstGeom prst="rect">
            <a:avLst>
              <a:gd name="adj" fmla="val 6061"/>
            </a:avLst>
          </a:prstGeom>
          <a:solidFill>
            <a:srgbClr val="0E4D44"/>
          </a:solidFill>
          <a:ln w="9525">
            <a:solidFill>
              <a:srgbClr val="C9A24B"/>
            </a:solidFill>
            <a:prstDash val="solid"/>
          </a:ln>
        </p:spPr>
      </p:sp>
      <p:sp>
        <p:nvSpPr>
          <p:cNvPr id="33" name="Shape 31"/>
          <p:cNvSpPr/>
          <p:nvPr/>
        </p:nvSpPr>
        <p:spPr>
          <a:xfrm>
            <a:off x="6382512" y="4572000"/>
            <a:ext cx="347472" cy="347472"/>
          </a:xfrm>
          <a:prstGeom prst="rect">
            <a:avLst>
              <a:gd name="adj" fmla="val 13158"/>
            </a:avLst>
          </a:prstGeom>
          <a:solidFill>
            <a:srgbClr val="C9A24B"/>
          </a:solidFill>
          <a:ln/>
        </p:spPr>
      </p:sp>
      <p:sp>
        <p:nvSpPr>
          <p:cNvPr id="34" name="Text 32"/>
          <p:cNvSpPr/>
          <p:nvPr/>
        </p:nvSpPr>
        <p:spPr>
          <a:xfrm>
            <a:off x="6382512" y="4572000"/>
            <a:ext cx="347472" cy="347472"/>
          </a:xfrm>
          <a:prstGeom prst="rect">
            <a:avLst/>
          </a:prstGeom>
          <a:noFill/>
          <a:ln/>
        </p:spPr>
        <p:txBody>
          <a:bodyPr wrap="square" rtlCol="0" anchor="ctr"/>
          <a:lstStyle/>
          <a:p>
            <a:pPr algn="ctr" indent="0" marL="0">
              <a:buNone/>
            </a:pPr>
            <a:r>
              <a:rPr lang="en-US" sz="1600" b="1" dirty="0">
                <a:solidFill>
                  <a:srgbClr val="0A3A33"/>
                </a:solidFill>
                <a:latin typeface="Calibri" pitchFamily="34" charset="0"/>
                <a:ea typeface="Calibri" pitchFamily="34" charset="-122"/>
                <a:cs typeface="Calibri" pitchFamily="34" charset="-120"/>
              </a:rPr>
              <a:t>✓</a:t>
            </a:r>
            <a:endParaRPr lang="en-US" sz="1600" dirty="0"/>
          </a:p>
        </p:txBody>
      </p:sp>
      <p:sp>
        <p:nvSpPr>
          <p:cNvPr id="35" name="Text 33"/>
          <p:cNvSpPr/>
          <p:nvPr/>
        </p:nvSpPr>
        <p:spPr>
          <a:xfrm>
            <a:off x="6858000" y="4572000"/>
            <a:ext cx="4572000" cy="365760"/>
          </a:xfrm>
          <a:prstGeom prst="rect">
            <a:avLst/>
          </a:prstGeom>
          <a:noFill/>
          <a:ln/>
        </p:spPr>
        <p:txBody>
          <a:bodyPr wrap="square" rtlCol="0" anchor="ctr"/>
          <a:lstStyle/>
          <a:p>
            <a:pPr indent="0" marL="0">
              <a:buNone/>
            </a:pPr>
            <a:r>
              <a:rPr lang="en-US" sz="1250" b="1" dirty="0">
                <a:solidFill>
                  <a:srgbClr val="E4CD8B"/>
                </a:solidFill>
                <a:latin typeface="Cambria" pitchFamily="34" charset="0"/>
                <a:ea typeface="Cambria" pitchFamily="34" charset="-122"/>
                <a:cs typeface="Cambria" pitchFamily="34" charset="-120"/>
              </a:rPr>
              <a:t>Growing ESG Credentials</a:t>
            </a:r>
            <a:endParaRPr lang="en-US" sz="1250" dirty="0"/>
          </a:p>
        </p:txBody>
      </p:sp>
      <p:sp>
        <p:nvSpPr>
          <p:cNvPr id="36" name="Text 34"/>
          <p:cNvSpPr/>
          <p:nvPr/>
        </p:nvSpPr>
        <p:spPr>
          <a:xfrm>
            <a:off x="6382512" y="5001768"/>
            <a:ext cx="5074920" cy="822960"/>
          </a:xfrm>
          <a:prstGeom prst="rect">
            <a:avLst/>
          </a:prstGeom>
          <a:noFill/>
          <a:ln/>
        </p:spPr>
        <p:txBody>
          <a:bodyPr wrap="square" rtlCol="0" anchor="ctr"/>
          <a:lstStyle/>
          <a:p>
            <a:pPr indent="0" marL="0">
              <a:buNone/>
            </a:pPr>
            <a:r>
              <a:rPr lang="en-US" sz="1100" dirty="0">
                <a:solidFill>
                  <a:srgbClr val="AACCC5"/>
                </a:solidFill>
                <a:latin typeface="Calibri" pitchFamily="34" charset="0"/>
                <a:ea typeface="Calibri" pitchFamily="34" charset="-122"/>
                <a:cs typeface="Calibri" pitchFamily="34" charset="-120"/>
              </a:rPr>
              <a:t>Flaring intensity down 29%, LTIF at record lows, renewable energy pipeline of 100 MW, aligned with Kazakhstan's 2060 carbon neutrality target.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2026-06-27T06:52:33Z</dcterms:created>
  <dcterms:modified xsi:type="dcterms:W3CDTF">2026-06-27T06:52:33Z</dcterms:modified>
</cp:coreProperties>
</file>